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a0af5dd5-fcd2-fc7e-786c-3ea0adaad99b}">
          <p14:sldIdLst>
            <p14:sldId id="256"/>
            <p14:sldId id="257"/>
            <p14:sldId id="258"/>
          </p14:sldIdLst>
        </p14:section>
        <p14:section name="The system" id="{8e70d61a-2261-197e-899d-d3b80eea3600}">
          <p14:sldIdLst>
            <p14:sldId id="259"/>
            <p14:sldId id="260"/>
            <p14:sldId id="261"/>
          </p14:sldIdLst>
        </p14:section>
        <p14:section name="Data" id="{989f50c6-2b4d-bd2f-ed6c-c81bf08356b6}">
          <p14:sldIdLst>
            <p14:sldId id="262"/>
            <p14:sldId id="263"/>
            <p14:sldId id="264"/>
          </p14:sldIdLst>
        </p14:section>
        <p14:section name="Models and results" id="{88c5612d-cb29-4484-e444-8702a47be074}">
          <p14:sldIdLst>
            <p14:sldId id="265"/>
            <p14:sldId id="266"/>
            <p14:sldId id="267"/>
            <p14:sldId id="268"/>
            <p14:sldId id="269"/>
            <p14:sldId id="270"/>
            <p14:sldId id="271"/>
          </p14:sldIdLst>
        </p14:section>
        <p14:section name="Next steps" id="{e9d0e211-7204-4df4-f125-bd006005ffde}">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Reviews</c:v>
                </c:pt>
              </c:strCache>
            </c:strRef>
          </c:tx>
          <c:spPr>
            <a:solidFill>
              <a:srgbClr val="9C7F89"/>
            </a:solidFill>
            <a:effectLst/>
          </c:spPr>
          <c:invertIfNegative val="0"/>
          <c:dLbls>
            <c:numFmt formatCode="#,##0" sourceLinked="0"/>
            <c:txPr>
              <a:bodyPr/>
              <a:lstStyle/>
              <a:p>
                <a:pPr>
                  <a:defRPr b="0" i="0" strike="noStrike" sz="1100" u="none">
                    <a:solidFill>
                      <a:srgbClr val="3A2E31"/>
                    </a:solidFill>
                    <a:latin typeface="+mn-lt"/>
                  </a:defRPr>
                </a:pPr>
              </a:p>
            </c:txPr>
            <c:showLegendKey val="0"/>
            <c:showVal val="1"/>
            <c:showCatName val="0"/>
            <c:showSerName val="0"/>
            <c:showPercent val="0"/>
            <c:showBubbleSize val="0"/>
            <c:showLeaderLines val="0"/>
          </c:dLbls>
          <c:cat>
            <c:multiLvlStrRef>
              <c:f>Sheet1!$A$2:$A$5</c:f>
              <c:multiLvlStrCache>
                <c:ptCount val="4"/>
                <c:lvl>
                  <c:pt idx="0">
                    <c:v>Downloaded</c:v>
                  </c:pt>
                  <c:pt idx="1">
                    <c:v>With a usable rating</c:v>
                  </c:pt>
                  <c:pt idx="2">
                    <c:v>Copies of our splits and duplicates removed</c:v>
                  </c:pt>
                  <c:pt idx="3">
                    <c:v>Movie- and author-disjoint from test</c:v>
                  </c:pt>
                </c:lvl>
              </c:multiLvlStrCache>
            </c:multiLvlStrRef>
          </c:cat>
          <c:val>
            <c:numRef>
              <c:f>Sheet1!$B$2:$B$5</c:f>
              <c:numCache>
                <c:formatCode>General</c:formatCode>
                <c:ptCount val="4"/>
                <c:pt idx="0">
                  <c:v>5571499</c:v>
                </c:pt>
                <c:pt idx="1">
                  <c:v>4186661</c:v>
                </c:pt>
                <c:pt idx="2">
                  <c:v>4099728</c:v>
                </c:pt>
                <c:pt idx="3">
                  <c:v>3336925</c:v>
                </c:pt>
              </c:numCache>
            </c:numRef>
          </c:val>
        </c:ser>
        <c:dLbls>
          <c:numFmt formatCode="#,##0" sourceLinked="0"/>
          <c:txPr>
            <a:bodyPr/>
            <a:lstStyle/>
            <a:p>
              <a:pPr>
                <a:defRPr b="0" i="0" strike="noStrike" sz="1100" u="none">
                  <a:solidFill>
                    <a:srgbClr val="3A2E3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3A2E31"/>
                </a:solidFill>
                <a:latin typeface="+mn-lt"/>
              </a:defRPr>
            </a:pPr>
            <a:endParaRPr lang="en-US"/>
          </a:p>
        </c:txPr>
        <c:crossAx val="2094734552"/>
        <c:crosses val="autoZero"/>
        <c:auto val="1"/>
        <c:lblAlgn val="ctr"/>
        <c:noMultiLvlLbl val="1"/>
      </c:catAx>
      <c:valAx>
        <c:axId val="2094734552"/>
        <c:scaling>
          <c:orientation val="minMax"/>
          <c:max val="6800000"/>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8A7E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Validation accuracy</c:v>
                </c:pt>
              </c:strCache>
            </c:strRef>
          </c:tx>
          <c:spPr>
            <a:solidFill>
              <a:srgbClr val="9C7F89"/>
            </a:solidFill>
            <a:effectLst/>
          </c:spPr>
          <c:invertIfNegative val="0"/>
          <c:dLbls>
            <c:numFmt formatCode="0.0&quot;%&quot;" sourceLinked="0"/>
            <c:txPr>
              <a:bodyPr/>
              <a:lstStyle/>
              <a:p>
                <a:pPr>
                  <a:defRPr b="0" i="0" strike="noStrike" sz="1100" u="none">
                    <a:solidFill>
                      <a:srgbClr val="3A2E31"/>
                    </a:solidFill>
                    <a:latin typeface="+mn-lt"/>
                  </a:defRPr>
                </a:pPr>
              </a:p>
            </c:txPr>
            <c:showLegendKey val="0"/>
            <c:showVal val="1"/>
            <c:showCatName val="0"/>
            <c:showSerName val="0"/>
            <c:showPercent val="0"/>
            <c:showBubbleSize val="0"/>
            <c:showLeaderLines val="0"/>
          </c:dLbls>
          <c:cat>
            <c:multiLvlStrRef>
              <c:f>Sheet1!$A$2:$A$6</c:f>
              <c:multiLvlStrCache>
                <c:ptCount val="5"/>
                <c:lvl>
                  <c:pt idx="0">
                    <c:v>20k</c:v>
                  </c:pt>
                  <c:pt idx="1">
                    <c:v>100k</c:v>
                  </c:pt>
                  <c:pt idx="2">
                    <c:v>300k</c:v>
                  </c:pt>
                  <c:pt idx="3">
                    <c:v>1M</c:v>
                  </c:pt>
                  <c:pt idx="4">
                    <c:v>1.94M</c:v>
                  </c:pt>
                </c:lvl>
              </c:multiLvlStrCache>
            </c:multiLvlStrRef>
          </c:cat>
          <c:val>
            <c:numRef>
              <c:f>Sheet1!$B$2:$B$6</c:f>
              <c:numCache>
                <c:formatCode>General</c:formatCode>
                <c:ptCount val="5"/>
                <c:pt idx="0">
                  <c:v>90.18</c:v>
                </c:pt>
                <c:pt idx="1">
                  <c:v>91.1</c:v>
                </c:pt>
                <c:pt idx="2">
                  <c:v>91.82</c:v>
                </c:pt>
                <c:pt idx="3">
                  <c:v>92.3</c:v>
                </c:pt>
                <c:pt idx="4">
                  <c:v>92.76</c:v>
                </c:pt>
              </c:numCache>
            </c:numRef>
          </c:val>
        </c:ser>
        <c:dLbls>
          <c:numFmt formatCode="0.0&quot;%&quot;" sourceLinked="0"/>
          <c:txPr>
            <a:bodyPr/>
            <a:lstStyle/>
            <a:p>
              <a:pPr>
                <a:defRPr b="0" i="0" strike="noStrike" sz="1100" u="none">
                  <a:solidFill>
                    <a:srgbClr val="3A2E31"/>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8A7E80"/>
                    </a:solidFill>
                    <a:latin typeface="+mn-lt"/>
                  </a:defRPr>
                </a:pPr>
                <a:r>
                  <a:rPr sz="1200" b="0" i="0" u="none" strike="noStrike">
                    <a:solidFill>
                      <a:srgbClr val="8A7E80"/>
                    </a:solidFill>
                    <a:latin typeface="+mn-lt"/>
                  </a:rPr>
                  <a:t>Training reviews (256 KB model)</a:t>
                </a:r>
              </a:p>
            </c:rich>
          </c:tx>
          <c:layout/>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rgbClr val="3A2E31"/>
                </a:solidFill>
                <a:latin typeface="+mn-lt"/>
              </a:defRPr>
            </a:pPr>
            <a:endParaRPr lang="en-US"/>
          </a:p>
        </c:txPr>
        <c:crossAx val="2094734552"/>
        <c:crosses val="autoZero"/>
        <c:auto val="1"/>
        <c:lblAlgn val="ctr"/>
        <c:noMultiLvlLbl val="1"/>
      </c:catAx>
      <c:valAx>
        <c:axId val="2094734552"/>
        <c:scaling>
          <c:orientation val="minMax"/>
          <c:max val="93.5"/>
          <c:min val="89"/>
        </c:scaling>
        <c:delete val="0"/>
        <c:axPos val="l"/>
        <c:majorGridlines>
          <c:spPr>
            <a:ln w="9525" cap="flat">
              <a:solidFill>
                <a:srgbClr val="E2D6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100" b="0" i="0" u="none" strike="noStrike">
                <a:solidFill>
                  <a:srgbClr val="8A7E80"/>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Learned deferral</c:v>
                </c:pt>
              </c:strCache>
            </c:strRef>
          </c:tx>
          <c:spPr>
            <a:solidFill>
              <a:srgbClr val="8C4B57"/>
            </a:solidFill>
            <a:ln w="25400" cap="flat">
              <a:solidFill>
                <a:srgbClr val="8C4B57"/>
              </a:solidFill>
              <a:prstDash val="solid"/>
              <a:round/>
            </a:ln>
            <a:effectLst/>
          </c:spPr>
          <c:invertIfNegative val="0"/>
          <c:dLbls>
            <c:numFmt formatCode="#,##0" sourceLinked="0"/>
            <c:txPr>
              <a:bodyPr/>
              <a:lstStyle/>
              <a:p>
                <a:pPr>
                  <a:defRPr b="0" i="0" strike="noStrike" sz="1100" u="none">
                    <a:solidFill>
                      <a:srgbClr val="3A2E31"/>
                    </a:solidFill>
                    <a:latin typeface="+mn-lt"/>
                  </a:defRPr>
                </a:pPr>
              </a:p>
            </c:txPr>
            <c:showLegendKey val="0"/>
            <c:showVal val="0"/>
            <c:showCatName val="0"/>
            <c:showSerName val="0"/>
            <c:showPercent val="0"/>
            <c:showBubbleSize val="0"/>
            <c:showLeaderLines val="0"/>
          </c:dLbls>
          <c:marker>
            <c:symbol val="none"/>
            <c:size val="6"/>
            <c:spPr>
              <a:solidFill>
                <a:srgbClr val="8C4B57"/>
              </a:solidFill>
              <a:ln w="9525" cap="flat">
                <a:solidFill>
                  <a:srgbClr val="8C4B57"/>
                </a:solidFill>
                <a:prstDash val="solid"/>
                <a:round/>
              </a:ln>
              <a:effectLst/>
            </c:spPr>
          </c:marker>
          <c:cat>
            <c:multiLvlStrRef>
              <c:f>Sheet1!$A$2:$A$62</c:f>
              <c:multiLvlStrCache>
                <c:ptCount val="61"/>
                <c:lvl>
                  <c:pt idx="0">
                    <c:v>0</c:v>
                  </c:pt>
                  <c:pt idx="1">
                    <c:v/>
                  </c:pt>
                  <c:pt idx="2">
                    <c:v/>
                  </c:pt>
                  <c:pt idx="3">
                    <c:v/>
                  </c:pt>
                  <c:pt idx="4">
                    <c:v/>
                  </c:pt>
                  <c:pt idx="5">
                    <c:v/>
                  </c:pt>
                  <c:pt idx="6">
                    <c:v/>
                  </c:pt>
                  <c:pt idx="7">
                    <c:v/>
                  </c:pt>
                  <c:pt idx="8">
                    <c:v/>
                  </c:pt>
                  <c:pt idx="9">
                    <c:v/>
                  </c:pt>
                  <c:pt idx="10">
                    <c:v>10</c:v>
                  </c:pt>
                  <c:pt idx="11">
                    <c:v/>
                  </c:pt>
                  <c:pt idx="12">
                    <c:v/>
                  </c:pt>
                  <c:pt idx="13">
                    <c:v/>
                  </c:pt>
                  <c:pt idx="14">
                    <c:v/>
                  </c:pt>
                  <c:pt idx="15">
                    <c:v/>
                  </c:pt>
                  <c:pt idx="16">
                    <c:v/>
                  </c:pt>
                  <c:pt idx="17">
                    <c:v/>
                  </c:pt>
                  <c:pt idx="18">
                    <c:v/>
                  </c:pt>
                  <c:pt idx="19">
                    <c:v/>
                  </c:pt>
                  <c:pt idx="20">
                    <c:v>20</c:v>
                  </c:pt>
                  <c:pt idx="21">
                    <c:v/>
                  </c:pt>
                  <c:pt idx="22">
                    <c:v/>
                  </c:pt>
                  <c:pt idx="23">
                    <c:v/>
                  </c:pt>
                  <c:pt idx="24">
                    <c:v/>
                  </c:pt>
                  <c:pt idx="25">
                    <c:v/>
                  </c:pt>
                  <c:pt idx="26">
                    <c:v/>
                  </c:pt>
                  <c:pt idx="27">
                    <c:v/>
                  </c:pt>
                  <c:pt idx="28">
                    <c:v/>
                  </c:pt>
                  <c:pt idx="29">
                    <c:v/>
                  </c:pt>
                  <c:pt idx="30">
                    <c:v>30</c:v>
                  </c:pt>
                  <c:pt idx="31">
                    <c:v/>
                  </c:pt>
                  <c:pt idx="32">
                    <c:v/>
                  </c:pt>
                  <c:pt idx="33">
                    <c:v/>
                  </c:pt>
                  <c:pt idx="34">
                    <c:v/>
                  </c:pt>
                  <c:pt idx="35">
                    <c:v/>
                  </c:pt>
                  <c:pt idx="36">
                    <c:v/>
                  </c:pt>
                  <c:pt idx="37">
                    <c:v/>
                  </c:pt>
                  <c:pt idx="38">
                    <c:v/>
                  </c:pt>
                  <c:pt idx="39">
                    <c:v/>
                  </c:pt>
                  <c:pt idx="40">
                    <c:v>40</c:v>
                  </c:pt>
                  <c:pt idx="41">
                    <c:v/>
                  </c:pt>
                  <c:pt idx="42">
                    <c:v/>
                  </c:pt>
                  <c:pt idx="43">
                    <c:v/>
                  </c:pt>
                  <c:pt idx="44">
                    <c:v/>
                  </c:pt>
                  <c:pt idx="45">
                    <c:v/>
                  </c:pt>
                  <c:pt idx="46">
                    <c:v/>
                  </c:pt>
                  <c:pt idx="47">
                    <c:v/>
                  </c:pt>
                  <c:pt idx="48">
                    <c:v/>
                  </c:pt>
                  <c:pt idx="49">
                    <c:v/>
                  </c:pt>
                  <c:pt idx="50">
                    <c:v>50</c:v>
                  </c:pt>
                  <c:pt idx="51">
                    <c:v/>
                  </c:pt>
                  <c:pt idx="52">
                    <c:v/>
                  </c:pt>
                  <c:pt idx="53">
                    <c:v/>
                  </c:pt>
                  <c:pt idx="54">
                    <c:v/>
                  </c:pt>
                  <c:pt idx="55">
                    <c:v/>
                  </c:pt>
                  <c:pt idx="56">
                    <c:v/>
                  </c:pt>
                  <c:pt idx="57">
                    <c:v/>
                  </c:pt>
                  <c:pt idx="58">
                    <c:v/>
                  </c:pt>
                  <c:pt idx="59">
                    <c:v/>
                  </c:pt>
                  <c:pt idx="60">
                    <c:v>60</c:v>
                  </c:pt>
                </c:lvl>
              </c:multiLvlStrCache>
            </c:multiLvlStrRef>
          </c:cat>
          <c:val>
            <c:numRef>
              <c:f>Sheet1!$B$2:$B$62</c:f>
              <c:numCache>
                <c:formatCode>General</c:formatCode>
                <c:ptCount val="61"/>
                <c:pt idx="0">
                  <c:v>92.69</c:v>
                </c:pt>
                <c:pt idx="1">
                  <c:v>92.85</c:v>
                </c:pt>
                <c:pt idx="2">
                  <c:v>93.06</c:v>
                </c:pt>
                <c:pt idx="3">
                  <c:v>93.22</c:v>
                </c:pt>
                <c:pt idx="4">
                  <c:v>93.44</c:v>
                </c:pt>
                <c:pt idx="5">
                  <c:v>93.58</c:v>
                </c:pt>
                <c:pt idx="6">
                  <c:v>93.7</c:v>
                </c:pt>
                <c:pt idx="7">
                  <c:v>93.77</c:v>
                </c:pt>
                <c:pt idx="8">
                  <c:v>93.86</c:v>
                </c:pt>
                <c:pt idx="9">
                  <c:v>93.9</c:v>
                </c:pt>
                <c:pt idx="10">
                  <c:v>93.93</c:v>
                </c:pt>
                <c:pt idx="11">
                  <c:v>93.9</c:v>
                </c:pt>
                <c:pt idx="12">
                  <c:v>93.92</c:v>
                </c:pt>
                <c:pt idx="13">
                  <c:v>93.98</c:v>
                </c:pt>
                <c:pt idx="14">
                  <c:v>93.98</c:v>
                </c:pt>
                <c:pt idx="15">
                  <c:v>94.01</c:v>
                </c:pt>
                <c:pt idx="16">
                  <c:v>93.99</c:v>
                </c:pt>
                <c:pt idx="17">
                  <c:v>93.99</c:v>
                </c:pt>
                <c:pt idx="18">
                  <c:v>93.99</c:v>
                </c:pt>
                <c:pt idx="19">
                  <c:v>93.99</c:v>
                </c:pt>
                <c:pt idx="20">
                  <c:v>93.99</c:v>
                </c:pt>
                <c:pt idx="21">
                  <c:v>93.98</c:v>
                </c:pt>
                <c:pt idx="22">
                  <c:v>93.98</c:v>
                </c:pt>
                <c:pt idx="23">
                  <c:v>93.99</c:v>
                </c:pt>
                <c:pt idx="24">
                  <c:v>93.98</c:v>
                </c:pt>
                <c:pt idx="25">
                  <c:v>93.98</c:v>
                </c:pt>
                <c:pt idx="26">
                  <c:v>93.97</c:v>
                </c:pt>
                <c:pt idx="27">
                  <c:v>93.97</c:v>
                </c:pt>
                <c:pt idx="28">
                  <c:v>93.96</c:v>
                </c:pt>
                <c:pt idx="29">
                  <c:v>93.95</c:v>
                </c:pt>
                <c:pt idx="30">
                  <c:v>93.95</c:v>
                </c:pt>
                <c:pt idx="31">
                  <c:v>93.96</c:v>
                </c:pt>
                <c:pt idx="32">
                  <c:v>93.96</c:v>
                </c:pt>
                <c:pt idx="33">
                  <c:v>93.95</c:v>
                </c:pt>
                <c:pt idx="34">
                  <c:v>93.95</c:v>
                </c:pt>
                <c:pt idx="35">
                  <c:v>93.96</c:v>
                </c:pt>
                <c:pt idx="36">
                  <c:v>93.95</c:v>
                </c:pt>
                <c:pt idx="37">
                  <c:v>93.94</c:v>
                </c:pt>
                <c:pt idx="38">
                  <c:v>93.94</c:v>
                </c:pt>
                <c:pt idx="39">
                  <c:v>93.93</c:v>
                </c:pt>
                <c:pt idx="40">
                  <c:v>93.93</c:v>
                </c:pt>
                <c:pt idx="41">
                  <c:v>93.93</c:v>
                </c:pt>
                <c:pt idx="42">
                  <c:v>93.94</c:v>
                </c:pt>
                <c:pt idx="43">
                  <c:v>93.94</c:v>
                </c:pt>
                <c:pt idx="44">
                  <c:v>93.92</c:v>
                </c:pt>
                <c:pt idx="45">
                  <c:v>93.92</c:v>
                </c:pt>
                <c:pt idx="46">
                  <c:v>93.9</c:v>
                </c:pt>
                <c:pt idx="47">
                  <c:v>93.89</c:v>
                </c:pt>
                <c:pt idx="48">
                  <c:v>93.89</c:v>
                </c:pt>
                <c:pt idx="49">
                  <c:v>93.89</c:v>
                </c:pt>
                <c:pt idx="50">
                  <c:v>93.88</c:v>
                </c:pt>
                <c:pt idx="51">
                  <c:v>93.88</c:v>
                </c:pt>
                <c:pt idx="52">
                  <c:v>93.88</c:v>
                </c:pt>
                <c:pt idx="53">
                  <c:v>93.88</c:v>
                </c:pt>
                <c:pt idx="54">
                  <c:v>93.88</c:v>
                </c:pt>
                <c:pt idx="55">
                  <c:v>93.86</c:v>
                </c:pt>
                <c:pt idx="56">
                  <c:v>93.86</c:v>
                </c:pt>
                <c:pt idx="57">
                  <c:v>93.86</c:v>
                </c:pt>
                <c:pt idx="58">
                  <c:v>93.87</c:v>
                </c:pt>
                <c:pt idx="59">
                  <c:v>93.86</c:v>
                </c:pt>
                <c:pt idx="60">
                  <c:v>93.85</c:v>
                </c:pt>
              </c:numCache>
            </c:numRef>
          </c:val>
          <c:smooth val="0"/>
        </c:ser>
        <c:ser>
          <c:idx val="1"/>
          <c:order val="1"/>
          <c:tx>
            <c:strRef>
              <c:f>Sheet1!$C$1</c:f>
              <c:strCache>
                <c:ptCount val="1"/>
                <c:pt idx="0">
                  <c:v>Confidence routing</c:v>
                </c:pt>
              </c:strCache>
            </c:strRef>
          </c:tx>
          <c:spPr>
            <a:solidFill>
              <a:srgbClr val="4A5A50"/>
            </a:solidFill>
            <a:ln w="25400" cap="flat">
              <a:solidFill>
                <a:srgbClr val="4A5A50"/>
              </a:solidFill>
              <a:prstDash val="solid"/>
              <a:round/>
            </a:ln>
            <a:effectLst/>
          </c:spPr>
          <c:invertIfNegative val="0"/>
          <c:dLbls>
            <c:numFmt formatCode="#,##0" sourceLinked="0"/>
            <c:txPr>
              <a:bodyPr/>
              <a:lstStyle/>
              <a:p>
                <a:pPr>
                  <a:defRPr b="0" i="0" strike="noStrike" sz="1100" u="none">
                    <a:solidFill>
                      <a:srgbClr val="3A2E31"/>
                    </a:solidFill>
                    <a:latin typeface="+mn-lt"/>
                  </a:defRPr>
                </a:pPr>
              </a:p>
            </c:txPr>
            <c:showLegendKey val="0"/>
            <c:showVal val="0"/>
            <c:showCatName val="0"/>
            <c:showSerName val="0"/>
            <c:showPercent val="0"/>
            <c:showBubbleSize val="0"/>
            <c:showLeaderLines val="0"/>
          </c:dLbls>
          <c:marker>
            <c:symbol val="none"/>
            <c:size val="6"/>
            <c:spPr>
              <a:solidFill>
                <a:srgbClr val="4A5A50"/>
              </a:solidFill>
              <a:ln w="9525" cap="flat">
                <a:solidFill>
                  <a:srgbClr val="4A5A50"/>
                </a:solidFill>
                <a:prstDash val="solid"/>
                <a:round/>
              </a:ln>
              <a:effectLst/>
            </c:spPr>
          </c:marker>
          <c:cat>
            <c:multiLvlStrRef>
              <c:f>Sheet1!$A$2:$A$62</c:f>
              <c:multiLvlStrCache>
                <c:ptCount val="61"/>
                <c:lvl>
                  <c:pt idx="0">
                    <c:v>0</c:v>
                  </c:pt>
                  <c:pt idx="1">
                    <c:v/>
                  </c:pt>
                  <c:pt idx="2">
                    <c:v/>
                  </c:pt>
                  <c:pt idx="3">
                    <c:v/>
                  </c:pt>
                  <c:pt idx="4">
                    <c:v/>
                  </c:pt>
                  <c:pt idx="5">
                    <c:v/>
                  </c:pt>
                  <c:pt idx="6">
                    <c:v/>
                  </c:pt>
                  <c:pt idx="7">
                    <c:v/>
                  </c:pt>
                  <c:pt idx="8">
                    <c:v/>
                  </c:pt>
                  <c:pt idx="9">
                    <c:v/>
                  </c:pt>
                  <c:pt idx="10">
                    <c:v>10</c:v>
                  </c:pt>
                  <c:pt idx="11">
                    <c:v/>
                  </c:pt>
                  <c:pt idx="12">
                    <c:v/>
                  </c:pt>
                  <c:pt idx="13">
                    <c:v/>
                  </c:pt>
                  <c:pt idx="14">
                    <c:v/>
                  </c:pt>
                  <c:pt idx="15">
                    <c:v/>
                  </c:pt>
                  <c:pt idx="16">
                    <c:v/>
                  </c:pt>
                  <c:pt idx="17">
                    <c:v/>
                  </c:pt>
                  <c:pt idx="18">
                    <c:v/>
                  </c:pt>
                  <c:pt idx="19">
                    <c:v/>
                  </c:pt>
                  <c:pt idx="20">
                    <c:v>20</c:v>
                  </c:pt>
                  <c:pt idx="21">
                    <c:v/>
                  </c:pt>
                  <c:pt idx="22">
                    <c:v/>
                  </c:pt>
                  <c:pt idx="23">
                    <c:v/>
                  </c:pt>
                  <c:pt idx="24">
                    <c:v/>
                  </c:pt>
                  <c:pt idx="25">
                    <c:v/>
                  </c:pt>
                  <c:pt idx="26">
                    <c:v/>
                  </c:pt>
                  <c:pt idx="27">
                    <c:v/>
                  </c:pt>
                  <c:pt idx="28">
                    <c:v/>
                  </c:pt>
                  <c:pt idx="29">
                    <c:v/>
                  </c:pt>
                  <c:pt idx="30">
                    <c:v>30</c:v>
                  </c:pt>
                  <c:pt idx="31">
                    <c:v/>
                  </c:pt>
                  <c:pt idx="32">
                    <c:v/>
                  </c:pt>
                  <c:pt idx="33">
                    <c:v/>
                  </c:pt>
                  <c:pt idx="34">
                    <c:v/>
                  </c:pt>
                  <c:pt idx="35">
                    <c:v/>
                  </c:pt>
                  <c:pt idx="36">
                    <c:v/>
                  </c:pt>
                  <c:pt idx="37">
                    <c:v/>
                  </c:pt>
                  <c:pt idx="38">
                    <c:v/>
                  </c:pt>
                  <c:pt idx="39">
                    <c:v/>
                  </c:pt>
                  <c:pt idx="40">
                    <c:v>40</c:v>
                  </c:pt>
                  <c:pt idx="41">
                    <c:v/>
                  </c:pt>
                  <c:pt idx="42">
                    <c:v/>
                  </c:pt>
                  <c:pt idx="43">
                    <c:v/>
                  </c:pt>
                  <c:pt idx="44">
                    <c:v/>
                  </c:pt>
                  <c:pt idx="45">
                    <c:v/>
                  </c:pt>
                  <c:pt idx="46">
                    <c:v/>
                  </c:pt>
                  <c:pt idx="47">
                    <c:v/>
                  </c:pt>
                  <c:pt idx="48">
                    <c:v/>
                  </c:pt>
                  <c:pt idx="49">
                    <c:v/>
                  </c:pt>
                  <c:pt idx="50">
                    <c:v>50</c:v>
                  </c:pt>
                  <c:pt idx="51">
                    <c:v/>
                  </c:pt>
                  <c:pt idx="52">
                    <c:v/>
                  </c:pt>
                  <c:pt idx="53">
                    <c:v/>
                  </c:pt>
                  <c:pt idx="54">
                    <c:v/>
                  </c:pt>
                  <c:pt idx="55">
                    <c:v/>
                  </c:pt>
                  <c:pt idx="56">
                    <c:v/>
                  </c:pt>
                  <c:pt idx="57">
                    <c:v/>
                  </c:pt>
                  <c:pt idx="58">
                    <c:v/>
                  </c:pt>
                  <c:pt idx="59">
                    <c:v/>
                  </c:pt>
                  <c:pt idx="60">
                    <c:v>60</c:v>
                  </c:pt>
                </c:lvl>
              </c:multiLvlStrCache>
            </c:multiLvlStrRef>
          </c:cat>
          <c:val>
            <c:numRef>
              <c:f>Sheet1!$C$2:$C$62</c:f>
              <c:numCache>
                <c:formatCode>General</c:formatCode>
                <c:ptCount val="61"/>
                <c:pt idx="0">
                  <c:v>92.69</c:v>
                </c:pt>
                <c:pt idx="1">
                  <c:v>92.91</c:v>
                </c:pt>
                <c:pt idx="2">
                  <c:v>93.12</c:v>
                </c:pt>
                <c:pt idx="3">
                  <c:v>93.26</c:v>
                </c:pt>
                <c:pt idx="4">
                  <c:v>93.43</c:v>
                </c:pt>
                <c:pt idx="5">
                  <c:v>93.61</c:v>
                </c:pt>
                <c:pt idx="6">
                  <c:v>93.7</c:v>
                </c:pt>
                <c:pt idx="7">
                  <c:v>93.75</c:v>
                </c:pt>
                <c:pt idx="8">
                  <c:v>93.86</c:v>
                </c:pt>
                <c:pt idx="9">
                  <c:v>93.9</c:v>
                </c:pt>
                <c:pt idx="10">
                  <c:v>94.01</c:v>
                </c:pt>
                <c:pt idx="11">
                  <c:v>94.06</c:v>
                </c:pt>
                <c:pt idx="12">
                  <c:v>94.06</c:v>
                </c:pt>
                <c:pt idx="13">
                  <c:v>94.05</c:v>
                </c:pt>
                <c:pt idx="14">
                  <c:v>94.05</c:v>
                </c:pt>
                <c:pt idx="15">
                  <c:v>94.06</c:v>
                </c:pt>
                <c:pt idx="16">
                  <c:v>94.07</c:v>
                </c:pt>
                <c:pt idx="17">
                  <c:v>94.04</c:v>
                </c:pt>
                <c:pt idx="18">
                  <c:v>94.03</c:v>
                </c:pt>
                <c:pt idx="19">
                  <c:v>93.98</c:v>
                </c:pt>
                <c:pt idx="20">
                  <c:v>93.98</c:v>
                </c:pt>
                <c:pt idx="21">
                  <c:v>93.92</c:v>
                </c:pt>
                <c:pt idx="22">
                  <c:v>93.91</c:v>
                </c:pt>
                <c:pt idx="23">
                  <c:v>93.87</c:v>
                </c:pt>
                <c:pt idx="24">
                  <c:v>93.86</c:v>
                </c:pt>
                <c:pt idx="25">
                  <c:v>93.84</c:v>
                </c:pt>
                <c:pt idx="26">
                  <c:v>93.83</c:v>
                </c:pt>
                <c:pt idx="27">
                  <c:v>93.8</c:v>
                </c:pt>
                <c:pt idx="28">
                  <c:v>93.83</c:v>
                </c:pt>
                <c:pt idx="29">
                  <c:v>93.84</c:v>
                </c:pt>
                <c:pt idx="30">
                  <c:v>93.83</c:v>
                </c:pt>
                <c:pt idx="31">
                  <c:v>93.82</c:v>
                </c:pt>
                <c:pt idx="32">
                  <c:v>93.81</c:v>
                </c:pt>
                <c:pt idx="33">
                  <c:v>93.8</c:v>
                </c:pt>
                <c:pt idx="34">
                  <c:v>93.78</c:v>
                </c:pt>
                <c:pt idx="35">
                  <c:v>93.76</c:v>
                </c:pt>
                <c:pt idx="36">
                  <c:v>93.76</c:v>
                </c:pt>
                <c:pt idx="37">
                  <c:v>93.75</c:v>
                </c:pt>
                <c:pt idx="38">
                  <c:v>93.74</c:v>
                </c:pt>
                <c:pt idx="39">
                  <c:v>93.73</c:v>
                </c:pt>
                <c:pt idx="40">
                  <c:v>93.71</c:v>
                </c:pt>
                <c:pt idx="41">
                  <c:v>93.7</c:v>
                </c:pt>
                <c:pt idx="42">
                  <c:v>93.68</c:v>
                </c:pt>
                <c:pt idx="43">
                  <c:v>93.68</c:v>
                </c:pt>
                <c:pt idx="44">
                  <c:v>93.68</c:v>
                </c:pt>
                <c:pt idx="45">
                  <c:v>93.68</c:v>
                </c:pt>
                <c:pt idx="46">
                  <c:v>93.66</c:v>
                </c:pt>
                <c:pt idx="47">
                  <c:v>93.64</c:v>
                </c:pt>
                <c:pt idx="48">
                  <c:v>93.64</c:v>
                </c:pt>
                <c:pt idx="49">
                  <c:v>93.63</c:v>
                </c:pt>
                <c:pt idx="50">
                  <c:v>93.62</c:v>
                </c:pt>
                <c:pt idx="51">
                  <c:v>93.62</c:v>
                </c:pt>
                <c:pt idx="52">
                  <c:v>93.61</c:v>
                </c:pt>
                <c:pt idx="53">
                  <c:v>93.6</c:v>
                </c:pt>
                <c:pt idx="54">
                  <c:v>93.6</c:v>
                </c:pt>
                <c:pt idx="55">
                  <c:v>93.6</c:v>
                </c:pt>
                <c:pt idx="56">
                  <c:v>93.59</c:v>
                </c:pt>
                <c:pt idx="57">
                  <c:v>93.58</c:v>
                </c:pt>
                <c:pt idx="58">
                  <c:v>93.57</c:v>
                </c:pt>
                <c:pt idx="59">
                  <c:v>93.57</c:v>
                </c:pt>
                <c:pt idx="60">
                  <c:v>93.57</c:v>
                </c:pt>
              </c:numCache>
            </c:numRef>
          </c:val>
          <c:smooth val="0"/>
        </c:ser>
        <c:ser>
          <c:idx val="2"/>
          <c:order val="2"/>
          <c:tx>
            <c:strRef>
              <c:f>Sheet1!$D$1</c:f>
              <c:strCache>
                <c:ptCount val="1"/>
                <c:pt idx="0">
                  <c:v>Perfect router (upper bound)</c:v>
                </c:pt>
              </c:strCache>
            </c:strRef>
          </c:tx>
          <c:spPr>
            <a:solidFill>
              <a:srgbClr val="B9AEB1"/>
            </a:solidFill>
            <a:ln w="25400" cap="flat">
              <a:solidFill>
                <a:srgbClr val="B9AEB1"/>
              </a:solidFill>
              <a:prstDash val="solid"/>
              <a:round/>
            </a:ln>
            <a:effectLst/>
          </c:spPr>
          <c:invertIfNegative val="0"/>
          <c:dLbls>
            <c:numFmt formatCode="#,##0" sourceLinked="0"/>
            <c:txPr>
              <a:bodyPr/>
              <a:lstStyle/>
              <a:p>
                <a:pPr>
                  <a:defRPr b="0" i="0" strike="noStrike" sz="1100" u="none">
                    <a:solidFill>
                      <a:srgbClr val="3A2E31"/>
                    </a:solidFill>
                    <a:latin typeface="+mn-lt"/>
                  </a:defRPr>
                </a:pPr>
              </a:p>
            </c:txPr>
            <c:showLegendKey val="0"/>
            <c:showVal val="0"/>
            <c:showCatName val="0"/>
            <c:showSerName val="0"/>
            <c:showPercent val="0"/>
            <c:showBubbleSize val="0"/>
            <c:showLeaderLines val="0"/>
          </c:dLbls>
          <c:marker>
            <c:symbol val="none"/>
            <c:size val="6"/>
            <c:spPr>
              <a:solidFill>
                <a:srgbClr val="B9AEB1"/>
              </a:solidFill>
              <a:ln w="9525" cap="flat">
                <a:solidFill>
                  <a:srgbClr val="B9AEB1"/>
                </a:solidFill>
                <a:prstDash val="solid"/>
                <a:round/>
              </a:ln>
              <a:effectLst/>
            </c:spPr>
          </c:marker>
          <c:cat>
            <c:multiLvlStrRef>
              <c:f>Sheet1!$A$2:$A$62</c:f>
              <c:multiLvlStrCache>
                <c:ptCount val="61"/>
                <c:lvl>
                  <c:pt idx="0">
                    <c:v>0</c:v>
                  </c:pt>
                  <c:pt idx="1">
                    <c:v/>
                  </c:pt>
                  <c:pt idx="2">
                    <c:v/>
                  </c:pt>
                  <c:pt idx="3">
                    <c:v/>
                  </c:pt>
                  <c:pt idx="4">
                    <c:v/>
                  </c:pt>
                  <c:pt idx="5">
                    <c:v/>
                  </c:pt>
                  <c:pt idx="6">
                    <c:v/>
                  </c:pt>
                  <c:pt idx="7">
                    <c:v/>
                  </c:pt>
                  <c:pt idx="8">
                    <c:v/>
                  </c:pt>
                  <c:pt idx="9">
                    <c:v/>
                  </c:pt>
                  <c:pt idx="10">
                    <c:v>10</c:v>
                  </c:pt>
                  <c:pt idx="11">
                    <c:v/>
                  </c:pt>
                  <c:pt idx="12">
                    <c:v/>
                  </c:pt>
                  <c:pt idx="13">
                    <c:v/>
                  </c:pt>
                  <c:pt idx="14">
                    <c:v/>
                  </c:pt>
                  <c:pt idx="15">
                    <c:v/>
                  </c:pt>
                  <c:pt idx="16">
                    <c:v/>
                  </c:pt>
                  <c:pt idx="17">
                    <c:v/>
                  </c:pt>
                  <c:pt idx="18">
                    <c:v/>
                  </c:pt>
                  <c:pt idx="19">
                    <c:v/>
                  </c:pt>
                  <c:pt idx="20">
                    <c:v>20</c:v>
                  </c:pt>
                  <c:pt idx="21">
                    <c:v/>
                  </c:pt>
                  <c:pt idx="22">
                    <c:v/>
                  </c:pt>
                  <c:pt idx="23">
                    <c:v/>
                  </c:pt>
                  <c:pt idx="24">
                    <c:v/>
                  </c:pt>
                  <c:pt idx="25">
                    <c:v/>
                  </c:pt>
                  <c:pt idx="26">
                    <c:v/>
                  </c:pt>
                  <c:pt idx="27">
                    <c:v/>
                  </c:pt>
                  <c:pt idx="28">
                    <c:v/>
                  </c:pt>
                  <c:pt idx="29">
                    <c:v/>
                  </c:pt>
                  <c:pt idx="30">
                    <c:v>30</c:v>
                  </c:pt>
                  <c:pt idx="31">
                    <c:v/>
                  </c:pt>
                  <c:pt idx="32">
                    <c:v/>
                  </c:pt>
                  <c:pt idx="33">
                    <c:v/>
                  </c:pt>
                  <c:pt idx="34">
                    <c:v/>
                  </c:pt>
                  <c:pt idx="35">
                    <c:v/>
                  </c:pt>
                  <c:pt idx="36">
                    <c:v/>
                  </c:pt>
                  <c:pt idx="37">
                    <c:v/>
                  </c:pt>
                  <c:pt idx="38">
                    <c:v/>
                  </c:pt>
                  <c:pt idx="39">
                    <c:v/>
                  </c:pt>
                  <c:pt idx="40">
                    <c:v>40</c:v>
                  </c:pt>
                  <c:pt idx="41">
                    <c:v/>
                  </c:pt>
                  <c:pt idx="42">
                    <c:v/>
                  </c:pt>
                  <c:pt idx="43">
                    <c:v/>
                  </c:pt>
                  <c:pt idx="44">
                    <c:v/>
                  </c:pt>
                  <c:pt idx="45">
                    <c:v/>
                  </c:pt>
                  <c:pt idx="46">
                    <c:v/>
                  </c:pt>
                  <c:pt idx="47">
                    <c:v/>
                  </c:pt>
                  <c:pt idx="48">
                    <c:v/>
                  </c:pt>
                  <c:pt idx="49">
                    <c:v/>
                  </c:pt>
                  <c:pt idx="50">
                    <c:v>50</c:v>
                  </c:pt>
                  <c:pt idx="51">
                    <c:v/>
                  </c:pt>
                  <c:pt idx="52">
                    <c:v/>
                  </c:pt>
                  <c:pt idx="53">
                    <c:v/>
                  </c:pt>
                  <c:pt idx="54">
                    <c:v/>
                  </c:pt>
                  <c:pt idx="55">
                    <c:v/>
                  </c:pt>
                  <c:pt idx="56">
                    <c:v/>
                  </c:pt>
                  <c:pt idx="57">
                    <c:v/>
                  </c:pt>
                  <c:pt idx="58">
                    <c:v/>
                  </c:pt>
                  <c:pt idx="59">
                    <c:v/>
                  </c:pt>
                  <c:pt idx="60">
                    <c:v>60</c:v>
                  </c:pt>
                </c:lvl>
              </c:multiLvlStrCache>
            </c:multiLvlStrRef>
          </c:cat>
          <c:val>
            <c:numRef>
              <c:f>Sheet1!$D$2:$D$62</c:f>
              <c:numCache>
                <c:formatCode>General</c:formatCode>
                <c:ptCount val="61"/>
                <c:pt idx="0">
                  <c:v>92.69</c:v>
                </c:pt>
                <c:pt idx="1">
                  <c:v>93.69</c:v>
                </c:pt>
                <c:pt idx="2">
                  <c:v>94.69</c:v>
                </c:pt>
                <c:pt idx="3">
                  <c:v>95.69</c:v>
                </c:pt>
                <c:pt idx="4">
                  <c:v>96.64</c:v>
                </c:pt>
                <c:pt idx="5">
                  <c:v>96.42</c:v>
                </c:pt>
                <c:pt idx="6">
                  <c:v>96.24</c:v>
                </c:pt>
                <c:pt idx="7">
                  <c:v>96.1</c:v>
                </c:pt>
                <c:pt idx="8">
                  <c:v>95.95</c:v>
                </c:pt>
                <c:pt idx="9">
                  <c:v>95.75</c:v>
                </c:pt>
                <c:pt idx="10">
                  <c:v>95.62</c:v>
                </c:pt>
                <c:pt idx="11">
                  <c:v>95.48</c:v>
                </c:pt>
                <c:pt idx="12">
                  <c:v>95.35</c:v>
                </c:pt>
                <c:pt idx="13">
                  <c:v>95.23</c:v>
                </c:pt>
                <c:pt idx="14">
                  <c:v>95.12</c:v>
                </c:pt>
                <c:pt idx="15">
                  <c:v>95.03</c:v>
                </c:pt>
                <c:pt idx="16">
                  <c:v>94.94</c:v>
                </c:pt>
                <c:pt idx="17">
                  <c:v>94.85</c:v>
                </c:pt>
                <c:pt idx="18">
                  <c:v>94.75</c:v>
                </c:pt>
                <c:pt idx="19">
                  <c:v>94.68</c:v>
                </c:pt>
                <c:pt idx="20">
                  <c:v>94.58</c:v>
                </c:pt>
                <c:pt idx="21">
                  <c:v>94.49</c:v>
                </c:pt>
                <c:pt idx="22">
                  <c:v>94.4</c:v>
                </c:pt>
                <c:pt idx="23">
                  <c:v>94.34</c:v>
                </c:pt>
                <c:pt idx="24">
                  <c:v>94.29</c:v>
                </c:pt>
                <c:pt idx="25">
                  <c:v>94.23</c:v>
                </c:pt>
                <c:pt idx="26">
                  <c:v>94.18</c:v>
                </c:pt>
                <c:pt idx="27">
                  <c:v>94.13</c:v>
                </c:pt>
                <c:pt idx="28">
                  <c:v>94.1</c:v>
                </c:pt>
                <c:pt idx="29">
                  <c:v>94.06</c:v>
                </c:pt>
                <c:pt idx="30">
                  <c:v>94.03</c:v>
                </c:pt>
                <c:pt idx="31">
                  <c:v>94</c:v>
                </c:pt>
                <c:pt idx="32">
                  <c:v>93.98</c:v>
                </c:pt>
                <c:pt idx="33">
                  <c:v>93.95</c:v>
                </c:pt>
                <c:pt idx="34">
                  <c:v>93.91</c:v>
                </c:pt>
                <c:pt idx="35">
                  <c:v>93.86</c:v>
                </c:pt>
                <c:pt idx="36">
                  <c:v>93.85</c:v>
                </c:pt>
                <c:pt idx="37">
                  <c:v>93.83</c:v>
                </c:pt>
                <c:pt idx="38">
                  <c:v>93.82</c:v>
                </c:pt>
                <c:pt idx="39">
                  <c:v>93.8</c:v>
                </c:pt>
                <c:pt idx="40">
                  <c:v>93.78</c:v>
                </c:pt>
                <c:pt idx="41">
                  <c:v>93.75</c:v>
                </c:pt>
                <c:pt idx="42">
                  <c:v>93.72</c:v>
                </c:pt>
                <c:pt idx="43">
                  <c:v>93.72</c:v>
                </c:pt>
                <c:pt idx="44">
                  <c:v>93.71</c:v>
                </c:pt>
                <c:pt idx="45">
                  <c:v>93.71</c:v>
                </c:pt>
                <c:pt idx="46">
                  <c:v>93.68</c:v>
                </c:pt>
                <c:pt idx="47">
                  <c:v>93.66</c:v>
                </c:pt>
                <c:pt idx="48">
                  <c:v>93.66</c:v>
                </c:pt>
                <c:pt idx="49">
                  <c:v>93.65</c:v>
                </c:pt>
                <c:pt idx="50">
                  <c:v>93.64</c:v>
                </c:pt>
                <c:pt idx="51">
                  <c:v>93.63</c:v>
                </c:pt>
                <c:pt idx="52">
                  <c:v>93.62</c:v>
                </c:pt>
                <c:pt idx="53">
                  <c:v>93.61</c:v>
                </c:pt>
                <c:pt idx="54">
                  <c:v>93.61</c:v>
                </c:pt>
                <c:pt idx="55">
                  <c:v>93.6</c:v>
                </c:pt>
                <c:pt idx="56">
                  <c:v>93.6</c:v>
                </c:pt>
                <c:pt idx="57">
                  <c:v>93.59</c:v>
                </c:pt>
                <c:pt idx="58">
                  <c:v>93.57</c:v>
                </c:pt>
                <c:pt idx="59">
                  <c:v>93.57</c:v>
                </c:pt>
                <c:pt idx="60">
                  <c:v>93.57</c:v>
                </c:pt>
              </c:numCache>
            </c:numRef>
          </c:val>
          <c:smooth val="0"/>
        </c:ser>
        <c:ser>
          <c:idx val="3"/>
          <c:order val="3"/>
          <c:tx>
            <c:strRef>
              <c:f>Sheet1!$E$1</c:f>
              <c:strCache>
                <c:ptCount val="1"/>
                <c:pt idx="0">
                  <c:v>Hub alone</c:v>
                </c:pt>
              </c:strCache>
            </c:strRef>
          </c:tx>
          <c:spPr>
            <a:solidFill>
              <a:srgbClr val="F3A9B7"/>
            </a:solidFill>
            <a:ln w="25400" cap="flat">
              <a:solidFill>
                <a:srgbClr val="F3A9B7"/>
              </a:solidFill>
              <a:prstDash val="solid"/>
              <a:round/>
            </a:ln>
            <a:effectLst/>
          </c:spPr>
          <c:invertIfNegative val="0"/>
          <c:dLbls>
            <c:numFmt formatCode="#,##0" sourceLinked="0"/>
            <c:txPr>
              <a:bodyPr/>
              <a:lstStyle/>
              <a:p>
                <a:pPr>
                  <a:defRPr b="0" i="0" strike="noStrike" sz="1100" u="none">
                    <a:solidFill>
                      <a:srgbClr val="3A2E31"/>
                    </a:solidFill>
                    <a:latin typeface="+mn-lt"/>
                  </a:defRPr>
                </a:pPr>
              </a:p>
            </c:txPr>
            <c:showLegendKey val="0"/>
            <c:showVal val="0"/>
            <c:showCatName val="0"/>
            <c:showSerName val="0"/>
            <c:showPercent val="0"/>
            <c:showBubbleSize val="0"/>
            <c:showLeaderLines val="0"/>
          </c:dLbls>
          <c:marker>
            <c:symbol val="none"/>
            <c:size val="6"/>
            <c:spPr>
              <a:solidFill>
                <a:srgbClr val="F3A9B7"/>
              </a:solidFill>
              <a:ln w="9525" cap="flat">
                <a:solidFill>
                  <a:srgbClr val="F3A9B7"/>
                </a:solidFill>
                <a:prstDash val="solid"/>
                <a:round/>
              </a:ln>
              <a:effectLst/>
            </c:spPr>
          </c:marker>
          <c:cat>
            <c:multiLvlStrRef>
              <c:f>Sheet1!$A$2:$A$62</c:f>
              <c:multiLvlStrCache>
                <c:ptCount val="61"/>
                <c:lvl>
                  <c:pt idx="0">
                    <c:v>0</c:v>
                  </c:pt>
                  <c:pt idx="1">
                    <c:v/>
                  </c:pt>
                  <c:pt idx="2">
                    <c:v/>
                  </c:pt>
                  <c:pt idx="3">
                    <c:v/>
                  </c:pt>
                  <c:pt idx="4">
                    <c:v/>
                  </c:pt>
                  <c:pt idx="5">
                    <c:v/>
                  </c:pt>
                  <c:pt idx="6">
                    <c:v/>
                  </c:pt>
                  <c:pt idx="7">
                    <c:v/>
                  </c:pt>
                  <c:pt idx="8">
                    <c:v/>
                  </c:pt>
                  <c:pt idx="9">
                    <c:v/>
                  </c:pt>
                  <c:pt idx="10">
                    <c:v>10</c:v>
                  </c:pt>
                  <c:pt idx="11">
                    <c:v/>
                  </c:pt>
                  <c:pt idx="12">
                    <c:v/>
                  </c:pt>
                  <c:pt idx="13">
                    <c:v/>
                  </c:pt>
                  <c:pt idx="14">
                    <c:v/>
                  </c:pt>
                  <c:pt idx="15">
                    <c:v/>
                  </c:pt>
                  <c:pt idx="16">
                    <c:v/>
                  </c:pt>
                  <c:pt idx="17">
                    <c:v/>
                  </c:pt>
                  <c:pt idx="18">
                    <c:v/>
                  </c:pt>
                  <c:pt idx="19">
                    <c:v/>
                  </c:pt>
                  <c:pt idx="20">
                    <c:v>20</c:v>
                  </c:pt>
                  <c:pt idx="21">
                    <c:v/>
                  </c:pt>
                  <c:pt idx="22">
                    <c:v/>
                  </c:pt>
                  <c:pt idx="23">
                    <c:v/>
                  </c:pt>
                  <c:pt idx="24">
                    <c:v/>
                  </c:pt>
                  <c:pt idx="25">
                    <c:v/>
                  </c:pt>
                  <c:pt idx="26">
                    <c:v/>
                  </c:pt>
                  <c:pt idx="27">
                    <c:v/>
                  </c:pt>
                  <c:pt idx="28">
                    <c:v/>
                  </c:pt>
                  <c:pt idx="29">
                    <c:v/>
                  </c:pt>
                  <c:pt idx="30">
                    <c:v>30</c:v>
                  </c:pt>
                  <c:pt idx="31">
                    <c:v/>
                  </c:pt>
                  <c:pt idx="32">
                    <c:v/>
                  </c:pt>
                  <c:pt idx="33">
                    <c:v/>
                  </c:pt>
                  <c:pt idx="34">
                    <c:v/>
                  </c:pt>
                  <c:pt idx="35">
                    <c:v/>
                  </c:pt>
                  <c:pt idx="36">
                    <c:v/>
                  </c:pt>
                  <c:pt idx="37">
                    <c:v/>
                  </c:pt>
                  <c:pt idx="38">
                    <c:v/>
                  </c:pt>
                  <c:pt idx="39">
                    <c:v/>
                  </c:pt>
                  <c:pt idx="40">
                    <c:v>40</c:v>
                  </c:pt>
                  <c:pt idx="41">
                    <c:v/>
                  </c:pt>
                  <c:pt idx="42">
                    <c:v/>
                  </c:pt>
                  <c:pt idx="43">
                    <c:v/>
                  </c:pt>
                  <c:pt idx="44">
                    <c:v/>
                  </c:pt>
                  <c:pt idx="45">
                    <c:v/>
                  </c:pt>
                  <c:pt idx="46">
                    <c:v/>
                  </c:pt>
                  <c:pt idx="47">
                    <c:v/>
                  </c:pt>
                  <c:pt idx="48">
                    <c:v/>
                  </c:pt>
                  <c:pt idx="49">
                    <c:v/>
                  </c:pt>
                  <c:pt idx="50">
                    <c:v>50</c:v>
                  </c:pt>
                  <c:pt idx="51">
                    <c:v/>
                  </c:pt>
                  <c:pt idx="52">
                    <c:v/>
                  </c:pt>
                  <c:pt idx="53">
                    <c:v/>
                  </c:pt>
                  <c:pt idx="54">
                    <c:v/>
                  </c:pt>
                  <c:pt idx="55">
                    <c:v/>
                  </c:pt>
                  <c:pt idx="56">
                    <c:v/>
                  </c:pt>
                  <c:pt idx="57">
                    <c:v/>
                  </c:pt>
                  <c:pt idx="58">
                    <c:v/>
                  </c:pt>
                  <c:pt idx="59">
                    <c:v/>
                  </c:pt>
                  <c:pt idx="60">
                    <c:v>60</c:v>
                  </c:pt>
                </c:lvl>
              </c:multiLvlStrCache>
            </c:multiLvlStrRef>
          </c:cat>
          <c:val>
            <c:numRef>
              <c:f>Sheet1!$E$2:$E$62</c:f>
              <c:numCache>
                <c:formatCode>General</c:formatCode>
                <c:ptCount val="61"/>
                <c:pt idx="0">
                  <c:v>93.51</c:v>
                </c:pt>
                <c:pt idx="1">
                  <c:v>93.51</c:v>
                </c:pt>
                <c:pt idx="2">
                  <c:v>93.51</c:v>
                </c:pt>
                <c:pt idx="3">
                  <c:v>93.51</c:v>
                </c:pt>
                <c:pt idx="4">
                  <c:v>93.51</c:v>
                </c:pt>
                <c:pt idx="5">
                  <c:v>93.51</c:v>
                </c:pt>
                <c:pt idx="6">
                  <c:v>93.51</c:v>
                </c:pt>
                <c:pt idx="7">
                  <c:v>93.51</c:v>
                </c:pt>
                <c:pt idx="8">
                  <c:v>93.51</c:v>
                </c:pt>
                <c:pt idx="9">
                  <c:v>93.51</c:v>
                </c:pt>
                <c:pt idx="10">
                  <c:v>93.51</c:v>
                </c:pt>
                <c:pt idx="11">
                  <c:v>93.51</c:v>
                </c:pt>
                <c:pt idx="12">
                  <c:v>93.51</c:v>
                </c:pt>
                <c:pt idx="13">
                  <c:v>93.51</c:v>
                </c:pt>
                <c:pt idx="14">
                  <c:v>93.51</c:v>
                </c:pt>
                <c:pt idx="15">
                  <c:v>93.51</c:v>
                </c:pt>
                <c:pt idx="16">
                  <c:v>93.51</c:v>
                </c:pt>
                <c:pt idx="17">
                  <c:v>93.51</c:v>
                </c:pt>
                <c:pt idx="18">
                  <c:v>93.51</c:v>
                </c:pt>
                <c:pt idx="19">
                  <c:v>93.51</c:v>
                </c:pt>
                <c:pt idx="20">
                  <c:v>93.51</c:v>
                </c:pt>
                <c:pt idx="21">
                  <c:v>93.51</c:v>
                </c:pt>
                <c:pt idx="22">
                  <c:v>93.51</c:v>
                </c:pt>
                <c:pt idx="23">
                  <c:v>93.51</c:v>
                </c:pt>
                <c:pt idx="24">
                  <c:v>93.51</c:v>
                </c:pt>
                <c:pt idx="25">
                  <c:v>93.51</c:v>
                </c:pt>
                <c:pt idx="26">
                  <c:v>93.51</c:v>
                </c:pt>
                <c:pt idx="27">
                  <c:v>93.51</c:v>
                </c:pt>
                <c:pt idx="28">
                  <c:v>93.51</c:v>
                </c:pt>
                <c:pt idx="29">
                  <c:v>93.51</c:v>
                </c:pt>
                <c:pt idx="30">
                  <c:v>93.51</c:v>
                </c:pt>
                <c:pt idx="31">
                  <c:v>93.51</c:v>
                </c:pt>
                <c:pt idx="32">
                  <c:v>93.51</c:v>
                </c:pt>
                <c:pt idx="33">
                  <c:v>93.51</c:v>
                </c:pt>
                <c:pt idx="34">
                  <c:v>93.51</c:v>
                </c:pt>
                <c:pt idx="35">
                  <c:v>93.51</c:v>
                </c:pt>
                <c:pt idx="36">
                  <c:v>93.51</c:v>
                </c:pt>
                <c:pt idx="37">
                  <c:v>93.51</c:v>
                </c:pt>
                <c:pt idx="38">
                  <c:v>93.51</c:v>
                </c:pt>
                <c:pt idx="39">
                  <c:v>93.51</c:v>
                </c:pt>
                <c:pt idx="40">
                  <c:v>93.51</c:v>
                </c:pt>
                <c:pt idx="41">
                  <c:v>93.51</c:v>
                </c:pt>
                <c:pt idx="42">
                  <c:v>93.51</c:v>
                </c:pt>
                <c:pt idx="43">
                  <c:v>93.51</c:v>
                </c:pt>
                <c:pt idx="44">
                  <c:v>93.51</c:v>
                </c:pt>
                <c:pt idx="45">
                  <c:v>93.51</c:v>
                </c:pt>
                <c:pt idx="46">
                  <c:v>93.51</c:v>
                </c:pt>
                <c:pt idx="47">
                  <c:v>93.51</c:v>
                </c:pt>
                <c:pt idx="48">
                  <c:v>93.51</c:v>
                </c:pt>
                <c:pt idx="49">
                  <c:v>93.51</c:v>
                </c:pt>
                <c:pt idx="50">
                  <c:v>93.51</c:v>
                </c:pt>
                <c:pt idx="51">
                  <c:v>93.51</c:v>
                </c:pt>
                <c:pt idx="52">
                  <c:v>93.51</c:v>
                </c:pt>
                <c:pt idx="53">
                  <c:v>93.51</c:v>
                </c:pt>
                <c:pt idx="54">
                  <c:v>93.51</c:v>
                </c:pt>
                <c:pt idx="55">
                  <c:v>93.51</c:v>
                </c:pt>
                <c:pt idx="56">
                  <c:v>93.51</c:v>
                </c:pt>
                <c:pt idx="57">
                  <c:v>93.51</c:v>
                </c:pt>
                <c:pt idx="58">
                  <c:v>93.51</c:v>
                </c:pt>
                <c:pt idx="59">
                  <c:v>93.51</c:v>
                </c:pt>
                <c:pt idx="60">
                  <c:v>93.51</c:v>
                </c:pt>
              </c:numCache>
            </c:numRef>
          </c:val>
          <c:smooth val="0"/>
        </c:ser>
        <c:dLbls>
          <c:numFmt formatCode="#,##0" sourceLinked="0"/>
          <c:txPr>
            <a:bodyPr/>
            <a:lstStyle/>
            <a:p>
              <a:pPr>
                <a:defRPr b="0" i="0" strike="noStrike" sz="1100" u="none">
                  <a:solidFill>
                    <a:srgbClr val="3A2E31"/>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8A7E80"/>
                    </a:solidFill>
                    <a:latin typeface="+mn-lt"/>
                  </a:defRPr>
                </a:pPr>
                <a:r>
                  <a:rPr sz="1200" b="0" i="0" u="none" strike="noStrike">
                    <a:solidFill>
                      <a:srgbClr val="8A7E80"/>
                    </a:solidFill>
                    <a:latin typeface="+mn-lt"/>
                  </a:rPr>
                  <a:t>Reviews sent to the hub (%)</a:t>
                </a:r>
              </a:p>
            </c:rich>
          </c:tx>
          <c:layout/>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rgbClr val="3A2E31"/>
                </a:solidFill>
                <a:latin typeface="+mn-lt"/>
              </a:defRPr>
            </a:pPr>
            <a:endParaRPr lang="en-US"/>
          </a:p>
        </c:txPr>
        <c:crossAx val="2094734552"/>
        <c:crosses val="autoZero"/>
        <c:auto val="1"/>
        <c:lblAlgn val="ctr"/>
        <c:noMultiLvlLbl val="1"/>
        <c:tickLblSkip val="1"/>
      </c:catAx>
      <c:valAx>
        <c:axId val="2094734552"/>
        <c:scaling>
          <c:orientation val="minMax"/>
          <c:max val="97"/>
          <c:min val="92"/>
        </c:scaling>
        <c:delete val="0"/>
        <c:axPos val="l"/>
        <c:majorGridlines>
          <c:spPr>
            <a:ln w="9525" cap="flat">
              <a:solidFill>
                <a:srgbClr val="E2D6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100" b="0" i="0" u="none" strike="noStrike">
                <a:solidFill>
                  <a:srgbClr val="8A7E80"/>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rgbClr val="3A2E3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mJ per review</c:v>
                </c:pt>
              </c:strCache>
            </c:strRef>
          </c:tx>
          <c:spPr>
            <a:solidFill>
              <a:srgbClr val="B9AEB1"/>
            </a:solidFill>
            <a:effectLst/>
          </c:spPr>
          <c:invertIfNegative val="0"/>
          <c:dLbls>
            <c:numFmt formatCode="0.0&quot; mJ&quot;" sourceLinked="0"/>
            <c:txPr>
              <a:bodyPr/>
              <a:lstStyle/>
              <a:p>
                <a:pPr>
                  <a:defRPr b="0" i="0" strike="noStrike" sz="1100" u="none">
                    <a:solidFill>
                      <a:srgbClr val="3A2E31"/>
                    </a:solidFill>
                    <a:latin typeface="+mn-lt"/>
                  </a:defRPr>
                </a:pPr>
              </a:p>
            </c:txPr>
            <c:showLegendKey val="0"/>
            <c:showVal val="1"/>
            <c:showCatName val="0"/>
            <c:showSerName val="0"/>
            <c:showPercent val="0"/>
            <c:showBubbleSize val="0"/>
            <c:showLeaderLines val="0"/>
          </c:dLbls>
          <c:dPt>
            <c:idx val="0"/>
            <c:invertIfNegative val="0"/>
            <c:bubble3D val="0"/>
            <c:spPr>
              <a:solidFill>
                <a:srgbClr val="B9AEB1"/>
              </a:solidFill>
              <a:effectLst/>
            </c:spPr>
          </c:dPt>
          <c:dPt>
            <c:idx val="1"/>
            <c:invertIfNegative val="0"/>
            <c:bubble3D val="0"/>
            <c:spPr>
              <a:solidFill>
                <a:srgbClr val="8C4B57"/>
              </a:solidFill>
              <a:effectLst/>
            </c:spPr>
          </c:dPt>
          <c:dPt>
            <c:idx val="2"/>
            <c:invertIfNegative val="0"/>
            <c:bubble3D val="0"/>
            <c:spPr>
              <a:solidFill>
                <a:srgbClr val="4A5A50"/>
              </a:solidFill>
              <a:effectLst/>
            </c:spPr>
          </c:dPt>
          <c:cat>
            <c:multiLvlStrRef>
              <c:f>Sheet1!$A$2:$A$4</c:f>
              <c:multiLvlStrCache>
                <c:ptCount val="3"/>
                <c:lvl>
                  <c:pt idx="0">
                    <c:v>Send every review</c:v>
                  </c:pt>
                  <c:pt idx="1">
                    <c:v>Cascade at hub accuracy (5% sent)</c:v>
                  </c:pt>
                  <c:pt idx="2">
                    <c:v>Device only</c:v>
                  </c:pt>
                </c:lvl>
              </c:multiLvlStrCache>
            </c:multiLvlStrRef>
          </c:cat>
          <c:val>
            <c:numRef>
              <c:f>Sheet1!$B$2:$B$4</c:f>
              <c:numCache>
                <c:formatCode>General</c:formatCode>
                <c:ptCount val="3"/>
                <c:pt idx="0">
                  <c:v>300.6</c:v>
                </c:pt>
                <c:pt idx="1">
                  <c:v>15.8</c:v>
                </c:pt>
                <c:pt idx="2">
                  <c:v>0.8</c:v>
                </c:pt>
              </c:numCache>
            </c:numRef>
          </c:val>
        </c:ser>
        <c:dLbls>
          <c:numFmt formatCode="0.0&quot; mJ&quot;" sourceLinked="0"/>
          <c:txPr>
            <a:bodyPr/>
            <a:lstStyle/>
            <a:p>
              <a:pPr>
                <a:defRPr b="0" i="0" strike="noStrike" sz="1100" u="none">
                  <a:solidFill>
                    <a:srgbClr val="3A2E31"/>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3A2E31"/>
                </a:solidFill>
                <a:latin typeface="+mn-lt"/>
              </a:defRPr>
            </a:pPr>
            <a:endParaRPr lang="en-US"/>
          </a:p>
        </c:txPr>
        <c:crossAx val="2094734552"/>
        <c:crosses val="autoZero"/>
        <c:auto val="1"/>
        <c:lblAlgn val="ctr"/>
        <c:noMultiLvlLbl val="1"/>
      </c:catAx>
      <c:valAx>
        <c:axId val="2094734552"/>
        <c:scaling>
          <c:orientation val="minMax"/>
          <c:max val="360"/>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8A7E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Test accuracy</c:v>
                </c:pt>
              </c:strCache>
            </c:strRef>
          </c:tx>
          <c:spPr>
            <a:solidFill>
              <a:srgbClr val="B9AEB1"/>
            </a:solidFill>
            <a:effectLst/>
          </c:spPr>
          <c:invertIfNegative val="0"/>
          <c:dLbls>
            <c:numFmt formatCode="0.00&quot;%&quot;" sourceLinked="0"/>
            <c:txPr>
              <a:bodyPr/>
              <a:lstStyle/>
              <a:p>
                <a:pPr>
                  <a:defRPr b="0" i="0" strike="noStrike" sz="1100" u="none">
                    <a:solidFill>
                      <a:srgbClr val="3A2E31"/>
                    </a:solidFill>
                    <a:latin typeface="+mn-lt"/>
                  </a:defRPr>
                </a:pPr>
              </a:p>
            </c:txPr>
            <c:showLegendKey val="0"/>
            <c:showVal val="1"/>
            <c:showCatName val="0"/>
            <c:showSerName val="0"/>
            <c:showPercent val="0"/>
            <c:showBubbleSize val="0"/>
            <c:showLeaderLines val="0"/>
          </c:dLbls>
          <c:dPt>
            <c:idx val="0"/>
            <c:invertIfNegative val="0"/>
            <c:bubble3D val="0"/>
            <c:spPr>
              <a:solidFill>
                <a:srgbClr val="B9AEB1"/>
              </a:solidFill>
              <a:effectLst/>
            </c:spPr>
          </c:dPt>
          <c:dPt>
            <c:idx val="1"/>
            <c:invertIfNegative val="0"/>
            <c:bubble3D val="0"/>
            <c:spPr>
              <a:solidFill>
                <a:srgbClr val="B9AEB1"/>
              </a:solidFill>
              <a:effectLst/>
            </c:spPr>
          </c:dPt>
          <c:dPt>
            <c:idx val="2"/>
            <c:invertIfNegative val="0"/>
            <c:bubble3D val="0"/>
            <c:spPr>
              <a:solidFill>
                <a:srgbClr val="B9AEB1"/>
              </a:solidFill>
              <a:effectLst/>
            </c:spPr>
          </c:dPt>
          <c:dPt>
            <c:idx val="3"/>
            <c:invertIfNegative val="0"/>
            <c:bubble3D val="0"/>
            <c:spPr>
              <a:solidFill>
                <a:srgbClr val="9C7F89"/>
              </a:solidFill>
              <a:effectLst/>
            </c:spPr>
          </c:dPt>
          <c:dPt>
            <c:idx val="4"/>
            <c:invertIfNegative val="0"/>
            <c:bubble3D val="0"/>
            <c:spPr>
              <a:solidFill>
                <a:srgbClr val="9C7F89"/>
              </a:solidFill>
              <a:effectLst/>
            </c:spPr>
          </c:dPt>
          <c:dPt>
            <c:idx val="5"/>
            <c:invertIfNegative val="0"/>
            <c:bubble3D val="0"/>
            <c:spPr>
              <a:solidFill>
                <a:srgbClr val="9C7F89"/>
              </a:solidFill>
              <a:effectLst/>
            </c:spPr>
          </c:dPt>
          <c:dPt>
            <c:idx val="6"/>
            <c:invertIfNegative val="0"/>
            <c:bubble3D val="0"/>
            <c:spPr>
              <a:solidFill>
                <a:srgbClr val="9C7F89"/>
              </a:solidFill>
              <a:effectLst/>
            </c:spPr>
          </c:dPt>
          <c:dPt>
            <c:idx val="7"/>
            <c:invertIfNegative val="0"/>
            <c:bubble3D val="0"/>
            <c:spPr>
              <a:solidFill>
                <a:srgbClr val="8C4B57"/>
              </a:solidFill>
              <a:effectLst/>
            </c:spPr>
          </c:dPt>
          <c:cat>
            <c:multiLvlStrRef>
              <c:f>Sheet1!$A$2:$A$9</c:f>
              <c:multiLvlStrCache>
                <c:ptCount val="8"/>
                <c:lvl>
                  <c:pt idx="0">
                    <c:v>LlamBERT (published)</c:v>
                  </c:pt>
                  <c:pt idx="1">
                    <c:v>XLNet (published)</c:v>
                  </c:pt>
                  <c:pt idx="2">
                    <c:v>ERNIE-Doc (published best)</c:v>
                  </c:pt>
                  <c:pt idx="3">
                    <c:v>RoBERTa-large, official data only</c:v>
                  </c:pt>
                  <c:pt idx="4">
                    <c:v>RoBERTa-large + 1M reviews</c:v>
                  </c:pt>
                  <c:pt idx="5">
                    <c:v>ELECTRA-large + 1M reviews</c:v>
                  </c:pt>
                  <c:pt idx="6">
                    <c:v>DeBERTa-v3-large + 1M reviews</c:v>
                  </c:pt>
                  <c:pt idx="7">
                    <c:v>Our ensemble</c:v>
                  </c:pt>
                </c:lvl>
              </c:multiLvlStrCache>
            </c:multiLvlStrRef>
          </c:cat>
          <c:val>
            <c:numRef>
              <c:f>Sheet1!$B$2:$B$9</c:f>
              <c:numCache>
                <c:formatCode>General</c:formatCode>
                <c:ptCount val="8"/>
                <c:pt idx="0">
                  <c:v>96.68</c:v>
                </c:pt>
                <c:pt idx="1">
                  <c:v>96.8</c:v>
                </c:pt>
                <c:pt idx="2">
                  <c:v>97.1</c:v>
                </c:pt>
                <c:pt idx="3">
                  <c:v>96.54</c:v>
                </c:pt>
                <c:pt idx="4">
                  <c:v>97.21</c:v>
                </c:pt>
                <c:pt idx="5">
                  <c:v>97.22</c:v>
                </c:pt>
                <c:pt idx="6">
                  <c:v>97.33</c:v>
                </c:pt>
                <c:pt idx="7">
                  <c:v>97.4</c:v>
                </c:pt>
              </c:numCache>
            </c:numRef>
          </c:val>
        </c:ser>
        <c:dLbls>
          <c:numFmt formatCode="0.00&quot;%&quot;" sourceLinked="0"/>
          <c:txPr>
            <a:bodyPr/>
            <a:lstStyle/>
            <a:p>
              <a:pPr>
                <a:defRPr b="0" i="0" strike="noStrike" sz="1100" u="none">
                  <a:solidFill>
                    <a:srgbClr val="3A2E3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3A2E31"/>
                </a:solidFill>
                <a:latin typeface="+mn-lt"/>
              </a:defRPr>
            </a:pPr>
            <a:endParaRPr lang="en-US"/>
          </a:p>
        </c:txPr>
        <c:crossAx val="2094734552"/>
        <c:crosses val="autoZero"/>
        <c:auto val="1"/>
        <c:lblAlgn val="ctr"/>
        <c:noMultiLvlLbl val="1"/>
      </c:catAx>
      <c:valAx>
        <c:axId val="2094734552"/>
        <c:scaling>
          <c:orientation val="minMax"/>
          <c:max val="97.7"/>
          <c:min val="96"/>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8A7E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last review we replaced the TF-IDF + VADER plan with a two-tier hybrid: a tiny model on a battery-powered device and a transformer on a nearby hub. Along the way we also ran a record attempt on the IMDb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results. First, our ensemble scores 97.40% on the IMDb test set, above the best published 97.1%, using extra training data. Second, the hybrid reaches the transformer's accuracy while using 14 to 19 times less device energy, based on datasheet currents. Third, a 256 KB model that fits on a $5 chip reaches 92.3%.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VADER idea was a single extra feature on one CPU model. We replaced it with a system: a tiny model on the device, a transformer on a hub, and a router deciding which reviews are worth sending. That needed far more data and stronger models, which is where the rest of the work went.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review hits the tiny model first. The router decides whether the expected accuracy gain from sending it to the hub is worth the battery the Wi-Fi radio costs. Most reviews never leave the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Robots are one of the biggest use cases, not the only one. The key numbers: motors are only 16.6 to 54.6% of measured robot power, and large onboard models cost hours of battery. Robots also care about sentiment: reading frustration is a long-standing human-robot-interaction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Ranked by fit. Robots tell the strongest story; off-grid messengers like the T-Deck are the closest hardware match, because people literally type messages into a battery-powered ESP32-S3.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large sources. The Kaggle scrape of IMDb is the same domain as the benchmark, 160 times more data than the official training set. Amazon's movie reviews were tested but didn't help, so the final models use the IMDb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hygiene result. 91% of the official test reviews were in the Kaggle download. We removed exact and near copies, then, after an adversarial review, every review of a test-set movie or by a test-review author. 3.34 million reviews remain.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rules. The test set is locked. Extra data is cleaned so it shares nothing with test. Every choice is made on a separate 50,000-review validation set from held-out movies. The final ensemble is scored on test once. And we report uncertainty, not just a point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Shrinking the table from 1 MB to 256 KB barely costs accuracy; adding data matters far more. With 1.94 million reviews the 256 KB model reached 92.76% on validation. Retrained on the fully cleaned data it scores 92.32% on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Sending only about 5% of reviews matches the hub, and around 10% beats both models alone. Our learned-deferral router came out level with simple confidence routing, an honest negative result. A perfect router shows there is still room: 96.6% at about 4%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radio dominates. Sending every review costs about 300 millijoules each with a one-second hub wait; matching the hub's accuracy through the cascade costs about 16. The currents come from the datasheet; the timings are placeholders until we measure them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reproduction of RoBERTa-large on the official data scores exactly the published 96.54%, so the setup is sound. Adding a million leak-free reviews lifts every model above 97.2%, and the ensemble reaches 97.40%. Even the low end of its 95% interval is above ERNIE-Doc's 97.1%.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large transformers, each trained once on the official training set plus a million cleaned reviews, on rented H100 GPUs. Every combination choice was made on the 50,000-review validation set, and the test set was scored once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state the result matters. It belongs in the extra-training-data category, it comes from single runs, and the IMDb test labels themselves cap realistic accuracy near 97%. The energy numbers still need real hardware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standard open-source Python. Three lessons cost us the most time: a float16 checkpoint silently breaking training, Apple GPU recompilation, and benchmark leakage in public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real energy measurements on hardware, rerunning the cascade on the cleaned data, repeated seeds and corrected labels for the record result, and the write-up.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74520"/>
            <a:ext cx="10789920" cy="160020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3" name="Text 0"/>
          <p:cNvSpPr/>
          <p:nvPr>
            <p:ph idx="101" type="body" hasCustomPrompt="1"/>
          </p:nvPr>
        </p:nvSpPr>
        <p:spPr>
          <a:xfrm>
            <a:off x="548640" y="3611880"/>
            <a:ext cx="10058400" cy="548640"/>
          </a:xfrm>
          <a:prstGeom prst="rect">
            <a:avLst/>
          </a:prstGeom>
          <a:noFill/>
          <a:ln/>
        </p:spPr>
        <p:txBody>
          <a:bodyPr wrap="square" rtlCol="0"/>
          <a:lstStyle>
            <a:lvl1pPr indent="0" marL="0">
              <a:buNone/>
              <a:defRPr lang="en-US" sz="1800" i="1" dirty="0">
                <a:solidFill>
                  <a:schemeClr val="bg2"/>
                </a:solidFill>
              </a:defRPr>
            </a:lvl1pPr>
          </a:lstStyle>
          <a:p>
            <a:pPr indent="0" marL="0">
              <a:buNone/>
            </a:pPr>
            <a:endParaRPr lang="en-US" sz="1800" dirty="0"/>
          </a:p>
        </p:txBody>
      </p:sp>
      <p:sp>
        <p:nvSpPr>
          <p:cNvPr id="4" name="Text 0"/>
          <p:cNvSpPr/>
          <p:nvPr>
            <p:ph idx="102" type="body" hasCustomPrompt="1"/>
          </p:nvPr>
        </p:nvSpPr>
        <p:spPr>
          <a:xfrm>
            <a:off x="548640" y="4892040"/>
            <a:ext cx="10607040" cy="411480"/>
          </a:xfrm>
          <a:prstGeom prst="rect">
            <a:avLst/>
          </a:prstGeom>
          <a:noFill/>
          <a:ln/>
        </p:spPr>
        <p:txBody>
          <a:bodyPr wrap="square" rtlCol="0"/>
          <a:lstStyle>
            <a:lvl1pPr indent="0" marL="0">
              <a:buNone/>
              <a:defRPr lang="en-US" sz="1400" b="1" dirty="0">
                <a:solidFill>
                  <a:schemeClr val="bg2"/>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274552" y="347472"/>
            <a:ext cx="384048" cy="384048"/>
          </a:xfrm>
          <a:prstGeom prst="rect">
            <a:avLst/>
          </a:prstGeom>
        </p:spPr>
      </p:pic>
      <p:sp>
        <p:nvSpPr>
          <p:cNvPr id="3" name="Text 0"/>
          <p:cNvSpPr/>
          <p:nvPr>
            <p:ph idx="101" type="body" hasCustomPrompt="1"/>
          </p:nvPr>
        </p:nvSpPr>
        <p:spPr>
          <a:xfrm>
            <a:off x="548640" y="365760"/>
            <a:ext cx="9601200" cy="292608"/>
          </a:xfrm>
          <a:prstGeom prst="rect">
            <a:avLst/>
          </a:prstGeom>
          <a:noFill/>
          <a:ln/>
        </p:spPr>
        <p:txBody>
          <a:bodyPr wrap="square" rtlCol="0"/>
          <a:lstStyle>
            <a:lvl1pPr indent="0" marL="0">
              <a:buNone/>
              <a:defRPr lang="en-US" sz="1200" b="1" dirty="0">
                <a:solidFill>
                  <a:schemeClr val="accent6"/>
                </a:solidFill>
              </a:defRPr>
            </a:lvl1pPr>
          </a:lstStyle>
          <a:p>
            <a:pPr indent="0" marL="0">
              <a:buNone/>
            </a:pPr>
            <a:endParaRPr lang="en-US" sz="1200" dirty="0"/>
          </a:p>
        </p:txBody>
      </p:sp>
      <p:sp>
        <p:nvSpPr>
          <p:cNvPr id="4" name="Text 0"/>
          <p:cNvSpPr/>
          <p:nvPr>
            <p:ph idx="102" type="title" hasCustomPrompt="1"/>
          </p:nvPr>
        </p:nvSpPr>
        <p:spPr>
          <a:xfrm>
            <a:off x="548640" y="676656"/>
            <a:ext cx="10424160" cy="82296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5" name="Text 0"/>
          <p:cNvSpPr/>
          <p:nvPr>
            <p:ph idx="103" type="body" hasCustomPrompt="1"/>
          </p:nvPr>
        </p:nvSpPr>
        <p:spPr>
          <a:xfrm>
            <a:off x="548640" y="6355080"/>
            <a:ext cx="10515600" cy="310896"/>
          </a:xfrm>
          <a:prstGeom prst="rect">
            <a:avLst/>
          </a:prstGeom>
          <a:noFill/>
          <a:ln/>
        </p:spPr>
        <p:txBody>
          <a:bodyPr wrap="square" rtlCol="0"/>
          <a:lstStyle>
            <a:lvl1pPr indent="0" marL="0">
              <a:buNone/>
              <a:defRPr lang="en-US" sz="1050" i="1" dirty="0">
                <a:solidFill>
                  <a:schemeClr val="accent6"/>
                </a:solidFill>
              </a:defRPr>
            </a:lvl1pPr>
          </a:lstStyle>
          <a:p>
            <a:pPr indent="0" marL="0">
              <a:buNone/>
            </a:pPr>
            <a:endParaRPr lang="en-US" sz="105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7315200" cy="320040"/>
          </a:xfrm>
          <a:prstGeom prst="rect">
            <a:avLst/>
          </a:prstGeom>
          <a:noFill/>
          <a:ln/>
        </p:spPr>
        <p:txBody>
          <a:bodyPr wrap="square" rtlCol="0"/>
          <a:lstStyle>
            <a:lvl1pPr indent="0" marL="0">
              <a:buNone/>
              <a:defRPr lang="en-US" sz="1200" b="1" dirty="0">
                <a:solidFill>
                  <a:schemeClr val="bg2"/>
                </a:solidFill>
              </a:defRPr>
            </a:lvl1pPr>
          </a:lstStyle>
          <a:p>
            <a:pPr indent="0" marL="0">
              <a:buNone/>
            </a:pPr>
            <a:endParaRPr lang="en-US" sz="1200" dirty="0"/>
          </a:p>
        </p:txBody>
      </p:sp>
      <p:sp>
        <p:nvSpPr>
          <p:cNvPr id="3" name="Text 0"/>
          <p:cNvSpPr/>
          <p:nvPr>
            <p:ph idx="101" type="title" hasCustomPrompt="1"/>
          </p:nvPr>
        </p:nvSpPr>
        <p:spPr>
          <a:xfrm>
            <a:off x="548640" y="868680"/>
            <a:ext cx="10607040"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4.xml"/><Relationship Id="rId6"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548640"/>
            <a:ext cx="2468880" cy="411480"/>
          </a:xfrm>
          <a:prstGeom prst="roundRect">
            <a:avLst>
              <a:gd name="adj" fmla="val 48889"/>
            </a:avLst>
          </a:prstGeom>
          <a:solidFill>
            <a:schemeClr val="accent5"/>
          </a:solidFill>
          <a:ln/>
        </p:spPr>
      </p:sp>
      <p:sp>
        <p:nvSpPr>
          <p:cNvPr id="3" name="Text 1"/>
          <p:cNvSpPr txBox="1"/>
          <p:nvPr/>
        </p:nvSpPr>
        <p:spPr>
          <a:xfrm>
            <a:off x="548640" y="548640"/>
            <a:ext cx="2468880" cy="411480"/>
          </a:xfrm>
          <a:prstGeom prst="rect">
            <a:avLst/>
          </a:prstGeom>
          <a:noFill/>
          <a:ln/>
        </p:spPr>
        <p:txBody>
          <a:bodyPr wrap="square" lIns="0" tIns="0" rIns="0" bIns="0" rtlCol="0" anchor="ctr"/>
          <a:lstStyle/>
          <a:p>
            <a:pPr algn="ctr" indent="0" marL="0">
              <a:buNone/>
            </a:pPr>
            <a:r>
              <a:rPr lang="en-US" sz="1200" b="1" spc="200" kern="0" dirty="0">
                <a:solidFill>
                  <a:schemeClr val="accent2"/>
                </a:solidFill>
              </a:rPr>
              <a:t>PROJECT UPDATE</a:t>
            </a:r>
            <a:endParaRPr lang="en-US" sz="1200" dirty="0"/>
          </a:p>
        </p:txBody>
      </p:sp>
      <p:sp>
        <p:nvSpPr>
          <p:cNvPr id="4" name="Text 0"/>
          <p:cNvSpPr/>
          <p:nvPr>
            <p:ph idx="100" type="title" hasCustomPrompt="1"/>
          </p:nvPr>
        </p:nvSpPr>
        <p:spPr>
          <a:xfrm>
            <a:off x="548640" y="1874520"/>
            <a:ext cx="10789920" cy="1600200"/>
          </a:xfrm>
          <a:prstGeom prst="rect">
            <a:avLst/>
          </a:prstGeom>
          <a:noFill/>
          <a:ln/>
        </p:spPr>
        <p:txBody>
          <a:bodyPr wrap="square" lIns="0" tIns="0" rIns="0" bIns="0" rtlCol="0" anchor="b"/>
          <a:lstStyle/>
          <a:p>
            <a:pPr indent="0" marL="0">
              <a:buNone/>
            </a:pPr>
            <a:r>
              <a:rPr lang="en-US" sz="4400" b="1" dirty="0">
                <a:solidFill>
                  <a:schemeClr val="bg1"/>
                </a:solidFill>
              </a:rPr>
              <a:t>Energy-Aware Hybrid Sentiment Analysis</a:t>
            </a:r>
            <a:endParaRPr lang="en-US" sz="4400" dirty="0"/>
          </a:p>
        </p:txBody>
      </p:sp>
      <p:sp>
        <p:nvSpPr>
          <p:cNvPr id="5" name="Text 0"/>
          <p:cNvSpPr/>
          <p:nvPr>
            <p:ph idx="101" type="body" hasCustomPrompt="1"/>
          </p:nvPr>
        </p:nvSpPr>
        <p:spPr>
          <a:xfrm>
            <a:off x="548640" y="3611880"/>
            <a:ext cx="10058400" cy="548640"/>
          </a:xfrm>
          <a:prstGeom prst="rect">
            <a:avLst/>
          </a:prstGeom>
          <a:noFill/>
          <a:ln/>
        </p:spPr>
        <p:txBody>
          <a:bodyPr wrap="square" lIns="0" tIns="0" rIns="0" bIns="0" rtlCol="0"/>
          <a:lstStyle/>
          <a:p>
            <a:pPr indent="0" marL="0">
              <a:buNone/>
            </a:pPr>
            <a:r>
              <a:rPr lang="en-US" sz="1800" i="1" dirty="0">
                <a:solidFill>
                  <a:schemeClr val="bg2"/>
                </a:solidFill>
              </a:rPr>
              <a:t>Sentiment Analysis of Text Reviews Using Machine Learning: from a $5 chip to a record-setting ensemble</a:t>
            </a:r>
            <a:endParaRPr lang="en-US" sz="1800" dirty="0"/>
          </a:p>
        </p:txBody>
      </p:sp>
      <p:sp>
        <p:nvSpPr>
          <p:cNvPr id="6" name="Text 0"/>
          <p:cNvSpPr/>
          <p:nvPr>
            <p:ph idx="102" type="body" hasCustomPrompt="1"/>
          </p:nvPr>
        </p:nvSpPr>
        <p:spPr>
          <a:xfrm>
            <a:off x="548640" y="4892040"/>
            <a:ext cx="10607040" cy="411480"/>
          </a:xfrm>
          <a:prstGeom prst="rect">
            <a:avLst/>
          </a:prstGeom>
          <a:noFill/>
          <a:ln/>
        </p:spPr>
        <p:txBody>
          <a:bodyPr wrap="square" lIns="0" tIns="0" rIns="0" bIns="0" rtlCol="0"/>
          <a:lstStyle/>
          <a:p>
            <a:pPr indent="0" marL="0">
              <a:buNone/>
            </a:pPr>
            <a:r>
              <a:rPr lang="en-US" sz="1400" b="1" dirty="0">
                <a:solidFill>
                  <a:schemeClr val="bg2"/>
                </a:solidFill>
              </a:rPr>
              <a:t>Ehsan Abdulkhader 24BCT0089  ·  Danyson Antony 24BAI0196  ·  Aditya Achar 24BCI0250</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AT A GLANCE</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Three headline results</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050" i="1" dirty="0">
                <a:solidFill>
                  <a:schemeClr val="accent6"/>
                </a:solidFill>
              </a:rPr>
              <a:t>All model choices were made on a 50,000-review validation set; the test set was scored once for the final ensemble.</a:t>
            </a:r>
            <a:endParaRPr lang="en-US" sz="1050" dirty="0"/>
          </a:p>
        </p:txBody>
      </p:sp>
      <p:sp>
        <p:nvSpPr>
          <p:cNvPr id="5" name="stat 97.40%"/>
          <p:cNvSpPr/>
          <p:nvPr/>
        </p:nvSpPr>
        <p:spPr>
          <a:xfrm>
            <a:off x="548640" y="1828800"/>
            <a:ext cx="3520440" cy="4160520"/>
          </a:xfrm>
          <a:prstGeom prst="roundRect">
            <a:avLst>
              <a:gd name="adj" fmla="val 2078"/>
            </a:avLst>
          </a:prstGeom>
          <a:solidFill>
            <a:schemeClr val="bg2"/>
          </a:solidFill>
          <a:ln/>
          <a:effectLst>
            <a:outerShdw sx="100000" sy="100000" kx="0" ky="0" algn="bl" rotWithShape="0" blurRad="76200" dist="25400" dir="5400000">
              <a:srgbClr val="9C8189">
                <a:alpha val="16000"/>
              </a:srgbClr>
            </a:outerShdw>
          </a:effectLst>
        </p:spPr>
      </p:sp>
      <p:sp>
        <p:nvSpPr>
          <p:cNvPr id="6" name="Shape 4"/>
          <p:cNvSpPr/>
          <p:nvPr/>
        </p:nvSpPr>
        <p:spPr>
          <a:xfrm>
            <a:off x="822960" y="2121408"/>
            <a:ext cx="713232" cy="713232"/>
          </a:xfrm>
          <a:prstGeom prst="ellipse">
            <a:avLst/>
          </a:prstGeom>
          <a:solidFill>
            <a:schemeClr val="accent2"/>
          </a:solidFill>
          <a:ln/>
        </p:spPr>
      </p:sp>
      <p:pic>
        <p:nvPicPr>
          <p:cNvPr id="7" name="Image 0" descr="preencoded.png">    </p:cNvPr>
          <p:cNvPicPr>
            <a:picLocks noChangeAspect="1"/>
          </p:cNvPicPr>
          <p:nvPr/>
        </p:nvPicPr>
        <p:blipFill>
          <a:blip r:embed="rId1"/>
          <a:stretch>
            <a:fillRect/>
          </a:stretch>
        </p:blipFill>
        <p:spPr>
          <a:xfrm>
            <a:off x="1001268" y="2299716"/>
            <a:ext cx="356616" cy="356616"/>
          </a:xfrm>
          <a:prstGeom prst="rect">
            <a:avLst/>
          </a:prstGeom>
        </p:spPr>
      </p:pic>
      <p:sp>
        <p:nvSpPr>
          <p:cNvPr id="8" name="Text 5"/>
          <p:cNvSpPr txBox="1"/>
          <p:nvPr/>
        </p:nvSpPr>
        <p:spPr>
          <a:xfrm>
            <a:off x="822960" y="3017520"/>
            <a:ext cx="2971800" cy="96012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97.40%</a:t>
            </a:r>
            <a:endParaRPr lang="en-US" sz="4800" dirty="0"/>
          </a:p>
        </p:txBody>
      </p:sp>
      <p:sp>
        <p:nvSpPr>
          <p:cNvPr id="9" name="Text 6"/>
          <p:cNvSpPr txBox="1"/>
          <p:nvPr/>
        </p:nvSpPr>
        <p:spPr>
          <a:xfrm>
            <a:off x="822960" y="4069080"/>
            <a:ext cx="2971800" cy="868680"/>
          </a:xfrm>
          <a:prstGeom prst="rect">
            <a:avLst/>
          </a:prstGeom>
          <a:noFill/>
          <a:ln/>
        </p:spPr>
        <p:txBody>
          <a:bodyPr wrap="square" lIns="0" tIns="0" rIns="0" bIns="0" rtlCol="0" anchor="t"/>
          <a:lstStyle/>
          <a:p>
            <a:pPr indent="0" marL="0">
              <a:buNone/>
            </a:pPr>
            <a:r>
              <a:rPr lang="en-US" sz="1700" b="1" dirty="0">
                <a:solidFill>
                  <a:schemeClr val="tx2"/>
                </a:solidFill>
              </a:rPr>
              <a:t>IMDb test accuracy, above the best published result (97.1%)</a:t>
            </a:r>
            <a:endParaRPr lang="en-US" sz="1700" dirty="0"/>
          </a:p>
        </p:txBody>
      </p:sp>
      <p:sp>
        <p:nvSpPr>
          <p:cNvPr id="10" name="Text 7"/>
          <p:cNvSpPr txBox="1"/>
          <p:nvPr/>
        </p:nvSpPr>
        <p:spPr>
          <a:xfrm>
            <a:off x="822960" y="5303520"/>
            <a:ext cx="2971800" cy="457200"/>
          </a:xfrm>
          <a:prstGeom prst="rect">
            <a:avLst/>
          </a:prstGeom>
          <a:noFill/>
          <a:ln/>
        </p:spPr>
        <p:txBody>
          <a:bodyPr wrap="square" lIns="0" tIns="0" rIns="0" bIns="0" rtlCol="0" anchor="b"/>
          <a:lstStyle/>
          <a:p>
            <a:pPr indent="0" marL="0">
              <a:buNone/>
            </a:pPr>
            <a:r>
              <a:rPr lang="en-US" sz="1200" dirty="0">
                <a:solidFill>
                  <a:schemeClr val="accent6"/>
                </a:solidFill>
              </a:rPr>
              <a:t>With ~1M extra leak-free reviews (extra-data setting)</a:t>
            </a:r>
            <a:endParaRPr lang="en-US" sz="1200" dirty="0"/>
          </a:p>
        </p:txBody>
      </p:sp>
      <p:sp>
        <p:nvSpPr>
          <p:cNvPr id="11" name="stat 14–19×"/>
          <p:cNvSpPr/>
          <p:nvPr/>
        </p:nvSpPr>
        <p:spPr>
          <a:xfrm>
            <a:off x="4334256" y="1828800"/>
            <a:ext cx="3520440" cy="4160520"/>
          </a:xfrm>
          <a:prstGeom prst="roundRect">
            <a:avLst>
              <a:gd name="adj" fmla="val 2078"/>
            </a:avLst>
          </a:prstGeom>
          <a:solidFill>
            <a:schemeClr val="accent4"/>
          </a:solidFill>
          <a:ln/>
          <a:effectLst>
            <a:outerShdw sx="100000" sy="100000" kx="0" ky="0" algn="bl" rotWithShape="0" blurRad="76200" dist="25400" dir="5400000">
              <a:srgbClr val="9C8189">
                <a:alpha val="16000"/>
              </a:srgbClr>
            </a:outerShdw>
          </a:effectLst>
        </p:spPr>
      </p:sp>
      <p:sp>
        <p:nvSpPr>
          <p:cNvPr id="12" name="Shape 9"/>
          <p:cNvSpPr/>
          <p:nvPr/>
        </p:nvSpPr>
        <p:spPr>
          <a:xfrm>
            <a:off x="4608576" y="2121408"/>
            <a:ext cx="713232" cy="713232"/>
          </a:xfrm>
          <a:prstGeom prst="ellipse">
            <a:avLst/>
          </a:prstGeom>
          <a:solidFill>
            <a:schemeClr val="accent3"/>
          </a:solidFill>
          <a:ln/>
        </p:spPr>
      </p:sp>
      <p:pic>
        <p:nvPicPr>
          <p:cNvPr id="13" name="Image 1" descr="preencoded.png">    </p:cNvPr>
          <p:cNvPicPr>
            <a:picLocks noChangeAspect="1"/>
          </p:cNvPicPr>
          <p:nvPr/>
        </p:nvPicPr>
        <p:blipFill>
          <a:blip r:embed="rId2"/>
          <a:stretch>
            <a:fillRect/>
          </a:stretch>
        </p:blipFill>
        <p:spPr>
          <a:xfrm>
            <a:off x="4786884" y="2299716"/>
            <a:ext cx="356616" cy="356616"/>
          </a:xfrm>
          <a:prstGeom prst="rect">
            <a:avLst/>
          </a:prstGeom>
        </p:spPr>
      </p:pic>
      <p:sp>
        <p:nvSpPr>
          <p:cNvPr id="14" name="Text 10"/>
          <p:cNvSpPr txBox="1"/>
          <p:nvPr/>
        </p:nvSpPr>
        <p:spPr>
          <a:xfrm>
            <a:off x="4608576" y="3017520"/>
            <a:ext cx="2971800" cy="960120"/>
          </a:xfrm>
          <a:prstGeom prst="rect">
            <a:avLst/>
          </a:prstGeom>
          <a:noFill/>
          <a:ln/>
        </p:spPr>
        <p:txBody>
          <a:bodyPr wrap="square" lIns="0" tIns="0" rIns="0" bIns="0" rtlCol="0" anchor="ctr"/>
          <a:lstStyle/>
          <a:p>
            <a:pPr indent="0" marL="0">
              <a:buNone/>
            </a:pPr>
            <a:r>
              <a:rPr lang="en-US" sz="4800" b="1" dirty="0">
                <a:solidFill>
                  <a:schemeClr val="accent3"/>
                </a:solidFill>
                <a:latin typeface="Cambria" pitchFamily="34" charset="0"/>
                <a:ea typeface="Cambria" pitchFamily="34" charset="-122"/>
                <a:cs typeface="Cambria" pitchFamily="34" charset="-120"/>
              </a:rPr>
              <a:t>14–19×</a:t>
            </a:r>
            <a:endParaRPr lang="en-US" sz="4800" dirty="0"/>
          </a:p>
        </p:txBody>
      </p:sp>
      <p:sp>
        <p:nvSpPr>
          <p:cNvPr id="15" name="Text 11"/>
          <p:cNvSpPr txBox="1"/>
          <p:nvPr/>
        </p:nvSpPr>
        <p:spPr>
          <a:xfrm>
            <a:off x="4608576" y="4069080"/>
            <a:ext cx="2971800" cy="868680"/>
          </a:xfrm>
          <a:prstGeom prst="rect">
            <a:avLst/>
          </a:prstGeom>
          <a:noFill/>
          <a:ln/>
        </p:spPr>
        <p:txBody>
          <a:bodyPr wrap="square" lIns="0" tIns="0" rIns="0" bIns="0" rtlCol="0" anchor="t"/>
          <a:lstStyle/>
          <a:p>
            <a:pPr indent="0" marL="0">
              <a:buNone/>
            </a:pPr>
            <a:r>
              <a:rPr lang="en-US" sz="1700" b="1" dirty="0">
                <a:solidFill>
                  <a:schemeClr val="tx2"/>
                </a:solidFill>
              </a:rPr>
              <a:t>less device energy to match the transformer's accuracy</a:t>
            </a:r>
            <a:endParaRPr lang="en-US" sz="1700" dirty="0"/>
          </a:p>
        </p:txBody>
      </p:sp>
      <p:sp>
        <p:nvSpPr>
          <p:cNvPr id="16" name="Text 12"/>
          <p:cNvSpPr txBox="1"/>
          <p:nvPr/>
        </p:nvSpPr>
        <p:spPr>
          <a:xfrm>
            <a:off x="4608576" y="5303520"/>
            <a:ext cx="2971800" cy="457200"/>
          </a:xfrm>
          <a:prstGeom prst="rect">
            <a:avLst/>
          </a:prstGeom>
          <a:noFill/>
          <a:ln/>
        </p:spPr>
        <p:txBody>
          <a:bodyPr wrap="square" lIns="0" tIns="0" rIns="0" bIns="0" rtlCol="0" anchor="b"/>
          <a:lstStyle/>
          <a:p>
            <a:pPr indent="0" marL="0">
              <a:buNone/>
            </a:pPr>
            <a:r>
              <a:rPr lang="en-US" sz="1200" dirty="0">
                <a:solidFill>
                  <a:schemeClr val="accent6"/>
                </a:solidFill>
              </a:rPr>
              <a:t>ESP32-S3 datasheet currents; timings still to be measured</a:t>
            </a:r>
            <a:endParaRPr lang="en-US" sz="1200" dirty="0"/>
          </a:p>
        </p:txBody>
      </p:sp>
      <p:sp>
        <p:nvSpPr>
          <p:cNvPr id="17" name="stat 256 KB"/>
          <p:cNvSpPr/>
          <p:nvPr/>
        </p:nvSpPr>
        <p:spPr>
          <a:xfrm>
            <a:off x="8119872" y="1828800"/>
            <a:ext cx="3520440" cy="4160520"/>
          </a:xfrm>
          <a:prstGeom prst="roundRect">
            <a:avLst>
              <a:gd name="adj" fmla="val 2078"/>
            </a:avLst>
          </a:prstGeom>
          <a:solidFill>
            <a:schemeClr val="bg2"/>
          </a:solidFill>
          <a:ln/>
          <a:effectLst>
            <a:outerShdw sx="100000" sy="100000" kx="0" ky="0" algn="bl" rotWithShape="0" blurRad="76200" dist="25400" dir="5400000">
              <a:srgbClr val="9C8189">
                <a:alpha val="16000"/>
              </a:srgbClr>
            </a:outerShdw>
          </a:effectLst>
        </p:spPr>
      </p:sp>
      <p:sp>
        <p:nvSpPr>
          <p:cNvPr id="18" name="Shape 14"/>
          <p:cNvSpPr/>
          <p:nvPr/>
        </p:nvSpPr>
        <p:spPr>
          <a:xfrm>
            <a:off x="8394192" y="2121408"/>
            <a:ext cx="713232" cy="713232"/>
          </a:xfrm>
          <a:prstGeom prst="ellipse">
            <a:avLst/>
          </a:prstGeom>
          <a:solidFill>
            <a:schemeClr val="accent2"/>
          </a:solidFill>
          <a:ln/>
        </p:spPr>
      </p:sp>
      <p:pic>
        <p:nvPicPr>
          <p:cNvPr id="19" name="Image 2" descr="preencoded.png">    </p:cNvPr>
          <p:cNvPicPr>
            <a:picLocks noChangeAspect="1"/>
          </p:cNvPicPr>
          <p:nvPr/>
        </p:nvPicPr>
        <p:blipFill>
          <a:blip r:embed="rId3"/>
          <a:stretch>
            <a:fillRect/>
          </a:stretch>
        </p:blipFill>
        <p:spPr>
          <a:xfrm>
            <a:off x="8572500" y="2299716"/>
            <a:ext cx="356616" cy="356616"/>
          </a:xfrm>
          <a:prstGeom prst="rect">
            <a:avLst/>
          </a:prstGeom>
        </p:spPr>
      </p:pic>
      <p:sp>
        <p:nvSpPr>
          <p:cNvPr id="20" name="Text 15"/>
          <p:cNvSpPr txBox="1"/>
          <p:nvPr/>
        </p:nvSpPr>
        <p:spPr>
          <a:xfrm>
            <a:off x="8394192" y="3017520"/>
            <a:ext cx="2971800" cy="96012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256 KB</a:t>
            </a:r>
            <a:endParaRPr lang="en-US" sz="4800" dirty="0"/>
          </a:p>
        </p:txBody>
      </p:sp>
      <p:sp>
        <p:nvSpPr>
          <p:cNvPr id="21" name="Text 16"/>
          <p:cNvSpPr txBox="1"/>
          <p:nvPr/>
        </p:nvSpPr>
        <p:spPr>
          <a:xfrm>
            <a:off x="8394192" y="4069080"/>
            <a:ext cx="2971800" cy="868680"/>
          </a:xfrm>
          <a:prstGeom prst="rect">
            <a:avLst/>
          </a:prstGeom>
          <a:noFill/>
          <a:ln/>
        </p:spPr>
        <p:txBody>
          <a:bodyPr wrap="square" lIns="0" tIns="0" rIns="0" bIns="0" rtlCol="0" anchor="t"/>
          <a:lstStyle/>
          <a:p>
            <a:pPr indent="0" marL="0">
              <a:buNone/>
            </a:pPr>
            <a:r>
              <a:rPr lang="en-US" sz="1700" b="1" dirty="0">
                <a:solidFill>
                  <a:schemeClr val="tx2"/>
                </a:solidFill>
              </a:rPr>
              <a:t>on-chip model reaching 92.3% test accuracy</a:t>
            </a:r>
            <a:endParaRPr lang="en-US" sz="1700" dirty="0"/>
          </a:p>
        </p:txBody>
      </p:sp>
      <p:sp>
        <p:nvSpPr>
          <p:cNvPr id="22" name="Text 17"/>
          <p:cNvSpPr txBox="1"/>
          <p:nvPr/>
        </p:nvSpPr>
        <p:spPr>
          <a:xfrm>
            <a:off x="8394192" y="5303520"/>
            <a:ext cx="2971800" cy="457200"/>
          </a:xfrm>
          <a:prstGeom prst="rect">
            <a:avLst/>
          </a:prstGeom>
          <a:noFill/>
          <a:ln/>
        </p:spPr>
        <p:txBody>
          <a:bodyPr wrap="square" lIns="0" tIns="0" rIns="0" bIns="0" rtlCol="0" anchor="b"/>
          <a:lstStyle/>
          <a:p>
            <a:pPr indent="0" marL="0">
              <a:buNone/>
            </a:pPr>
            <a:r>
              <a:rPr lang="en-US" sz="1200" dirty="0">
                <a:solidFill>
                  <a:schemeClr val="accent6"/>
                </a:solidFill>
              </a:rPr>
              <a:t>Fits an ESP32-S3 (512 KB RAM) with room to spare</a:t>
            </a:r>
            <a:endParaRPr lang="en-US" sz="12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SINCE THE LAST REVIEW</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From one model to a two-tier hybrid</a:t>
            </a:r>
            <a:endParaRPr lang="en-US" sz="3000" dirty="0"/>
          </a:p>
        </p:txBody>
      </p:sp>
      <p:sp>
        <p:nvSpPr>
          <p:cNvPr id="4" name="before"/>
          <p:cNvSpPr/>
          <p:nvPr/>
        </p:nvSpPr>
        <p:spPr>
          <a:xfrm>
            <a:off x="548640" y="1874520"/>
            <a:ext cx="4846320" cy="3566160"/>
          </a:xfrm>
          <a:prstGeom prst="roundRect">
            <a:avLst>
              <a:gd name="adj" fmla="val 2051"/>
            </a:avLst>
          </a:prstGeom>
          <a:solidFill>
            <a:schemeClr val="bg2"/>
          </a:solidFill>
          <a:ln/>
          <a:effectLst>
            <a:outerShdw sx="100000" sy="100000" kx="0" ky="0" algn="bl" rotWithShape="0" blurRad="76200" dist="25400" dir="5400000">
              <a:srgbClr val="9C8189">
                <a:alpha val="16000"/>
              </a:srgbClr>
            </a:outerShdw>
          </a:effectLst>
        </p:spPr>
      </p:sp>
      <p:sp>
        <p:nvSpPr>
          <p:cNvPr id="5" name="Text 3"/>
          <p:cNvSpPr txBox="1"/>
          <p:nvPr/>
        </p:nvSpPr>
        <p:spPr>
          <a:xfrm>
            <a:off x="822960" y="2011680"/>
            <a:ext cx="429768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Last review: the plan</a:t>
            </a:r>
            <a:endParaRPr lang="en-US" sz="2000" dirty="0"/>
          </a:p>
        </p:txBody>
      </p:sp>
      <p:sp>
        <p:nvSpPr>
          <p:cNvPr id="6" name="Text 4"/>
          <p:cNvSpPr txBox="1"/>
          <p:nvPr/>
        </p:nvSpPr>
        <p:spPr>
          <a:xfrm>
            <a:off x="822960" y="2651760"/>
            <a:ext cx="4343400" cy="26517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TF-IDF + VADER + logistic regression</a:t>
            </a:r>
            <a:endParaRPr lang="en-US" sz="1800" dirty="0"/>
          </a:p>
          <a:p>
            <a:pPr marL="342900" indent="-342900">
              <a:spcAft>
                <a:spcPts val="1000"/>
              </a:spcAft>
              <a:buSzPct val="100000"/>
              <a:buChar char="•"/>
            </a:pPr>
            <a:r>
              <a:rPr lang="en-US" sz="1800" dirty="0">
                <a:solidFill>
                  <a:schemeClr val="tx1"/>
                </a:solidFill>
              </a:rPr>
              <a:t>One model, CPU only</a:t>
            </a:r>
            <a:endParaRPr lang="en-US" sz="1800" dirty="0"/>
          </a:p>
          <a:p>
            <a:pPr marL="342900" indent="-342900">
              <a:spcAft>
                <a:spcPts val="1000"/>
              </a:spcAft>
              <a:buSzPct val="100000"/>
              <a:buChar char="•"/>
            </a:pPr>
            <a:r>
              <a:rPr lang="en-US" sz="1800" dirty="0">
                <a:solidFill>
                  <a:schemeClr val="tx1"/>
                </a:solidFill>
              </a:rPr>
              <a:t>25,000 IMDb training reviews</a:t>
            </a:r>
            <a:endParaRPr lang="en-US" sz="1800" dirty="0"/>
          </a:p>
          <a:p>
            <a:pPr marL="342900" indent="-342900">
              <a:spcAft>
                <a:spcPts val="1000"/>
              </a:spcAft>
              <a:buSzPct val="100000"/>
              <a:buChar char="•"/>
            </a:pPr>
            <a:r>
              <a:rPr lang="en-US" sz="1800" dirty="0">
                <a:solidFill>
                  <a:schemeClr val="tx1"/>
                </a:solidFill>
              </a:rPr>
              <a:t>Target: about 90% accuracy</a:t>
            </a:r>
            <a:endParaRPr lang="en-US" sz="1800" dirty="0"/>
          </a:p>
        </p:txBody>
      </p:sp>
      <p:pic>
        <p:nvPicPr>
          <p:cNvPr id="7" name="Image 0" descr="preencoded.png">    </p:cNvPr>
          <p:cNvPicPr>
            <a:picLocks noChangeAspect="1"/>
          </p:cNvPicPr>
          <p:nvPr/>
        </p:nvPicPr>
        <p:blipFill>
          <a:blip r:embed="rId1"/>
          <a:stretch>
            <a:fillRect/>
          </a:stretch>
        </p:blipFill>
        <p:spPr>
          <a:xfrm>
            <a:off x="5641848" y="3383280"/>
            <a:ext cx="548640" cy="548640"/>
          </a:xfrm>
          <a:prstGeom prst="rect">
            <a:avLst/>
          </a:prstGeom>
        </p:spPr>
      </p:pic>
      <p:sp>
        <p:nvSpPr>
          <p:cNvPr id="8" name="after"/>
          <p:cNvSpPr/>
          <p:nvPr/>
        </p:nvSpPr>
        <p:spPr>
          <a:xfrm>
            <a:off x="6428232" y="1874520"/>
            <a:ext cx="5212080" cy="3566160"/>
          </a:xfrm>
          <a:prstGeom prst="roundRect">
            <a:avLst>
              <a:gd name="adj" fmla="val 2051"/>
            </a:avLst>
          </a:prstGeom>
          <a:solidFill>
            <a:schemeClr val="accent4"/>
          </a:solidFill>
          <a:ln/>
          <a:effectLst>
            <a:outerShdw sx="100000" sy="100000" kx="0" ky="0" algn="bl" rotWithShape="0" blurRad="76200" dist="25400" dir="5400000">
              <a:srgbClr val="9C8189">
                <a:alpha val="16000"/>
              </a:srgbClr>
            </a:outerShdw>
          </a:effectLst>
        </p:spPr>
      </p:sp>
      <p:sp>
        <p:nvSpPr>
          <p:cNvPr id="9" name="Text 6"/>
          <p:cNvSpPr txBox="1"/>
          <p:nvPr/>
        </p:nvSpPr>
        <p:spPr>
          <a:xfrm>
            <a:off x="6702552" y="2011680"/>
            <a:ext cx="4663440" cy="457200"/>
          </a:xfrm>
          <a:prstGeom prst="rect">
            <a:avLst/>
          </a:prstGeom>
          <a:noFill/>
          <a:ln/>
        </p:spPr>
        <p:txBody>
          <a:bodyPr wrap="square" lIns="0" tIns="0" rIns="0" bIns="0" rtlCol="0" anchor="ctr"/>
          <a:lstStyle/>
          <a:p>
            <a:pPr indent="0" marL="0">
              <a:buNone/>
            </a:pPr>
            <a:r>
              <a:rPr lang="en-US" sz="2000" b="1" dirty="0">
                <a:solidFill>
                  <a:schemeClr val="accent3"/>
                </a:solidFill>
                <a:latin typeface="Cambria" pitchFamily="34" charset="0"/>
                <a:ea typeface="Cambria" pitchFamily="34" charset="-122"/>
                <a:cs typeface="Cambria" pitchFamily="34" charset="-120"/>
              </a:rPr>
              <a:t>Now: what we built</a:t>
            </a:r>
            <a:endParaRPr lang="en-US" sz="2000" dirty="0"/>
          </a:p>
        </p:txBody>
      </p:sp>
      <p:sp>
        <p:nvSpPr>
          <p:cNvPr id="10" name="Text 7"/>
          <p:cNvSpPr txBox="1"/>
          <p:nvPr/>
        </p:nvSpPr>
        <p:spPr>
          <a:xfrm>
            <a:off x="6702552" y="2651760"/>
            <a:ext cx="4709160" cy="26517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Tiny on-device model + transformer hub</a:t>
            </a:r>
            <a:endParaRPr lang="en-US" sz="1800" dirty="0"/>
          </a:p>
          <a:p>
            <a:pPr marL="342900" indent="-342900">
              <a:spcAft>
                <a:spcPts val="1000"/>
              </a:spcAft>
              <a:buSzPct val="100000"/>
              <a:buChar char="•"/>
            </a:pPr>
            <a:r>
              <a:rPr lang="en-US" sz="1800" dirty="0">
                <a:solidFill>
                  <a:schemeClr val="tx1"/>
                </a:solidFill>
              </a:rPr>
              <a:t>Learning to defer + energy-aware routing</a:t>
            </a:r>
            <a:endParaRPr lang="en-US" sz="1800" dirty="0"/>
          </a:p>
          <a:p>
            <a:pPr marL="342900" indent="-342900">
              <a:spcAft>
                <a:spcPts val="1000"/>
              </a:spcAft>
              <a:buSzPct val="100000"/>
              <a:buChar char="•"/>
            </a:pPr>
            <a:r>
              <a:rPr lang="en-US" sz="1800" dirty="0">
                <a:solidFill>
                  <a:schemeClr val="tx1"/>
                </a:solidFill>
              </a:rPr>
              <a:t>4.1M cleaned reviews, audited for test leakage</a:t>
            </a:r>
            <a:endParaRPr lang="en-US" sz="1800" dirty="0"/>
          </a:p>
          <a:p>
            <a:pPr marL="342900" indent="-342900">
              <a:spcAft>
                <a:spcPts val="1000"/>
              </a:spcAft>
              <a:buSzPct val="100000"/>
              <a:buChar char="•"/>
            </a:pPr>
            <a:r>
              <a:rPr lang="en-US" sz="1800" dirty="0">
                <a:solidFill>
                  <a:schemeClr val="tx1"/>
                </a:solidFill>
              </a:rPr>
              <a:t>Large transformers trained on cloud GPUs</a:t>
            </a:r>
            <a:endParaRPr lang="en-US" sz="1800" dirty="0"/>
          </a:p>
          <a:p>
            <a:pPr marL="342900" indent="-342900">
              <a:spcAft>
                <a:spcPts val="1000"/>
              </a:spcAft>
              <a:buSzPct val="100000"/>
              <a:buChar char="•"/>
            </a:pPr>
            <a:r>
              <a:rPr lang="en-US" sz="1800" dirty="0">
                <a:solidFill>
                  <a:schemeClr val="tx1"/>
                </a:solidFill>
              </a:rPr>
              <a:t>97.40% test accuracy</a:t>
            </a:r>
            <a:endParaRPr lang="en-US" sz="1800" dirty="0"/>
          </a:p>
        </p:txBody>
      </p:sp>
      <p:sp>
        <p:nvSpPr>
          <p:cNvPr id="12"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endParaRPr lang="en-US" sz="105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THE SYSTEM</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How the hybrid works</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050" i="1" dirty="0">
                <a:solidFill>
                  <a:schemeClr val="accent6"/>
                </a:solidFill>
              </a:rPr>
              <a:t>Device: ESP32-S3 (~$5, 512 KB RAM). Hub: Raspberry Pi Zero 2 W ($15, 512 MB RAM). Same local network: no internet needed.</a:t>
            </a:r>
            <a:endParaRPr lang="en-US" sz="1050" dirty="0"/>
          </a:p>
        </p:txBody>
      </p:sp>
      <p:sp>
        <p:nvSpPr>
          <p:cNvPr id="5" name="Review"/>
          <p:cNvSpPr/>
          <p:nvPr/>
        </p:nvSpPr>
        <p:spPr>
          <a:xfrm>
            <a:off x="548640" y="2148840"/>
            <a:ext cx="2011680" cy="1325880"/>
          </a:xfrm>
          <a:prstGeom prst="roundRect">
            <a:avLst>
              <a:gd name="adj" fmla="val 5517"/>
            </a:avLst>
          </a:prstGeom>
          <a:solidFill>
            <a:schemeClr val="bg2"/>
          </a:solidFill>
          <a:ln/>
          <a:effectLst>
            <a:outerShdw sx="100000" sy="100000" kx="0" ky="0" algn="bl" rotWithShape="0" blurRad="76200" dist="25400" dir="5400000">
              <a:srgbClr val="9C8189">
                <a:alpha val="16000"/>
              </a:srgbClr>
            </a:outerShdw>
          </a:effectLst>
        </p:spPr>
      </p:sp>
      <p:sp>
        <p:nvSpPr>
          <p:cNvPr id="6" name="Text 4"/>
          <p:cNvSpPr txBox="1"/>
          <p:nvPr/>
        </p:nvSpPr>
        <p:spPr>
          <a:xfrm>
            <a:off x="731520" y="2313432"/>
            <a:ext cx="1645920" cy="45720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Review</a:t>
            </a:r>
            <a:endParaRPr lang="en-US" sz="1800" dirty="0"/>
          </a:p>
        </p:txBody>
      </p:sp>
      <p:sp>
        <p:nvSpPr>
          <p:cNvPr id="7" name="Text 5"/>
          <p:cNvSpPr txBox="1"/>
          <p:nvPr/>
        </p:nvSpPr>
        <p:spPr>
          <a:xfrm>
            <a:off x="731520" y="2788920"/>
            <a:ext cx="1645920" cy="594360"/>
          </a:xfrm>
          <a:prstGeom prst="rect">
            <a:avLst/>
          </a:prstGeom>
          <a:noFill/>
          <a:ln/>
        </p:spPr>
        <p:txBody>
          <a:bodyPr wrap="square" lIns="0" tIns="0" rIns="0" bIns="0" rtlCol="0" anchor="t"/>
          <a:lstStyle/>
          <a:p>
            <a:pPr indent="0" marL="0">
              <a:buNone/>
            </a:pPr>
            <a:r>
              <a:rPr lang="en-US" sz="1400" dirty="0">
                <a:solidFill>
                  <a:schemeClr val="tx1"/>
                </a:solidFill>
              </a:rPr>
              <a:t>Text typed, or speech converted to text</a:t>
            </a:r>
            <a:endParaRPr lang="en-US" sz="1400" dirty="0"/>
          </a:p>
        </p:txBody>
      </p:sp>
      <p:sp>
        <p:nvSpPr>
          <p:cNvPr id="8" name="Shape 6"/>
          <p:cNvSpPr/>
          <p:nvPr/>
        </p:nvSpPr>
        <p:spPr>
          <a:xfrm>
            <a:off x="2606040" y="2811780"/>
            <a:ext cx="411480" cy="0"/>
          </a:xfrm>
          <a:prstGeom prst="line">
            <a:avLst/>
          </a:prstGeom>
          <a:noFill/>
          <a:ln w="25400">
            <a:solidFill>
              <a:schemeClr val="accent6"/>
            </a:solidFill>
            <a:prstDash val="solid"/>
            <a:tailEnd type="triangle"/>
          </a:ln>
        </p:spPr>
      </p:sp>
      <p:sp>
        <p:nvSpPr>
          <p:cNvPr id="9" name="Tiny model"/>
          <p:cNvSpPr/>
          <p:nvPr/>
        </p:nvSpPr>
        <p:spPr>
          <a:xfrm>
            <a:off x="3063240" y="2148840"/>
            <a:ext cx="2743200" cy="1325880"/>
          </a:xfrm>
          <a:prstGeom prst="roundRect">
            <a:avLst>
              <a:gd name="adj" fmla="val 5517"/>
            </a:avLst>
          </a:prstGeom>
          <a:solidFill>
            <a:schemeClr val="accent4"/>
          </a:solidFill>
          <a:ln/>
          <a:effectLst>
            <a:outerShdw sx="100000" sy="100000" kx="0" ky="0" algn="bl" rotWithShape="0" blurRad="76200" dist="25400" dir="5400000">
              <a:srgbClr val="9C8189">
                <a:alpha val="16000"/>
              </a:srgbClr>
            </a:outerShdw>
          </a:effectLst>
        </p:spPr>
      </p:sp>
      <p:sp>
        <p:nvSpPr>
          <p:cNvPr id="10" name="Text 8"/>
          <p:cNvSpPr txBox="1"/>
          <p:nvPr/>
        </p:nvSpPr>
        <p:spPr>
          <a:xfrm>
            <a:off x="3246120" y="2313432"/>
            <a:ext cx="2377440" cy="457200"/>
          </a:xfrm>
          <a:prstGeom prst="rect">
            <a:avLst/>
          </a:prstGeom>
          <a:noFill/>
          <a:ln/>
        </p:spPr>
        <p:txBody>
          <a:bodyPr wrap="square" lIns="0" tIns="0" rIns="0" bIns="0" rtlCol="0" anchor="ctr"/>
          <a:lstStyle/>
          <a:p>
            <a:pPr indent="0" marL="0">
              <a:buNone/>
            </a:pPr>
            <a:r>
              <a:rPr lang="en-US" sz="1800" b="1" dirty="0">
                <a:solidFill>
                  <a:schemeClr val="accent3"/>
                </a:solidFill>
                <a:latin typeface="Cambria" pitchFamily="34" charset="0"/>
                <a:ea typeface="Cambria" pitchFamily="34" charset="-122"/>
                <a:cs typeface="Cambria" pitchFamily="34" charset="-120"/>
              </a:rPr>
              <a:t>Tiny model</a:t>
            </a:r>
            <a:endParaRPr lang="en-US" sz="1800" dirty="0"/>
          </a:p>
        </p:txBody>
      </p:sp>
      <p:sp>
        <p:nvSpPr>
          <p:cNvPr id="11" name="Text 9"/>
          <p:cNvSpPr txBox="1"/>
          <p:nvPr/>
        </p:nvSpPr>
        <p:spPr>
          <a:xfrm>
            <a:off x="3246120" y="2788920"/>
            <a:ext cx="2377440" cy="594360"/>
          </a:xfrm>
          <a:prstGeom prst="rect">
            <a:avLst/>
          </a:prstGeom>
          <a:noFill/>
          <a:ln/>
        </p:spPr>
        <p:txBody>
          <a:bodyPr wrap="square" lIns="0" tIns="0" rIns="0" bIns="0" rtlCol="0" anchor="t"/>
          <a:lstStyle/>
          <a:p>
            <a:pPr indent="0" marL="0">
              <a:buNone/>
            </a:pPr>
            <a:r>
              <a:rPr lang="en-US" sz="1400" dirty="0">
                <a:solidFill>
                  <a:schemeClr val="tx1"/>
                </a:solidFill>
              </a:rPr>
              <a:t>On the device, 256 KB, answers in milliseconds</a:t>
            </a:r>
            <a:endParaRPr lang="en-US" sz="1400" dirty="0"/>
          </a:p>
        </p:txBody>
      </p:sp>
      <p:sp>
        <p:nvSpPr>
          <p:cNvPr id="12" name="Shape 10"/>
          <p:cNvSpPr/>
          <p:nvPr/>
        </p:nvSpPr>
        <p:spPr>
          <a:xfrm>
            <a:off x="5852160" y="2811780"/>
            <a:ext cx="411480" cy="0"/>
          </a:xfrm>
          <a:prstGeom prst="line">
            <a:avLst/>
          </a:prstGeom>
          <a:noFill/>
          <a:ln w="25400">
            <a:solidFill>
              <a:schemeClr val="accent6"/>
            </a:solidFill>
            <a:prstDash val="solid"/>
            <a:tailEnd type="triangle"/>
          </a:ln>
        </p:spPr>
      </p:sp>
      <p:sp>
        <p:nvSpPr>
          <p:cNvPr id="13" name="Worth sending?"/>
          <p:cNvSpPr/>
          <p:nvPr/>
        </p:nvSpPr>
        <p:spPr>
          <a:xfrm>
            <a:off x="6309360" y="2148840"/>
            <a:ext cx="2331720" cy="1325880"/>
          </a:xfrm>
          <a:prstGeom prst="roundRect">
            <a:avLst>
              <a:gd name="adj" fmla="val 5517"/>
            </a:avLst>
          </a:prstGeom>
          <a:solidFill>
            <a:schemeClr val="accent5"/>
          </a:solidFill>
          <a:ln/>
          <a:effectLst>
            <a:outerShdw sx="100000" sy="100000" kx="0" ky="0" algn="bl" rotWithShape="0" blurRad="76200" dist="25400" dir="5400000">
              <a:srgbClr val="9C8189">
                <a:alpha val="16000"/>
              </a:srgbClr>
            </a:outerShdw>
          </a:effectLst>
        </p:spPr>
      </p:sp>
      <p:sp>
        <p:nvSpPr>
          <p:cNvPr id="14" name="Text 12"/>
          <p:cNvSpPr txBox="1"/>
          <p:nvPr/>
        </p:nvSpPr>
        <p:spPr>
          <a:xfrm>
            <a:off x="6492240" y="2313432"/>
            <a:ext cx="1965960" cy="457200"/>
          </a:xfrm>
          <a:prstGeom prst="rect">
            <a:avLst/>
          </a:prstGeom>
          <a:noFill/>
          <a:ln/>
        </p:spPr>
        <p:txBody>
          <a:bodyPr wrap="square" lIns="0" tIns="0" rIns="0" bIns="0" rtlCol="0" anchor="ctr"/>
          <a:lstStyle/>
          <a:p>
            <a:pPr indent="0" marL="0">
              <a:buNone/>
            </a:pPr>
            <a:r>
              <a:rPr lang="en-US" sz="1800" b="1" dirty="0">
                <a:solidFill>
                  <a:schemeClr val="accent2"/>
                </a:solidFill>
                <a:latin typeface="Cambria" pitchFamily="34" charset="0"/>
                <a:ea typeface="Cambria" pitchFamily="34" charset="-122"/>
                <a:cs typeface="Cambria" pitchFamily="34" charset="-120"/>
              </a:rPr>
              <a:t>Worth sending?</a:t>
            </a:r>
            <a:endParaRPr lang="en-US" sz="1800" dirty="0"/>
          </a:p>
        </p:txBody>
      </p:sp>
      <p:sp>
        <p:nvSpPr>
          <p:cNvPr id="15" name="Text 13"/>
          <p:cNvSpPr txBox="1"/>
          <p:nvPr/>
        </p:nvSpPr>
        <p:spPr>
          <a:xfrm>
            <a:off x="6492240" y="2788920"/>
            <a:ext cx="1965960" cy="594360"/>
          </a:xfrm>
          <a:prstGeom prst="rect">
            <a:avLst/>
          </a:prstGeom>
          <a:noFill/>
          <a:ln/>
        </p:spPr>
        <p:txBody>
          <a:bodyPr wrap="square" lIns="0" tIns="0" rIns="0" bIns="0" rtlCol="0" anchor="t"/>
          <a:lstStyle/>
          <a:p>
            <a:pPr indent="0" marL="0">
              <a:buNone/>
            </a:pPr>
            <a:r>
              <a:rPr lang="en-US" sz="1400" dirty="0">
                <a:solidFill>
                  <a:schemeClr val="tx1"/>
                </a:solidFill>
              </a:rPr>
              <a:t>Router weighs expected gain against battery cost</a:t>
            </a:r>
            <a:endParaRPr lang="en-US" sz="1400" dirty="0"/>
          </a:p>
        </p:txBody>
      </p:sp>
      <p:sp>
        <p:nvSpPr>
          <p:cNvPr id="16" name="Shape 14"/>
          <p:cNvSpPr/>
          <p:nvPr/>
        </p:nvSpPr>
        <p:spPr>
          <a:xfrm>
            <a:off x="8686800" y="2811780"/>
            <a:ext cx="411480" cy="0"/>
          </a:xfrm>
          <a:prstGeom prst="line">
            <a:avLst/>
          </a:prstGeom>
          <a:noFill/>
          <a:ln w="25400">
            <a:solidFill>
              <a:schemeClr val="accent6"/>
            </a:solidFill>
            <a:prstDash val="solid"/>
            <a:tailEnd type="triangle"/>
          </a:ln>
        </p:spPr>
      </p:sp>
      <p:sp>
        <p:nvSpPr>
          <p:cNvPr id="17" name="Transformer hub"/>
          <p:cNvSpPr/>
          <p:nvPr/>
        </p:nvSpPr>
        <p:spPr>
          <a:xfrm>
            <a:off x="9144000" y="2148840"/>
            <a:ext cx="2496312" cy="1325880"/>
          </a:xfrm>
          <a:prstGeom prst="roundRect">
            <a:avLst>
              <a:gd name="adj" fmla="val 5517"/>
            </a:avLst>
          </a:prstGeom>
          <a:solidFill>
            <a:schemeClr val="bg2"/>
          </a:solidFill>
          <a:ln/>
          <a:effectLst>
            <a:outerShdw sx="100000" sy="100000" kx="0" ky="0" algn="bl" rotWithShape="0" blurRad="76200" dist="25400" dir="5400000">
              <a:srgbClr val="9C8189">
                <a:alpha val="16000"/>
              </a:srgbClr>
            </a:outerShdw>
          </a:effectLst>
        </p:spPr>
      </p:sp>
      <p:sp>
        <p:nvSpPr>
          <p:cNvPr id="18" name="Text 16"/>
          <p:cNvSpPr txBox="1"/>
          <p:nvPr/>
        </p:nvSpPr>
        <p:spPr>
          <a:xfrm>
            <a:off x="9326880" y="2313432"/>
            <a:ext cx="2130552" cy="45720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Transformer hub</a:t>
            </a:r>
            <a:endParaRPr lang="en-US" sz="1800" dirty="0"/>
          </a:p>
        </p:txBody>
      </p:sp>
      <p:sp>
        <p:nvSpPr>
          <p:cNvPr id="19" name="Text 17"/>
          <p:cNvSpPr txBox="1"/>
          <p:nvPr/>
        </p:nvSpPr>
        <p:spPr>
          <a:xfrm>
            <a:off x="9326880" y="2788920"/>
            <a:ext cx="2130552" cy="594360"/>
          </a:xfrm>
          <a:prstGeom prst="rect">
            <a:avLst/>
          </a:prstGeom>
          <a:noFill/>
          <a:ln/>
        </p:spPr>
        <p:txBody>
          <a:bodyPr wrap="square" lIns="0" tIns="0" rIns="0" bIns="0" rtlCol="0" anchor="t"/>
          <a:lstStyle/>
          <a:p>
            <a:pPr indent="0" marL="0">
              <a:buNone/>
            </a:pPr>
            <a:r>
              <a:rPr lang="en-US" sz="1400" dirty="0">
                <a:solidFill>
                  <a:schemeClr val="tx1"/>
                </a:solidFill>
              </a:rPr>
              <a:t>Answers the hard reviews, about 5–10% of them</a:t>
            </a:r>
            <a:endParaRPr lang="en-US" sz="1400" dirty="0"/>
          </a:p>
        </p:txBody>
      </p:sp>
      <p:sp>
        <p:nvSpPr>
          <p:cNvPr id="20" name="Text 18"/>
          <p:cNvSpPr txBox="1"/>
          <p:nvPr/>
        </p:nvSpPr>
        <p:spPr>
          <a:xfrm>
            <a:off x="6309360" y="3703320"/>
            <a:ext cx="2331720" cy="365760"/>
          </a:xfrm>
          <a:prstGeom prst="rect">
            <a:avLst/>
          </a:prstGeom>
          <a:noFill/>
          <a:ln/>
        </p:spPr>
        <p:txBody>
          <a:bodyPr wrap="square" lIns="0" tIns="0" rIns="0" bIns="0" rtlCol="0" anchor="ctr"/>
          <a:lstStyle/>
          <a:p>
            <a:pPr algn="ctr" indent="0" marL="0">
              <a:buNone/>
            </a:pPr>
            <a:r>
              <a:rPr lang="en-US" sz="1400" b="1" dirty="0">
                <a:solidFill>
                  <a:schemeClr val="accent3"/>
                </a:solidFill>
              </a:rPr>
              <a:t>No: answer on the device</a:t>
            </a:r>
            <a:endParaRPr lang="en-US" sz="1400" dirty="0"/>
          </a:p>
        </p:txBody>
      </p:sp>
      <p:sp>
        <p:nvSpPr>
          <p:cNvPr id="21" name="Shape 19"/>
          <p:cNvSpPr/>
          <p:nvPr/>
        </p:nvSpPr>
        <p:spPr>
          <a:xfrm>
            <a:off x="7475220" y="3474720"/>
            <a:ext cx="0" cy="201168"/>
          </a:xfrm>
          <a:prstGeom prst="line">
            <a:avLst/>
          </a:prstGeom>
          <a:noFill/>
          <a:ln w="25400">
            <a:solidFill>
              <a:schemeClr val="accent6"/>
            </a:solidFill>
            <a:prstDash val="solid"/>
            <a:tailEnd type="triangle"/>
          </a:ln>
        </p:spPr>
      </p:sp>
      <p:sp>
        <p:nvSpPr>
          <p:cNvPr id="22" name="Text 20"/>
          <p:cNvSpPr txBox="1"/>
          <p:nvPr/>
        </p:nvSpPr>
        <p:spPr>
          <a:xfrm>
            <a:off x="8686800" y="2427732"/>
            <a:ext cx="457200" cy="320040"/>
          </a:xfrm>
          <a:prstGeom prst="rect">
            <a:avLst/>
          </a:prstGeom>
          <a:noFill/>
          <a:ln/>
        </p:spPr>
        <p:txBody>
          <a:bodyPr wrap="square" lIns="0" tIns="0" rIns="0" bIns="0" rtlCol="0" anchor="ctr"/>
          <a:lstStyle/>
          <a:p>
            <a:pPr algn="ctr" indent="0" marL="0">
              <a:buNone/>
            </a:pPr>
            <a:r>
              <a:rPr lang="en-US" sz="1400" b="1" dirty="0">
                <a:solidFill>
                  <a:schemeClr val="accent2"/>
                </a:solidFill>
              </a:rPr>
              <a:t>Yes</a:t>
            </a:r>
            <a:endParaRPr lang="en-US" sz="1400" dirty="0"/>
          </a:p>
        </p:txBody>
      </p:sp>
      <p:sp>
        <p:nvSpPr>
          <p:cNvPr id="23" name="router note"/>
          <p:cNvSpPr/>
          <p:nvPr/>
        </p:nvSpPr>
        <p:spPr>
          <a:xfrm>
            <a:off x="548640" y="4709160"/>
            <a:ext cx="11091672" cy="1325880"/>
          </a:xfrm>
          <a:prstGeom prst="roundRect">
            <a:avLst>
              <a:gd name="adj" fmla="val 5517"/>
            </a:avLst>
          </a:prstGeom>
          <a:solidFill>
            <a:schemeClr val="bg1"/>
          </a:solidFill>
          <a:ln/>
          <a:effectLst>
            <a:outerShdw sx="100000" sy="100000" kx="0" ky="0" algn="bl" rotWithShape="0" blurRad="76200" dist="25400" dir="5400000">
              <a:srgbClr val="9C8189">
                <a:alpha val="16000"/>
              </a:srgbClr>
            </a:outerShdw>
          </a:effectLst>
        </p:spPr>
      </p:sp>
      <p:sp>
        <p:nvSpPr>
          <p:cNvPr id="24" name="Shape 22"/>
          <p:cNvSpPr/>
          <p:nvPr/>
        </p:nvSpPr>
        <p:spPr>
          <a:xfrm>
            <a:off x="822960" y="4956048"/>
            <a:ext cx="822960" cy="822960"/>
          </a:xfrm>
          <a:prstGeom prst="ellipse">
            <a:avLst/>
          </a:prstGeom>
          <a:solidFill>
            <a:schemeClr val="accent1"/>
          </a:solidFill>
          <a:ln/>
        </p:spPr>
      </p:sp>
      <p:pic>
        <p:nvPicPr>
          <p:cNvPr id="25" name="Image 0" descr="preencoded.png">    </p:cNvPr>
          <p:cNvPicPr>
            <a:picLocks noChangeAspect="1"/>
          </p:cNvPicPr>
          <p:nvPr/>
        </p:nvPicPr>
        <p:blipFill>
          <a:blip r:embed="rId1"/>
          <a:stretch>
            <a:fillRect/>
          </a:stretch>
        </p:blipFill>
        <p:spPr>
          <a:xfrm>
            <a:off x="1028700" y="5161788"/>
            <a:ext cx="411480" cy="411480"/>
          </a:xfrm>
          <a:prstGeom prst="rect">
            <a:avLst/>
          </a:prstGeom>
        </p:spPr>
      </p:pic>
      <p:sp>
        <p:nvSpPr>
          <p:cNvPr id="26" name="Text 23"/>
          <p:cNvSpPr txBox="1"/>
          <p:nvPr/>
        </p:nvSpPr>
        <p:spPr>
          <a:xfrm>
            <a:off x="1874520" y="4892040"/>
            <a:ext cx="9509760" cy="960120"/>
          </a:xfrm>
          <a:prstGeom prst="rect">
            <a:avLst/>
          </a:prstGeom>
          <a:noFill/>
          <a:ln/>
        </p:spPr>
        <p:txBody>
          <a:bodyPr wrap="square" lIns="0" tIns="0" rIns="0" bIns="0" rtlCol="0" anchor="ctr"/>
          <a:lstStyle/>
          <a:p>
            <a:pPr indent="0" marL="0">
              <a:buNone/>
            </a:pPr>
            <a:r>
              <a:rPr lang="en-US" sz="1500" b="1" dirty="0">
                <a:solidFill>
                  <a:schemeClr val="tx2"/>
                </a:solidFill>
              </a:rPr>
              <a:t>Two contributions in the router: </a:t>
            </a:r>
            <a:pPr indent="0" marL="0">
              <a:buNone/>
            </a:pPr>
            <a:r>
              <a:rPr lang="en-US" sz="1500" dirty="0">
                <a:solidFill>
                  <a:schemeClr val="tx1"/>
                </a:solidFill>
              </a:rPr>
              <a:t>learning to defer (predict whether the hub would fix this review) and energy-aware routing (only send when the gain is worth the radio's battery cost).</a:t>
            </a:r>
            <a:endParaRPr lang="en-US" sz="15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WHY THE ENERGY ANGLE</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Robots: a leading battery-powered use case</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050" i="1" dirty="0">
                <a:solidFill>
                  <a:schemeClr val="accent6"/>
                </a:solidFill>
              </a:rPr>
              <a:t>Sources: Liu, Shi &amp; Shin (2025); Pohland et al. (2026); Spezialetti, Placidi &amp; Rossi (2020). All in papers/.</a:t>
            </a:r>
            <a:endParaRPr lang="en-US" sz="1050" dirty="0"/>
          </a:p>
        </p:txBody>
      </p:sp>
      <p:sp>
        <p:nvSpPr>
          <p:cNvPr id="5" name="Shape 3"/>
          <p:cNvSpPr/>
          <p:nvPr/>
        </p:nvSpPr>
        <p:spPr>
          <a:xfrm>
            <a:off x="548640" y="1856232"/>
            <a:ext cx="777240" cy="77724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742950" y="2050542"/>
            <a:ext cx="388620" cy="388620"/>
          </a:xfrm>
          <a:prstGeom prst="rect">
            <a:avLst/>
          </a:prstGeom>
        </p:spPr>
      </p:pic>
      <p:sp>
        <p:nvSpPr>
          <p:cNvPr id="7" name="Text 4"/>
          <p:cNvSpPr txBox="1"/>
          <p:nvPr/>
        </p:nvSpPr>
        <p:spPr>
          <a:xfrm>
            <a:off x="1554480" y="1783080"/>
            <a:ext cx="6309360" cy="41148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Computing drains robot batteries, not just driving</a:t>
            </a:r>
            <a:endParaRPr lang="en-US" sz="1900" dirty="0"/>
          </a:p>
        </p:txBody>
      </p:sp>
      <p:sp>
        <p:nvSpPr>
          <p:cNvPr id="8" name="Text 5"/>
          <p:cNvSpPr txBox="1"/>
          <p:nvPr/>
        </p:nvSpPr>
        <p:spPr>
          <a:xfrm>
            <a:off x="1554480" y="2221992"/>
            <a:ext cx="6309360" cy="685800"/>
          </a:xfrm>
          <a:prstGeom prst="rect">
            <a:avLst/>
          </a:prstGeom>
          <a:noFill/>
          <a:ln/>
        </p:spPr>
        <p:txBody>
          <a:bodyPr wrap="square" lIns="0" tIns="0" rIns="0" bIns="0" rtlCol="0" anchor="t"/>
          <a:lstStyle/>
          <a:p>
            <a:pPr indent="0" marL="0">
              <a:buNone/>
            </a:pPr>
            <a:r>
              <a:rPr lang="en-US" sz="1500" dirty="0">
                <a:solidFill>
                  <a:schemeClr val="tx1"/>
                </a:solidFill>
              </a:rPr>
              <a:t>Measured robots use 30–90 W, and motors take only 16.6–54.6% of that. The rest is mostly computing and sensors.</a:t>
            </a:r>
            <a:endParaRPr lang="en-US" sz="1500" dirty="0"/>
          </a:p>
        </p:txBody>
      </p:sp>
      <p:sp>
        <p:nvSpPr>
          <p:cNvPr id="9" name="Shape 6"/>
          <p:cNvSpPr/>
          <p:nvPr/>
        </p:nvSpPr>
        <p:spPr>
          <a:xfrm>
            <a:off x="548640" y="3063240"/>
            <a:ext cx="777240" cy="777240"/>
          </a:xfrm>
          <a:prstGeom prst="ellipse">
            <a:avLst/>
          </a:prstGeom>
          <a:solidFill>
            <a:schemeClr val="accent2"/>
          </a:solidFill>
          <a:ln/>
        </p:spPr>
      </p:sp>
      <p:pic>
        <p:nvPicPr>
          <p:cNvPr id="10" name="Image 1" descr="preencoded.png">    </p:cNvPr>
          <p:cNvPicPr>
            <a:picLocks noChangeAspect="1"/>
          </p:cNvPicPr>
          <p:nvPr/>
        </p:nvPicPr>
        <p:blipFill>
          <a:blip r:embed="rId2"/>
          <a:stretch>
            <a:fillRect/>
          </a:stretch>
        </p:blipFill>
        <p:spPr>
          <a:xfrm>
            <a:off x="742950" y="3257550"/>
            <a:ext cx="388620" cy="388620"/>
          </a:xfrm>
          <a:prstGeom prst="rect">
            <a:avLst/>
          </a:prstGeom>
        </p:spPr>
      </p:pic>
      <p:sp>
        <p:nvSpPr>
          <p:cNvPr id="11" name="Text 7"/>
          <p:cNvSpPr txBox="1"/>
          <p:nvPr/>
        </p:nvSpPr>
        <p:spPr>
          <a:xfrm>
            <a:off x="1554480" y="2990088"/>
            <a:ext cx="6309360" cy="41148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Big models on board cost hours of battery</a:t>
            </a:r>
            <a:endParaRPr lang="en-US" sz="1900" dirty="0"/>
          </a:p>
        </p:txBody>
      </p:sp>
      <p:sp>
        <p:nvSpPr>
          <p:cNvPr id="12" name="Text 8"/>
          <p:cNvSpPr txBox="1"/>
          <p:nvPr/>
        </p:nvSpPr>
        <p:spPr>
          <a:xfrm>
            <a:off x="1554480" y="3429000"/>
            <a:ext cx="6309360" cy="685800"/>
          </a:xfrm>
          <a:prstGeom prst="rect">
            <a:avLst/>
          </a:prstGeom>
          <a:noFill/>
          <a:ln/>
        </p:spPr>
        <p:txBody>
          <a:bodyPr wrap="square" lIns="0" tIns="0" rIns="0" bIns="0" rtlCol="0" anchor="t"/>
          <a:lstStyle/>
          <a:p>
            <a:pPr indent="0" marL="0">
              <a:buNone/>
            </a:pPr>
            <a:r>
              <a:rPr lang="en-US" sz="1500" dirty="0">
                <a:solidFill>
                  <a:schemeClr val="tx1"/>
                </a:solidFill>
              </a:rPr>
              <a:t>Larger onboard GPUs “drain robot batteries several hours faster.” Offloading helps but adds delay and network load.</a:t>
            </a:r>
            <a:endParaRPr lang="en-US" sz="1500" dirty="0"/>
          </a:p>
        </p:txBody>
      </p:sp>
      <p:sp>
        <p:nvSpPr>
          <p:cNvPr id="13" name="Shape 9"/>
          <p:cNvSpPr/>
          <p:nvPr/>
        </p:nvSpPr>
        <p:spPr>
          <a:xfrm>
            <a:off x="548640" y="4270248"/>
            <a:ext cx="777240" cy="777240"/>
          </a:xfrm>
          <a:prstGeom prst="ellipse">
            <a:avLst/>
          </a:prstGeom>
          <a:solidFill>
            <a:schemeClr val="accent1"/>
          </a:solidFill>
          <a:ln/>
        </p:spPr>
      </p:sp>
      <p:pic>
        <p:nvPicPr>
          <p:cNvPr id="14" name="Image 2" descr="preencoded.png">    </p:cNvPr>
          <p:cNvPicPr>
            <a:picLocks noChangeAspect="1"/>
          </p:cNvPicPr>
          <p:nvPr/>
        </p:nvPicPr>
        <p:blipFill>
          <a:blip r:embed="rId3"/>
          <a:stretch>
            <a:fillRect/>
          </a:stretch>
        </p:blipFill>
        <p:spPr>
          <a:xfrm>
            <a:off x="742950" y="4464558"/>
            <a:ext cx="388620" cy="388620"/>
          </a:xfrm>
          <a:prstGeom prst="rect">
            <a:avLst/>
          </a:prstGeom>
        </p:spPr>
      </p:pic>
      <p:sp>
        <p:nvSpPr>
          <p:cNvPr id="15" name="Text 10"/>
          <p:cNvSpPr txBox="1"/>
          <p:nvPr/>
        </p:nvSpPr>
        <p:spPr>
          <a:xfrm>
            <a:off x="1554480" y="4197096"/>
            <a:ext cx="6309360" cy="41148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Robots care about sentiment</a:t>
            </a:r>
            <a:endParaRPr lang="en-US" sz="1900" dirty="0"/>
          </a:p>
        </p:txBody>
      </p:sp>
      <p:sp>
        <p:nvSpPr>
          <p:cNvPr id="16" name="Text 11"/>
          <p:cNvSpPr txBox="1"/>
          <p:nvPr/>
        </p:nvSpPr>
        <p:spPr>
          <a:xfrm>
            <a:off x="1554480" y="4636008"/>
            <a:ext cx="6309360" cy="685800"/>
          </a:xfrm>
          <a:prstGeom prst="rect">
            <a:avLst/>
          </a:prstGeom>
          <a:noFill/>
          <a:ln/>
        </p:spPr>
        <p:txBody>
          <a:bodyPr wrap="square" lIns="0" tIns="0" rIns="0" bIns="0" rtlCol="0" anchor="t"/>
          <a:lstStyle/>
          <a:p>
            <a:pPr indent="0" marL="0">
              <a:buNone/>
            </a:pPr>
            <a:r>
              <a:rPr lang="en-US" sz="1500" dirty="0">
                <a:solidFill>
                  <a:schemeClr val="tx1"/>
                </a:solidFill>
              </a:rPr>
              <a:t>Reading how a person feels, including frustration, is an established goal in human-robot interaction.</a:t>
            </a:r>
            <a:endParaRPr lang="en-US" sz="1500" dirty="0"/>
          </a:p>
        </p:txBody>
      </p:sp>
      <p:sp>
        <p:nvSpPr>
          <p:cNvPr id="17" name="speech note"/>
          <p:cNvSpPr/>
          <p:nvPr/>
        </p:nvSpPr>
        <p:spPr>
          <a:xfrm>
            <a:off x="8229600" y="1783080"/>
            <a:ext cx="3410712" cy="3429000"/>
          </a:xfrm>
          <a:prstGeom prst="roundRect">
            <a:avLst>
              <a:gd name="adj" fmla="val 2145"/>
            </a:avLst>
          </a:prstGeom>
          <a:solidFill>
            <a:schemeClr val="bg2"/>
          </a:solidFill>
          <a:ln/>
          <a:effectLst>
            <a:outerShdw sx="100000" sy="100000" kx="0" ky="0" algn="bl" rotWithShape="0" blurRad="76200" dist="25400" dir="5400000">
              <a:srgbClr val="9C8189">
                <a:alpha val="16000"/>
              </a:srgbClr>
            </a:outerShdw>
          </a:effectLst>
        </p:spPr>
      </p:sp>
      <p:sp>
        <p:nvSpPr>
          <p:cNvPr id="18" name="Text 13"/>
          <p:cNvSpPr txBox="1"/>
          <p:nvPr/>
        </p:nvSpPr>
        <p:spPr>
          <a:xfrm>
            <a:off x="8503920" y="2011680"/>
            <a:ext cx="2834640" cy="365760"/>
          </a:xfrm>
          <a:prstGeom prst="rect">
            <a:avLst/>
          </a:prstGeom>
          <a:noFill/>
          <a:ln/>
        </p:spPr>
        <p:txBody>
          <a:bodyPr wrap="square" lIns="0" tIns="0" rIns="0" bIns="0" rtlCol="0" anchor="ctr"/>
          <a:lstStyle/>
          <a:p>
            <a:pPr indent="0" marL="0">
              <a:buNone/>
            </a:pPr>
            <a:r>
              <a:rPr lang="en-US" sz="1400" b="1" spc="100" kern="0" dirty="0">
                <a:solidFill>
                  <a:schemeClr val="accent2"/>
                </a:solidFill>
              </a:rPr>
              <a:t>Note</a:t>
            </a:r>
            <a:endParaRPr lang="en-US" sz="1400" dirty="0"/>
          </a:p>
        </p:txBody>
      </p:sp>
      <p:sp>
        <p:nvSpPr>
          <p:cNvPr id="19" name="Text 14"/>
          <p:cNvSpPr txBox="1"/>
          <p:nvPr/>
        </p:nvSpPr>
        <p:spPr>
          <a:xfrm>
            <a:off x="8503920" y="2468880"/>
            <a:ext cx="2880360" cy="2560320"/>
          </a:xfrm>
          <a:prstGeom prst="rect">
            <a:avLst/>
          </a:prstGeom>
          <a:noFill/>
          <a:ln/>
        </p:spPr>
        <p:txBody>
          <a:bodyPr wrap="square" lIns="0" tIns="0" rIns="0" bIns="0" rtlCol="0" anchor="t"/>
          <a:lstStyle/>
          <a:p>
            <a:pPr indent="0" marL="0">
              <a:buNone/>
            </a:pPr>
            <a:r>
              <a:rPr lang="en-US" sz="1600" dirty="0">
                <a:solidFill>
                  <a:schemeClr val="tx2"/>
                </a:solidFill>
                <a:latin typeface="Cambria" pitchFamily="34" charset="0"/>
                <a:ea typeface="Cambria" pitchFamily="34" charset="-122"/>
                <a:cs typeface="Cambria" pitchFamily="34" charset="-120"/>
              </a:rPr>
              <a:t>Robots hear speech, so a speech-to-text step runs first and the router works on the text. On a robot, the “device” tier is its own computer rather than an ESP32.</a:t>
            </a:r>
            <a:endParaRPr lang="en-US" sz="16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WHERE IT FITS</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Use cases, ranked by fit</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050" i="1" dirty="0">
                <a:solidFill>
                  <a:schemeClr val="accent6"/>
                </a:solidFill>
              </a:rPr>
              <a:t>T-Deck: ESP32-S3 handheld with keyboard and LoRa radio running Meshtastic off-grid messaging.</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063240"/>
                <a:gridCol w="2057400"/>
                <a:gridCol w="2148840"/>
                <a:gridCol w="2148840"/>
                <a:gridCol w="1673352"/>
              </a:tblGrid>
              <a:tr h="56692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Use case</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On battery?</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How text arrives</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Runs on ESP32?</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Fit</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accent1"/>
                    </a:solidFill>
                  </a:tcPr>
                </a:tc>
              </a:tr>
              <a:tr h="56692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Social, assistive, eldercare robots</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Yes, a major limit</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Speech → text</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No, robot's own computer</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Strongest story</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Off-grid messengers (LILYGO T-Deck)</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Typed on its keyboard</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Yes, exact match</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Best hardware match</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Smartwatch, phone as hub</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Yes, tiny battery</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Voice replies</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Watch chip</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Believable</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Kids' smart toys</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Speech</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Often</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Niche, privacy helps</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Battery or solar feedback kiosks</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Typed feedback</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Niche</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Drones, smart speakers</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Drones yes, speakers no</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No text, or plugged in</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Not a fit</a:t>
                      </a:r>
                      <a:endParaRPr lang="en-US" sz="1400" dirty="0">
                        <a:latin typeface="Calibri" charset="0"/>
                        <a:ea typeface="Calibri" charset="0"/>
                        <a:cs typeface="Calibri" charset="0"/>
                      </a:endParaRPr>
                    </a:p>
                  </a:txBody>
                  <a:tcPr marL="109728" marR="109728" marT="0" marB="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DATA</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Millions of labelled reviews</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050" i="1" dirty="0">
                <a:solidFill>
                  <a:schemeClr val="accent6"/>
                </a:solidFill>
              </a:rPr>
              <a:t>Labels: IMDb ≤4/10 negative, ≥7/10 positive; Amazon 1–2★ negative, 4–5★ positive. Middle ratings dropped; Amazon titles dropped (they state the rating).</a:t>
            </a:r>
            <a:endParaRPr lang="en-US" sz="1050" dirty="0"/>
          </a:p>
        </p:txBody>
      </p:sp>
      <p:sp>
        <p:nvSpPr>
          <p:cNvPr id="5" name="IMDb Review Dataset (Kaggle, CC0)"/>
          <p:cNvSpPr/>
          <p:nvPr/>
        </p:nvSpPr>
        <p:spPr>
          <a:xfrm>
            <a:off x="548640" y="1783080"/>
            <a:ext cx="5394960" cy="3657600"/>
          </a:xfrm>
          <a:prstGeom prst="roundRect">
            <a:avLst>
              <a:gd name="adj" fmla="val 2000"/>
            </a:avLst>
          </a:prstGeom>
          <a:solidFill>
            <a:schemeClr val="bg2"/>
          </a:solidFill>
          <a:ln/>
          <a:effectLst>
            <a:outerShdw sx="100000" sy="100000" kx="0" ky="0" algn="bl" rotWithShape="0" blurRad="76200" dist="25400" dir="5400000">
              <a:srgbClr val="9C8189">
                <a:alpha val="16000"/>
              </a:srgbClr>
            </a:outerShdw>
          </a:effectLst>
        </p:spPr>
      </p:sp>
      <p:sp>
        <p:nvSpPr>
          <p:cNvPr id="6" name="Text 4"/>
          <p:cNvSpPr txBox="1"/>
          <p:nvPr/>
        </p:nvSpPr>
        <p:spPr>
          <a:xfrm>
            <a:off x="868680" y="2011680"/>
            <a:ext cx="4754880" cy="914400"/>
          </a:xfrm>
          <a:prstGeom prst="rect">
            <a:avLst/>
          </a:prstGeom>
          <a:noFill/>
          <a:ln/>
        </p:spPr>
        <p:txBody>
          <a:bodyPr wrap="square" lIns="0" tIns="0" rIns="0" bIns="0" rtlCol="0" anchor="ctr"/>
          <a:lstStyle/>
          <a:p>
            <a:pPr indent="0" marL="0">
              <a:buNone/>
            </a:pPr>
            <a:r>
              <a:rPr lang="en-US" sz="5200" b="1" dirty="0">
                <a:solidFill>
                  <a:schemeClr val="accent2"/>
                </a:solidFill>
                <a:latin typeface="Cambria" pitchFamily="34" charset="0"/>
                <a:ea typeface="Cambria" pitchFamily="34" charset="-122"/>
                <a:cs typeface="Cambria" pitchFamily="34" charset="-120"/>
              </a:rPr>
              <a:t>5,571,499</a:t>
            </a:r>
            <a:endParaRPr lang="en-US" sz="5200" dirty="0"/>
          </a:p>
        </p:txBody>
      </p:sp>
      <p:sp>
        <p:nvSpPr>
          <p:cNvPr id="7" name="Text 5"/>
          <p:cNvSpPr txBox="1"/>
          <p:nvPr/>
        </p:nvSpPr>
        <p:spPr>
          <a:xfrm>
            <a:off x="868680" y="2971800"/>
            <a:ext cx="4754880" cy="731520"/>
          </a:xfrm>
          <a:prstGeom prst="rect">
            <a:avLst/>
          </a:prstGeom>
          <a:noFill/>
          <a:ln/>
        </p:spPr>
        <p:txBody>
          <a:bodyPr wrap="square" lIns="0" tIns="0" rIns="0" bIns="0" rtlCol="0" anchor="t"/>
          <a:lstStyle/>
          <a:p>
            <a:pPr indent="0" marL="0">
              <a:buNone/>
            </a:pPr>
            <a:r>
              <a:rPr lang="en-US" sz="1700" b="1" dirty="0">
                <a:solidFill>
                  <a:schemeClr val="tx2"/>
                </a:solidFill>
              </a:rPr>
              <a:t>IMDb Review Dataset (Kaggle, CC0)</a:t>
            </a:r>
            <a:endParaRPr lang="en-US" sz="1700" dirty="0"/>
          </a:p>
        </p:txBody>
      </p:sp>
      <p:sp>
        <p:nvSpPr>
          <p:cNvPr id="8" name="Text 6"/>
          <p:cNvSpPr txBox="1"/>
          <p:nvPr/>
        </p:nvSpPr>
        <p:spPr>
          <a:xfrm>
            <a:off x="868680" y="3794760"/>
            <a:ext cx="4754880" cy="457200"/>
          </a:xfrm>
          <a:prstGeom prst="rect">
            <a:avLst/>
          </a:prstGeom>
          <a:noFill/>
          <a:ln/>
        </p:spPr>
        <p:txBody>
          <a:bodyPr wrap="square" lIns="0" tIns="0" rIns="0" bIns="0" rtlCol="0" anchor="ctr"/>
          <a:lstStyle/>
          <a:p>
            <a:pPr indent="0" marL="0">
              <a:buNone/>
            </a:pPr>
            <a:r>
              <a:rPr lang="en-US" sz="2200" b="1" dirty="0">
                <a:solidFill>
                  <a:schemeClr val="accent3"/>
                </a:solidFill>
                <a:latin typeface="Cambria" pitchFamily="34" charset="0"/>
                <a:ea typeface="Cambria" pitchFamily="34" charset="-122"/>
                <a:cs typeface="Cambria" pitchFamily="34" charset="-120"/>
              </a:rPr>
              <a:t>→ 4.1M clean reviews</a:t>
            </a:r>
            <a:endParaRPr lang="en-US" sz="2200" dirty="0"/>
          </a:p>
        </p:txBody>
      </p:sp>
      <p:sp>
        <p:nvSpPr>
          <p:cNvPr id="9" name="Text 7"/>
          <p:cNvSpPr txBox="1"/>
          <p:nvPr/>
        </p:nvSpPr>
        <p:spPr>
          <a:xfrm>
            <a:off x="868680" y="4343400"/>
            <a:ext cx="4754880" cy="914400"/>
          </a:xfrm>
          <a:prstGeom prst="rect">
            <a:avLst/>
          </a:prstGeom>
          <a:noFill/>
          <a:ln/>
        </p:spPr>
        <p:txBody>
          <a:bodyPr wrap="square" lIns="0" tIns="0" rIns="0" bIns="0" rtlCol="0" anchor="t"/>
          <a:lstStyle/>
          <a:p>
            <a:pPr indent="0" marL="0">
              <a:buNone/>
            </a:pPr>
            <a:r>
              <a:rPr lang="en-US" sz="1500" dirty="0">
                <a:solidFill>
                  <a:schemeClr val="tx1"/>
                </a:solidFill>
              </a:rPr>
              <a:t>Same domain as the IMDb benchmark. The main extra training data.</a:t>
            </a:r>
            <a:endParaRPr lang="en-US" sz="1500" dirty="0"/>
          </a:p>
        </p:txBody>
      </p:sp>
      <p:sp>
        <p:nvSpPr>
          <p:cNvPr id="10" name="Amazon Reviews 2023, Movies &amp; TV (Hugging Face)"/>
          <p:cNvSpPr/>
          <p:nvPr/>
        </p:nvSpPr>
        <p:spPr>
          <a:xfrm>
            <a:off x="6245352" y="1783080"/>
            <a:ext cx="5394960" cy="3657600"/>
          </a:xfrm>
          <a:prstGeom prst="roundRect">
            <a:avLst>
              <a:gd name="adj" fmla="val 2000"/>
            </a:avLst>
          </a:prstGeom>
          <a:solidFill>
            <a:schemeClr val="accent4"/>
          </a:solidFill>
          <a:ln/>
          <a:effectLst>
            <a:outerShdw sx="100000" sy="100000" kx="0" ky="0" algn="bl" rotWithShape="0" blurRad="76200" dist="25400" dir="5400000">
              <a:srgbClr val="9C8189">
                <a:alpha val="16000"/>
              </a:srgbClr>
            </a:outerShdw>
          </a:effectLst>
        </p:spPr>
      </p:sp>
      <p:sp>
        <p:nvSpPr>
          <p:cNvPr id="11" name="Text 9"/>
          <p:cNvSpPr txBox="1"/>
          <p:nvPr/>
        </p:nvSpPr>
        <p:spPr>
          <a:xfrm>
            <a:off x="6565392" y="2011680"/>
            <a:ext cx="4754880" cy="914400"/>
          </a:xfrm>
          <a:prstGeom prst="rect">
            <a:avLst/>
          </a:prstGeom>
          <a:noFill/>
          <a:ln/>
        </p:spPr>
        <p:txBody>
          <a:bodyPr wrap="square" lIns="0" tIns="0" rIns="0" bIns="0" rtlCol="0" anchor="ctr"/>
          <a:lstStyle/>
          <a:p>
            <a:pPr indent="0" marL="0">
              <a:buNone/>
            </a:pPr>
            <a:r>
              <a:rPr lang="en-US" sz="5200" b="1" dirty="0">
                <a:solidFill>
                  <a:schemeClr val="accent2"/>
                </a:solidFill>
                <a:latin typeface="Cambria" pitchFamily="34" charset="0"/>
                <a:ea typeface="Cambria" pitchFamily="34" charset="-122"/>
                <a:cs typeface="Cambria" pitchFamily="34" charset="-120"/>
              </a:rPr>
              <a:t>17.3M</a:t>
            </a:r>
            <a:endParaRPr lang="en-US" sz="5200" dirty="0"/>
          </a:p>
        </p:txBody>
      </p:sp>
      <p:sp>
        <p:nvSpPr>
          <p:cNvPr id="12" name="Text 10"/>
          <p:cNvSpPr txBox="1"/>
          <p:nvPr/>
        </p:nvSpPr>
        <p:spPr>
          <a:xfrm>
            <a:off x="6565392" y="2971800"/>
            <a:ext cx="4754880" cy="731520"/>
          </a:xfrm>
          <a:prstGeom prst="rect">
            <a:avLst/>
          </a:prstGeom>
          <a:noFill/>
          <a:ln/>
        </p:spPr>
        <p:txBody>
          <a:bodyPr wrap="square" lIns="0" tIns="0" rIns="0" bIns="0" rtlCol="0" anchor="t"/>
          <a:lstStyle/>
          <a:p>
            <a:pPr indent="0" marL="0">
              <a:buNone/>
            </a:pPr>
            <a:r>
              <a:rPr lang="en-US" sz="1700" b="1" dirty="0">
                <a:solidFill>
                  <a:schemeClr val="tx2"/>
                </a:solidFill>
              </a:rPr>
              <a:t>Amazon Reviews 2023, Movies &amp; TV (Hugging Face)</a:t>
            </a:r>
            <a:endParaRPr lang="en-US" sz="1700" dirty="0"/>
          </a:p>
        </p:txBody>
      </p:sp>
      <p:sp>
        <p:nvSpPr>
          <p:cNvPr id="13" name="Text 11"/>
          <p:cNvSpPr txBox="1"/>
          <p:nvPr/>
        </p:nvSpPr>
        <p:spPr>
          <a:xfrm>
            <a:off x="6565392" y="3794760"/>
            <a:ext cx="4754880" cy="457200"/>
          </a:xfrm>
          <a:prstGeom prst="rect">
            <a:avLst/>
          </a:prstGeom>
          <a:noFill/>
          <a:ln/>
        </p:spPr>
        <p:txBody>
          <a:bodyPr wrap="square" lIns="0" tIns="0" rIns="0" bIns="0" rtlCol="0" anchor="ctr"/>
          <a:lstStyle/>
          <a:p>
            <a:pPr indent="0" marL="0">
              <a:buNone/>
            </a:pPr>
            <a:r>
              <a:rPr lang="en-US" sz="2200" b="1" dirty="0">
                <a:solidFill>
                  <a:schemeClr val="accent3"/>
                </a:solidFill>
                <a:latin typeface="Cambria" pitchFamily="34" charset="0"/>
                <a:ea typeface="Cambria" pitchFamily="34" charset="-122"/>
                <a:cs typeface="Cambria" pitchFamily="34" charset="-120"/>
              </a:rPr>
              <a:t>→ 12.0M clean reviews</a:t>
            </a:r>
            <a:endParaRPr lang="en-US" sz="2200" dirty="0"/>
          </a:p>
        </p:txBody>
      </p:sp>
      <p:sp>
        <p:nvSpPr>
          <p:cNvPr id="14" name="Text 12"/>
          <p:cNvSpPr txBox="1"/>
          <p:nvPr/>
        </p:nvSpPr>
        <p:spPr>
          <a:xfrm>
            <a:off x="6565392" y="4343400"/>
            <a:ext cx="4754880" cy="914400"/>
          </a:xfrm>
          <a:prstGeom prst="rect">
            <a:avLst/>
          </a:prstGeom>
          <a:noFill/>
          <a:ln/>
        </p:spPr>
        <p:txBody>
          <a:bodyPr wrap="square" lIns="0" tIns="0" rIns="0" bIns="0" rtlCol="0" anchor="t"/>
          <a:lstStyle/>
          <a:p>
            <a:pPr indent="0" marL="0">
              <a:buNone/>
            </a:pPr>
            <a:r>
              <a:rPr lang="en-US" sz="1500" dirty="0">
                <a:solidFill>
                  <a:schemeClr val="tx1"/>
                </a:solidFill>
              </a:rPr>
              <a:t>Short and mostly positive. Tested as extra data, but it did not help IMDb accuracy, so it was left out.</a:t>
            </a:r>
            <a:endParaRPr lang="en-US" sz="15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LEAKAGE AUDIT</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91% of the test set was hiding in the download</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050" i="1" dirty="0">
                <a:solidFill>
                  <a:schemeClr val="accent6"/>
                </a:solidFill>
              </a:rPr>
              <a:t>Round 1: exact and 200-character prefix/suffix matches. Round 2: test-set movies (163,409), test-review authors (635,853), near-duplicates (443).</a:t>
            </a:r>
            <a:endParaRPr lang="en-US" sz="1050" dirty="0"/>
          </a:p>
        </p:txBody>
      </p:sp>
      <p:graphicFrame>
        <p:nvGraphicFramePr>
          <p:cNvPr id="5" name="Chart 0" descr=""/>
          <p:cNvGraphicFramePr/>
          <p:nvPr/>
        </p:nvGraphicFramePr>
        <p:xfrm>
          <a:off x="457200" y="1691640"/>
          <a:ext cx="7223760" cy="4434840"/>
        </p:xfrm>
        <a:graphic xmlns:a="http://schemas.openxmlformats.org/drawingml/2006/main">
          <a:graphicData uri="http://schemas.openxmlformats.org/drawingml/2006/chart">
            <c:chart xmlns:c="http://schemas.openxmlformats.org/drawingml/2006/chart" r:id="rId1"/>
          </a:graphicData>
        </a:graphic>
      </p:graphicFrame>
      <p:sp>
        <p:nvSpPr>
          <p:cNvPr id="6" name="leak callout"/>
          <p:cNvSpPr/>
          <p:nvPr/>
        </p:nvSpPr>
        <p:spPr>
          <a:xfrm>
            <a:off x="8001000" y="1783080"/>
            <a:ext cx="3639312" cy="4206240"/>
          </a:xfrm>
          <a:prstGeom prst="roundRect">
            <a:avLst>
              <a:gd name="adj" fmla="val 2010"/>
            </a:avLst>
          </a:prstGeom>
          <a:solidFill>
            <a:schemeClr val="accent5"/>
          </a:solidFill>
          <a:ln/>
          <a:effectLst>
            <a:outerShdw sx="100000" sy="100000" kx="0" ky="0" algn="bl" rotWithShape="0" blurRad="76200" dist="25400" dir="5400000">
              <a:srgbClr val="9C8189">
                <a:alpha val="16000"/>
              </a:srgbClr>
            </a:outerShdw>
          </a:effectLst>
        </p:spPr>
      </p:sp>
      <p:sp>
        <p:nvSpPr>
          <p:cNvPr id="7" name="Text 4"/>
          <p:cNvSpPr txBox="1"/>
          <p:nvPr/>
        </p:nvSpPr>
        <p:spPr>
          <a:xfrm>
            <a:off x="8275320" y="2011680"/>
            <a:ext cx="3108960" cy="868680"/>
          </a:xfrm>
          <a:prstGeom prst="rect">
            <a:avLst/>
          </a:prstGeom>
          <a:noFill/>
          <a:ln/>
        </p:spPr>
        <p:txBody>
          <a:bodyPr wrap="square" lIns="0" tIns="0" rIns="0" bIns="0" rtlCol="0" anchor="ctr"/>
          <a:lstStyle/>
          <a:p>
            <a:pPr indent="0" marL="0">
              <a:buNone/>
            </a:pPr>
            <a:r>
              <a:rPr lang="en-US" sz="4600" b="1" dirty="0">
                <a:solidFill>
                  <a:schemeClr val="accent2"/>
                </a:solidFill>
                <a:latin typeface="Cambria" pitchFamily="34" charset="0"/>
                <a:ea typeface="Cambria" pitchFamily="34" charset="-122"/>
                <a:cs typeface="Cambria" pitchFamily="34" charset="-120"/>
              </a:rPr>
              <a:t>23,636</a:t>
            </a:r>
            <a:endParaRPr lang="en-US" sz="4600" dirty="0"/>
          </a:p>
        </p:txBody>
      </p:sp>
      <p:sp>
        <p:nvSpPr>
          <p:cNvPr id="8" name="Text 5"/>
          <p:cNvSpPr txBox="1"/>
          <p:nvPr/>
        </p:nvSpPr>
        <p:spPr>
          <a:xfrm>
            <a:off x="8275320" y="2880360"/>
            <a:ext cx="3108960" cy="1005840"/>
          </a:xfrm>
          <a:prstGeom prst="rect">
            <a:avLst/>
          </a:prstGeom>
          <a:noFill/>
          <a:ln/>
        </p:spPr>
        <p:txBody>
          <a:bodyPr wrap="square" lIns="0" tIns="0" rIns="0" bIns="0" rtlCol="0" anchor="t"/>
          <a:lstStyle/>
          <a:p>
            <a:pPr indent="0" marL="0">
              <a:buNone/>
            </a:pPr>
            <a:r>
              <a:rPr lang="en-US" sz="1600" b="1" dirty="0">
                <a:solidFill>
                  <a:schemeClr val="tx2"/>
                </a:solidFill>
              </a:rPr>
              <a:t>copies of official test reviews were in the public scrape, and were removed</a:t>
            </a:r>
            <a:endParaRPr lang="en-US" sz="1600" dirty="0"/>
          </a:p>
        </p:txBody>
      </p:sp>
      <p:sp>
        <p:nvSpPr>
          <p:cNvPr id="9" name="Text 6"/>
          <p:cNvSpPr txBox="1"/>
          <p:nvPr/>
        </p:nvSpPr>
        <p:spPr>
          <a:xfrm>
            <a:off x="8275320" y="3977640"/>
            <a:ext cx="3108960" cy="1828800"/>
          </a:xfrm>
          <a:prstGeom prst="rect">
            <a:avLst/>
          </a:prstGeom>
          <a:noFill/>
          <a:ln/>
        </p:spPr>
        <p:txBody>
          <a:bodyPr wrap="square" lIns="0" tIns="0" rIns="0" bIns="0" rtlCol="0" anchor="t"/>
          <a:lstStyle/>
          <a:p>
            <a:pPr indent="0" marL="0">
              <a:buNone/>
            </a:pPr>
            <a:r>
              <a:rPr lang="en-US" sz="1400" dirty="0">
                <a:solidFill>
                  <a:schemeClr val="tx1"/>
                </a:solidFill>
              </a:rPr>
              <a:t>Training on them would have produced a fake, too-good score. Every later result uses data sharing no reviews, movies or authors with the test set.</a:t>
            </a:r>
            <a:endParaRPr lang="en-US" sz="14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METHODOLOGY</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How we kept the evaluation honest</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050" i="1" dirty="0">
                <a:solidFill>
                  <a:schemeClr val="accent6"/>
                </a:solidFill>
              </a:rPr>
              <a:t>An adversarial reviewer agent audited the pipeline; it found misquoted records, a test-picked number and missed leaks, all fixed before the final run.</a:t>
            </a:r>
            <a:endParaRPr lang="en-US" sz="1050" dirty="0"/>
          </a:p>
        </p:txBody>
      </p:sp>
      <p:sp>
        <p:nvSpPr>
          <p:cNvPr id="5" name="Shape 3"/>
          <p:cNvSpPr/>
          <p:nvPr/>
        </p:nvSpPr>
        <p:spPr>
          <a:xfrm>
            <a:off x="1657807" y="2395728"/>
            <a:ext cx="8873338" cy="0"/>
          </a:xfrm>
          <a:prstGeom prst="line">
            <a:avLst/>
          </a:prstGeom>
          <a:noFill/>
          <a:ln w="25400">
            <a:solidFill>
              <a:srgbClr val="E2D6D9"/>
            </a:solidFill>
            <a:prstDash val="solid"/>
          </a:ln>
        </p:spPr>
      </p:sp>
      <p:sp>
        <p:nvSpPr>
          <p:cNvPr id="6" name="Shape 4"/>
          <p:cNvSpPr/>
          <p:nvPr/>
        </p:nvSpPr>
        <p:spPr>
          <a:xfrm>
            <a:off x="1328623" y="2066544"/>
            <a:ext cx="658368" cy="658368"/>
          </a:xfrm>
          <a:prstGeom prst="ellipse">
            <a:avLst/>
          </a:prstGeom>
          <a:solidFill>
            <a:schemeClr val="accent1"/>
          </a:solidFill>
          <a:ln/>
        </p:spPr>
      </p:sp>
      <p:sp>
        <p:nvSpPr>
          <p:cNvPr id="7" name="Text 5"/>
          <p:cNvSpPr txBox="1"/>
          <p:nvPr/>
        </p:nvSpPr>
        <p:spPr>
          <a:xfrm>
            <a:off x="1328623" y="2066544"/>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1</a:t>
            </a:r>
            <a:endParaRPr lang="en-US" sz="2000" dirty="0"/>
          </a:p>
        </p:txBody>
      </p:sp>
      <p:sp>
        <p:nvSpPr>
          <p:cNvPr id="8" name="step 1"/>
          <p:cNvSpPr/>
          <p:nvPr/>
        </p:nvSpPr>
        <p:spPr>
          <a:xfrm>
            <a:off x="621792" y="3017520"/>
            <a:ext cx="2072030" cy="2331720"/>
          </a:xfrm>
          <a:prstGeom prst="roundRect">
            <a:avLst>
              <a:gd name="adj" fmla="val 3530"/>
            </a:avLst>
          </a:prstGeom>
          <a:solidFill>
            <a:schemeClr val="bg2"/>
          </a:solidFill>
          <a:ln/>
          <a:effectLst>
            <a:outerShdw sx="100000" sy="100000" kx="0" ky="0" algn="bl" rotWithShape="0" blurRad="76200" dist="25400" dir="5400000">
              <a:srgbClr val="9C8189">
                <a:alpha val="16000"/>
              </a:srgbClr>
            </a:outerShdw>
          </a:effectLst>
        </p:spPr>
      </p:sp>
      <p:sp>
        <p:nvSpPr>
          <p:cNvPr id="9" name="Text 7"/>
          <p:cNvSpPr txBox="1"/>
          <p:nvPr/>
        </p:nvSpPr>
        <p:spPr>
          <a:xfrm>
            <a:off x="804672" y="3200400"/>
            <a:ext cx="1706270" cy="68580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Lock the test set</a:t>
            </a:r>
            <a:endParaRPr lang="en-US" sz="1700" dirty="0"/>
          </a:p>
        </p:txBody>
      </p:sp>
      <p:sp>
        <p:nvSpPr>
          <p:cNvPr id="10" name="Text 8"/>
          <p:cNvSpPr txBox="1"/>
          <p:nvPr/>
        </p:nvSpPr>
        <p:spPr>
          <a:xfrm>
            <a:off x="804672" y="3931920"/>
            <a:ext cx="1706270" cy="1280160"/>
          </a:xfrm>
          <a:prstGeom prst="rect">
            <a:avLst/>
          </a:prstGeom>
          <a:noFill/>
          <a:ln/>
        </p:spPr>
        <p:txBody>
          <a:bodyPr wrap="square" lIns="0" tIns="0" rIns="0" bIns="0" rtlCol="0" anchor="t"/>
          <a:lstStyle/>
          <a:p>
            <a:pPr indent="0" marL="0">
              <a:buNone/>
            </a:pPr>
            <a:r>
              <a:rPr lang="en-US" sz="1400" dirty="0">
                <a:solidFill>
                  <a:schemeClr val="tx1"/>
                </a:solidFill>
              </a:rPr>
              <a:t>The official 25,000 test reviews are never used for training or for any choice</a:t>
            </a:r>
            <a:endParaRPr lang="en-US" sz="1400" dirty="0"/>
          </a:p>
        </p:txBody>
      </p:sp>
      <p:sp>
        <p:nvSpPr>
          <p:cNvPr id="11" name="Shape 9"/>
          <p:cNvSpPr/>
          <p:nvPr/>
        </p:nvSpPr>
        <p:spPr>
          <a:xfrm>
            <a:off x="3546958" y="2066544"/>
            <a:ext cx="658368" cy="658368"/>
          </a:xfrm>
          <a:prstGeom prst="ellipse">
            <a:avLst/>
          </a:prstGeom>
          <a:solidFill>
            <a:schemeClr val="accent1"/>
          </a:solidFill>
          <a:ln/>
        </p:spPr>
      </p:sp>
      <p:sp>
        <p:nvSpPr>
          <p:cNvPr id="12" name="Text 10"/>
          <p:cNvSpPr txBox="1"/>
          <p:nvPr/>
        </p:nvSpPr>
        <p:spPr>
          <a:xfrm>
            <a:off x="3546958" y="2066544"/>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2</a:t>
            </a:r>
            <a:endParaRPr lang="en-US" sz="2000" dirty="0"/>
          </a:p>
        </p:txBody>
      </p:sp>
      <p:sp>
        <p:nvSpPr>
          <p:cNvPr id="13" name="step 2"/>
          <p:cNvSpPr/>
          <p:nvPr/>
        </p:nvSpPr>
        <p:spPr>
          <a:xfrm>
            <a:off x="2840126" y="3017520"/>
            <a:ext cx="2072030" cy="2331720"/>
          </a:xfrm>
          <a:prstGeom prst="roundRect">
            <a:avLst>
              <a:gd name="adj" fmla="val 3530"/>
            </a:avLst>
          </a:prstGeom>
          <a:solidFill>
            <a:schemeClr val="accent4"/>
          </a:solidFill>
          <a:ln/>
          <a:effectLst>
            <a:outerShdw sx="100000" sy="100000" kx="0" ky="0" algn="bl" rotWithShape="0" blurRad="76200" dist="25400" dir="5400000">
              <a:srgbClr val="9C8189">
                <a:alpha val="16000"/>
              </a:srgbClr>
            </a:outerShdw>
          </a:effectLst>
        </p:spPr>
      </p:sp>
      <p:sp>
        <p:nvSpPr>
          <p:cNvPr id="14" name="Text 12"/>
          <p:cNvSpPr txBox="1"/>
          <p:nvPr/>
        </p:nvSpPr>
        <p:spPr>
          <a:xfrm>
            <a:off x="3023006" y="3200400"/>
            <a:ext cx="1706270" cy="68580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Clean the extra data</a:t>
            </a:r>
            <a:endParaRPr lang="en-US" sz="1700" dirty="0"/>
          </a:p>
        </p:txBody>
      </p:sp>
      <p:sp>
        <p:nvSpPr>
          <p:cNvPr id="15" name="Text 13"/>
          <p:cNvSpPr txBox="1"/>
          <p:nvPr/>
        </p:nvSpPr>
        <p:spPr>
          <a:xfrm>
            <a:off x="3023006" y="3931920"/>
            <a:ext cx="1706270" cy="1280160"/>
          </a:xfrm>
          <a:prstGeom prst="rect">
            <a:avLst/>
          </a:prstGeom>
          <a:noFill/>
          <a:ln/>
        </p:spPr>
        <p:txBody>
          <a:bodyPr wrap="square" lIns="0" tIns="0" rIns="0" bIns="0" rtlCol="0" anchor="t"/>
          <a:lstStyle/>
          <a:p>
            <a:pPr indent="0" marL="0">
              <a:buNone/>
            </a:pPr>
            <a:r>
              <a:rPr lang="en-US" sz="1400" dirty="0">
                <a:solidFill>
                  <a:schemeClr val="tx1"/>
                </a:solidFill>
              </a:rPr>
              <a:t>Exact and near copies removed; no shared movies or authors with test</a:t>
            </a:r>
            <a:endParaRPr lang="en-US" sz="1400" dirty="0"/>
          </a:p>
        </p:txBody>
      </p:sp>
      <p:sp>
        <p:nvSpPr>
          <p:cNvPr id="16" name="Shape 14"/>
          <p:cNvSpPr/>
          <p:nvPr/>
        </p:nvSpPr>
        <p:spPr>
          <a:xfrm>
            <a:off x="5765292" y="2066544"/>
            <a:ext cx="658368" cy="658368"/>
          </a:xfrm>
          <a:prstGeom prst="ellipse">
            <a:avLst/>
          </a:prstGeom>
          <a:solidFill>
            <a:schemeClr val="accent1"/>
          </a:solidFill>
          <a:ln/>
        </p:spPr>
      </p:sp>
      <p:sp>
        <p:nvSpPr>
          <p:cNvPr id="17" name="Text 15"/>
          <p:cNvSpPr txBox="1"/>
          <p:nvPr/>
        </p:nvSpPr>
        <p:spPr>
          <a:xfrm>
            <a:off x="5765292" y="2066544"/>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3</a:t>
            </a:r>
            <a:endParaRPr lang="en-US" sz="2000" dirty="0"/>
          </a:p>
        </p:txBody>
      </p:sp>
      <p:sp>
        <p:nvSpPr>
          <p:cNvPr id="18" name="step 3"/>
          <p:cNvSpPr/>
          <p:nvPr/>
        </p:nvSpPr>
        <p:spPr>
          <a:xfrm>
            <a:off x="5058461" y="3017520"/>
            <a:ext cx="2072030" cy="2331720"/>
          </a:xfrm>
          <a:prstGeom prst="roundRect">
            <a:avLst>
              <a:gd name="adj" fmla="val 3530"/>
            </a:avLst>
          </a:prstGeom>
          <a:solidFill>
            <a:schemeClr val="bg2"/>
          </a:solidFill>
          <a:ln/>
          <a:effectLst>
            <a:outerShdw sx="100000" sy="100000" kx="0" ky="0" algn="bl" rotWithShape="0" blurRad="76200" dist="25400" dir="5400000">
              <a:srgbClr val="9C8189">
                <a:alpha val="16000"/>
              </a:srgbClr>
            </a:outerShdw>
          </a:effectLst>
        </p:spPr>
      </p:sp>
      <p:sp>
        <p:nvSpPr>
          <p:cNvPr id="19" name="Text 17"/>
          <p:cNvSpPr txBox="1"/>
          <p:nvPr/>
        </p:nvSpPr>
        <p:spPr>
          <a:xfrm>
            <a:off x="5241341" y="3200400"/>
            <a:ext cx="1706270" cy="68580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Choose on val_pool</a:t>
            </a:r>
            <a:endParaRPr lang="en-US" sz="1700" dirty="0"/>
          </a:p>
        </p:txBody>
      </p:sp>
      <p:sp>
        <p:nvSpPr>
          <p:cNvPr id="20" name="Text 18"/>
          <p:cNvSpPr txBox="1"/>
          <p:nvPr/>
        </p:nvSpPr>
        <p:spPr>
          <a:xfrm>
            <a:off x="5241341" y="3931920"/>
            <a:ext cx="1706270" cy="1280160"/>
          </a:xfrm>
          <a:prstGeom prst="rect">
            <a:avLst/>
          </a:prstGeom>
          <a:noFill/>
          <a:ln/>
        </p:spPr>
        <p:txBody>
          <a:bodyPr wrap="square" lIns="0" tIns="0" rIns="0" bIns="0" rtlCol="0" anchor="t"/>
          <a:lstStyle/>
          <a:p>
            <a:pPr indent="0" marL="0">
              <a:buNone/>
            </a:pPr>
            <a:r>
              <a:rPr lang="en-US" sz="1400" dirty="0">
                <a:solidFill>
                  <a:schemeClr val="tx1"/>
                </a:solidFill>
              </a:rPr>
              <a:t>50,000 reviews from held-out movies, length-matched to test</a:t>
            </a:r>
            <a:endParaRPr lang="en-US" sz="1400" dirty="0"/>
          </a:p>
        </p:txBody>
      </p:sp>
      <p:sp>
        <p:nvSpPr>
          <p:cNvPr id="21" name="Shape 19"/>
          <p:cNvSpPr/>
          <p:nvPr/>
        </p:nvSpPr>
        <p:spPr>
          <a:xfrm>
            <a:off x="7983626" y="2066544"/>
            <a:ext cx="658368" cy="658368"/>
          </a:xfrm>
          <a:prstGeom prst="ellipse">
            <a:avLst/>
          </a:prstGeom>
          <a:solidFill>
            <a:schemeClr val="accent2"/>
          </a:solidFill>
          <a:ln/>
        </p:spPr>
      </p:sp>
      <p:sp>
        <p:nvSpPr>
          <p:cNvPr id="22" name="Text 20"/>
          <p:cNvSpPr txBox="1"/>
          <p:nvPr/>
        </p:nvSpPr>
        <p:spPr>
          <a:xfrm>
            <a:off x="7983626" y="2066544"/>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4</a:t>
            </a:r>
            <a:endParaRPr lang="en-US" sz="2000" dirty="0"/>
          </a:p>
        </p:txBody>
      </p:sp>
      <p:sp>
        <p:nvSpPr>
          <p:cNvPr id="23" name="step 4"/>
          <p:cNvSpPr/>
          <p:nvPr/>
        </p:nvSpPr>
        <p:spPr>
          <a:xfrm>
            <a:off x="7276795" y="3017520"/>
            <a:ext cx="2072030" cy="2331720"/>
          </a:xfrm>
          <a:prstGeom prst="roundRect">
            <a:avLst>
              <a:gd name="adj" fmla="val 3530"/>
            </a:avLst>
          </a:prstGeom>
          <a:solidFill>
            <a:schemeClr val="accent4"/>
          </a:solidFill>
          <a:ln/>
          <a:effectLst>
            <a:outerShdw sx="100000" sy="100000" kx="0" ky="0" algn="bl" rotWithShape="0" blurRad="76200" dist="25400" dir="5400000">
              <a:srgbClr val="9C8189">
                <a:alpha val="16000"/>
              </a:srgbClr>
            </a:outerShdw>
          </a:effectLst>
        </p:spPr>
      </p:sp>
      <p:sp>
        <p:nvSpPr>
          <p:cNvPr id="24" name="Text 22"/>
          <p:cNvSpPr txBox="1"/>
          <p:nvPr/>
        </p:nvSpPr>
        <p:spPr>
          <a:xfrm>
            <a:off x="7459675" y="3200400"/>
            <a:ext cx="1706270" cy="68580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Score test once</a:t>
            </a:r>
            <a:endParaRPr lang="en-US" sz="1700" dirty="0"/>
          </a:p>
        </p:txBody>
      </p:sp>
      <p:sp>
        <p:nvSpPr>
          <p:cNvPr id="25" name="Text 23"/>
          <p:cNvSpPr txBox="1"/>
          <p:nvPr/>
        </p:nvSpPr>
        <p:spPr>
          <a:xfrm>
            <a:off x="7459675" y="3931920"/>
            <a:ext cx="1706270" cy="1280160"/>
          </a:xfrm>
          <a:prstGeom prst="rect">
            <a:avLst/>
          </a:prstGeom>
          <a:noFill/>
          <a:ln/>
        </p:spPr>
        <p:txBody>
          <a:bodyPr wrap="square" lIns="0" tIns="0" rIns="0" bIns="0" rtlCol="0" anchor="t"/>
          <a:lstStyle/>
          <a:p>
            <a:pPr indent="0" marL="0">
              <a:buNone/>
            </a:pPr>
            <a:r>
              <a:rPr lang="en-US" sz="1400" dirty="0">
                <a:solidFill>
                  <a:schemeClr val="tx1"/>
                </a:solidFill>
              </a:rPr>
              <a:t>The final ensemble is evaluated a single time</a:t>
            </a:r>
            <a:endParaRPr lang="en-US" sz="1400" dirty="0"/>
          </a:p>
        </p:txBody>
      </p:sp>
      <p:sp>
        <p:nvSpPr>
          <p:cNvPr id="26" name="Shape 24"/>
          <p:cNvSpPr/>
          <p:nvPr/>
        </p:nvSpPr>
        <p:spPr>
          <a:xfrm>
            <a:off x="10201961" y="2066544"/>
            <a:ext cx="658368" cy="658368"/>
          </a:xfrm>
          <a:prstGeom prst="ellipse">
            <a:avLst/>
          </a:prstGeom>
          <a:solidFill>
            <a:schemeClr val="accent1"/>
          </a:solidFill>
          <a:ln/>
        </p:spPr>
      </p:sp>
      <p:sp>
        <p:nvSpPr>
          <p:cNvPr id="27" name="Text 25"/>
          <p:cNvSpPr txBox="1"/>
          <p:nvPr/>
        </p:nvSpPr>
        <p:spPr>
          <a:xfrm>
            <a:off x="10201961" y="2066544"/>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5</a:t>
            </a:r>
            <a:endParaRPr lang="en-US" sz="2000" dirty="0"/>
          </a:p>
        </p:txBody>
      </p:sp>
      <p:sp>
        <p:nvSpPr>
          <p:cNvPr id="28" name="step 5"/>
          <p:cNvSpPr/>
          <p:nvPr/>
        </p:nvSpPr>
        <p:spPr>
          <a:xfrm>
            <a:off x="9495130" y="3017520"/>
            <a:ext cx="2072030" cy="2331720"/>
          </a:xfrm>
          <a:prstGeom prst="roundRect">
            <a:avLst>
              <a:gd name="adj" fmla="val 3530"/>
            </a:avLst>
          </a:prstGeom>
          <a:solidFill>
            <a:schemeClr val="bg2"/>
          </a:solidFill>
          <a:ln/>
          <a:effectLst>
            <a:outerShdw sx="100000" sy="100000" kx="0" ky="0" algn="bl" rotWithShape="0" blurRad="76200" dist="25400" dir="5400000">
              <a:srgbClr val="9C8189">
                <a:alpha val="16000"/>
              </a:srgbClr>
            </a:outerShdw>
          </a:effectLst>
        </p:spPr>
      </p:sp>
      <p:sp>
        <p:nvSpPr>
          <p:cNvPr id="29" name="Text 27"/>
          <p:cNvSpPr txBox="1"/>
          <p:nvPr/>
        </p:nvSpPr>
        <p:spPr>
          <a:xfrm>
            <a:off x="9678010" y="3200400"/>
            <a:ext cx="1706270" cy="68580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Report uncertainty</a:t>
            </a:r>
            <a:endParaRPr lang="en-US" sz="1700" dirty="0"/>
          </a:p>
        </p:txBody>
      </p:sp>
      <p:sp>
        <p:nvSpPr>
          <p:cNvPr id="30" name="Text 28"/>
          <p:cNvSpPr txBox="1"/>
          <p:nvPr/>
        </p:nvSpPr>
        <p:spPr>
          <a:xfrm>
            <a:off x="9678010" y="3931920"/>
            <a:ext cx="1706270" cy="1280160"/>
          </a:xfrm>
          <a:prstGeom prst="rect">
            <a:avLst/>
          </a:prstGeom>
          <a:noFill/>
          <a:ln/>
        </p:spPr>
        <p:txBody>
          <a:bodyPr wrap="square" lIns="0" tIns="0" rIns="0" bIns="0" rtlCol="0" anchor="t"/>
          <a:lstStyle/>
          <a:p>
            <a:pPr indent="0" marL="0">
              <a:buNone/>
            </a:pPr>
            <a:r>
              <a:rPr lang="en-US" sz="1400" dirty="0">
                <a:solidFill>
                  <a:schemeClr val="tx1"/>
                </a:solidFill>
              </a:rPr>
              <a:t>95% confidence interval, McNemar tests, de-duplicated test score</a:t>
            </a:r>
            <a:endParaRPr lang="en-US" sz="14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ON-DEVICE MODEL</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For the tiny model, more data beats more size</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050" i="1" dirty="0">
                <a:solidFill>
                  <a:schemeClr val="accent6"/>
                </a:solidFill>
              </a:rPr>
              <a:t>Hashed word pairs, Naive Bayes weighting folded into the weights, int8 storage: no vocabulary on the device. Accuracy on the 5k validation split (first-round data).</a:t>
            </a:r>
            <a:endParaRPr lang="en-US" sz="1050" dirty="0"/>
          </a:p>
        </p:txBody>
      </p:sp>
      <p:graphicFrame>
        <p:nvGraphicFramePr>
          <p:cNvPr id="5" name="Chart 0" descr=""/>
          <p:cNvGraphicFramePr/>
          <p:nvPr/>
        </p:nvGraphicFramePr>
        <p:xfrm>
          <a:off x="457200" y="1691640"/>
          <a:ext cx="6766560" cy="4526280"/>
        </p:xfrm>
        <a:graphic xmlns:a="http://schemas.openxmlformats.org/drawingml/2006/main">
          <a:graphicData uri="http://schemas.openxmlformats.org/drawingml/2006/chart">
            <c:chart xmlns:c="http://schemas.openxmlformats.org/drawingml/2006/chart" r:id="rId1"/>
          </a:graphicData>
        </a:graphic>
      </p:graphicFrame>
      <p:sp>
        <p:nvSpPr>
          <p:cNvPr id="6" name="size table"/>
          <p:cNvSpPr/>
          <p:nvPr/>
        </p:nvSpPr>
        <p:spPr>
          <a:xfrm>
            <a:off x="7589520" y="1783080"/>
            <a:ext cx="4050792" cy="4206240"/>
          </a:xfrm>
          <a:prstGeom prst="roundRect">
            <a:avLst>
              <a:gd name="adj" fmla="val 1806"/>
            </a:avLst>
          </a:prstGeom>
          <a:solidFill>
            <a:schemeClr val="bg2"/>
          </a:solidFill>
          <a:ln/>
          <a:effectLst>
            <a:outerShdw sx="100000" sy="100000" kx="0" ky="0" algn="bl" rotWithShape="0" blurRad="76200" dist="25400" dir="5400000">
              <a:srgbClr val="9C8189">
                <a:alpha val="16000"/>
              </a:srgbClr>
            </a:outerShdw>
          </a:effectLst>
        </p:spPr>
      </p:sp>
      <p:sp>
        <p:nvSpPr>
          <p:cNvPr id="7" name="Text 4"/>
          <p:cNvSpPr txBox="1"/>
          <p:nvPr/>
        </p:nvSpPr>
        <p:spPr>
          <a:xfrm>
            <a:off x="7863840" y="1965960"/>
            <a:ext cx="3566160" cy="365760"/>
          </a:xfrm>
          <a:prstGeom prst="rect">
            <a:avLst/>
          </a:prstGeom>
          <a:noFill/>
          <a:ln/>
        </p:spPr>
        <p:txBody>
          <a:bodyPr wrap="square" lIns="0" tIns="0" rIns="0" bIns="0" rtlCol="0" anchor="ctr"/>
          <a:lstStyle/>
          <a:p>
            <a:pPr indent="0" marL="0">
              <a:buNone/>
            </a:pPr>
            <a:r>
              <a:rPr lang="en-US" sz="1500" b="1" dirty="0">
                <a:solidFill>
                  <a:schemeClr val="tx2"/>
                </a:solidFill>
              </a:rPr>
              <a:t>Size on the chip (20k reviews)</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863840" y="2423160"/>
          <a:ext cx="3474720" cy="914400"/>
        </p:xfrm>
        <a:graphic>
          <a:graphicData uri="http://schemas.openxmlformats.org/drawingml/2006/table">
            <a:tbl>
              <a:tblPr/>
              <a:tblGrid>
                <a:gridCol w="1737360"/>
                <a:gridCol w="1737360"/>
              </a:tblGrid>
              <a:tr h="384048">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16 KB</a:t>
                      </a:r>
                      <a:endParaRPr lang="en-US" sz="1500" dirty="0">
                        <a:latin typeface="Calibri" charset="0"/>
                        <a:ea typeface="Calibri" charset="0"/>
                        <a:cs typeface="Calibri" charset="0"/>
                      </a:endParaRPr>
                    </a:p>
                  </a:txBody>
                  <a:tcPr marL="0" marR="0" marT="0" marB="0">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86.6%</a:t>
                      </a:r>
                      <a:endParaRPr lang="en-US" sz="1500" dirty="0">
                        <a:latin typeface="Calibri" charset="0"/>
                        <a:ea typeface="Calibri" charset="0"/>
                        <a:cs typeface="Calibri" charset="0"/>
                      </a:endParaRPr>
                    </a:p>
                  </a:txBody>
                  <a:tcPr marL="0" marR="0" marT="0" marB="0">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64 KB</a:t>
                      </a:r>
                      <a:endParaRPr lang="en-US" sz="1500" dirty="0">
                        <a:latin typeface="Calibri" charset="0"/>
                        <a:ea typeface="Calibri" charset="0"/>
                        <a:cs typeface="Calibri" charset="0"/>
                      </a:endParaRPr>
                    </a:p>
                  </a:txBody>
                  <a:tcPr marL="0" marR="0" marT="0" marB="0">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89.3%</a:t>
                      </a:r>
                      <a:endParaRPr lang="en-US" sz="1500" dirty="0">
                        <a:latin typeface="Calibri" charset="0"/>
                        <a:ea typeface="Calibri" charset="0"/>
                        <a:cs typeface="Calibri" charset="0"/>
                      </a:endParaRPr>
                    </a:p>
                  </a:txBody>
                  <a:tcPr marL="0" marR="0" marT="0" marB="0">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256 KB</a:t>
                      </a:r>
                      <a:endParaRPr lang="en-US" sz="1500" dirty="0">
                        <a:latin typeface="Calibri" charset="0"/>
                        <a:ea typeface="Calibri" charset="0"/>
                        <a:cs typeface="Calibri" charset="0"/>
                      </a:endParaRPr>
                    </a:p>
                  </a:txBody>
                  <a:tcPr marL="0" marR="0" marT="0" marB="0">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90.3%</a:t>
                      </a:r>
                      <a:endParaRPr lang="en-US" sz="1500" dirty="0">
                        <a:latin typeface="Calibri" charset="0"/>
                        <a:ea typeface="Calibri" charset="0"/>
                        <a:cs typeface="Calibri" charset="0"/>
                      </a:endParaRPr>
                    </a:p>
                  </a:txBody>
                  <a:tcPr marL="0" marR="0" marT="0" marB="0">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1 MB</a:t>
                      </a:r>
                      <a:endParaRPr lang="en-US" sz="1500" dirty="0">
                        <a:latin typeface="Calibri" charset="0"/>
                        <a:ea typeface="Calibri" charset="0"/>
                        <a:cs typeface="Calibri" charset="0"/>
                      </a:endParaRPr>
                    </a:p>
                  </a:txBody>
                  <a:tcPr marL="0" marR="0" marT="0" marB="0">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90.6%</a:t>
                      </a:r>
                      <a:endParaRPr lang="en-US" sz="1500" dirty="0">
                        <a:latin typeface="Calibri" charset="0"/>
                        <a:ea typeface="Calibri" charset="0"/>
                        <a:cs typeface="Calibri" charset="0"/>
                      </a:endParaRPr>
                    </a:p>
                  </a:txBody>
                  <a:tcPr marL="0" marR="0" marT="0" marB="0">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9" name="Text 5"/>
          <p:cNvSpPr txBox="1"/>
          <p:nvPr/>
        </p:nvSpPr>
        <p:spPr>
          <a:xfrm>
            <a:off x="7863840" y="4206240"/>
            <a:ext cx="3520440" cy="1463040"/>
          </a:xfrm>
          <a:prstGeom prst="rect">
            <a:avLst/>
          </a:prstGeom>
          <a:noFill/>
          <a:ln/>
        </p:spPr>
        <p:txBody>
          <a:bodyPr wrap="square" lIns="0" tIns="0" rIns="0" bIns="0" rtlCol="0" anchor="t"/>
          <a:lstStyle/>
          <a:p>
            <a:pPr indent="0" marL="0">
              <a:buNone/>
            </a:pPr>
            <a:r>
              <a:rPr lang="en-US" sz="1500" b="1" dirty="0">
                <a:solidFill>
                  <a:schemeClr val="accent2"/>
                </a:solidFill>
              </a:rPr>
              <a:t>Cleaned data, final: </a:t>
            </a:r>
            <a:pPr indent="0" marL="0">
              <a:buNone/>
            </a:pPr>
            <a:r>
              <a:rPr lang="en-US" sz="1500" dirty="0">
                <a:solidFill>
                  <a:schemeClr val="tx1"/>
                </a:solidFill>
              </a:rPr>
              <a:t>256 KB → 92.32% test; 1 MB → 92.80% test.</a:t>
            </a:r>
            <a:endParaRPr lang="en-US" sz="15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CASCADE</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Transformer accuracy from a fraction of the reviews</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050" i="1" dirty="0">
                <a:solidFill>
                  <a:schemeClr val="accent6"/>
                </a:solidFill>
              </a:rPr>
              <a:t>First-round data: 256 KB chip model (92.69%) and DistilBERT hub (93.51%). Curves are on the test set with thresholds set by send rate (no labels used).</a:t>
            </a:r>
            <a:endParaRPr lang="en-US" sz="1050" dirty="0"/>
          </a:p>
        </p:txBody>
      </p:sp>
      <p:graphicFrame>
        <p:nvGraphicFramePr>
          <p:cNvPr id="5" name="Chart 0" descr=""/>
          <p:cNvGraphicFramePr/>
          <p:nvPr/>
        </p:nvGraphicFramePr>
        <p:xfrm>
          <a:off x="457200" y="1691640"/>
          <a:ext cx="7223760" cy="4526280"/>
        </p:xfrm>
        <a:graphic xmlns:a="http://schemas.openxmlformats.org/drawingml/2006/main">
          <a:graphicData uri="http://schemas.openxmlformats.org/drawingml/2006/chart">
            <c:chart xmlns:c="http://schemas.openxmlformats.org/drawingml/2006/chart" r:id="rId1"/>
          </a:graphicData>
        </a:graphic>
      </p:graphicFrame>
      <p:sp>
        <p:nvSpPr>
          <p:cNvPr id="6" name="94.05%"/>
          <p:cNvSpPr/>
          <p:nvPr/>
        </p:nvSpPr>
        <p:spPr>
          <a:xfrm>
            <a:off x="8001000" y="1783080"/>
            <a:ext cx="3639312" cy="1280160"/>
          </a:xfrm>
          <a:prstGeom prst="roundRect">
            <a:avLst>
              <a:gd name="adj" fmla="val 5714"/>
            </a:avLst>
          </a:prstGeom>
          <a:solidFill>
            <a:schemeClr val="bg2"/>
          </a:solidFill>
          <a:ln/>
          <a:effectLst>
            <a:outerShdw sx="100000" sy="100000" kx="0" ky="0" algn="bl" rotWithShape="0" blurRad="76200" dist="25400" dir="5400000">
              <a:srgbClr val="9C8189">
                <a:alpha val="16000"/>
              </a:srgbClr>
            </a:outerShdw>
          </a:effectLst>
        </p:spPr>
      </p:sp>
      <p:sp>
        <p:nvSpPr>
          <p:cNvPr id="7" name="Text 4"/>
          <p:cNvSpPr txBox="1"/>
          <p:nvPr/>
        </p:nvSpPr>
        <p:spPr>
          <a:xfrm>
            <a:off x="8229600" y="1920240"/>
            <a:ext cx="3200400" cy="54864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94.05%</a:t>
            </a:r>
            <a:endParaRPr lang="en-US" sz="2600" dirty="0"/>
          </a:p>
        </p:txBody>
      </p:sp>
      <p:sp>
        <p:nvSpPr>
          <p:cNvPr id="8" name="Text 5"/>
          <p:cNvSpPr txBox="1"/>
          <p:nvPr/>
        </p:nvSpPr>
        <p:spPr>
          <a:xfrm>
            <a:off x="8229600" y="2468880"/>
            <a:ext cx="3200400" cy="502920"/>
          </a:xfrm>
          <a:prstGeom prst="rect">
            <a:avLst/>
          </a:prstGeom>
          <a:noFill/>
          <a:ln/>
        </p:spPr>
        <p:txBody>
          <a:bodyPr wrap="square" lIns="0" tIns="0" rIns="0" bIns="0" rtlCol="0" anchor="t"/>
          <a:lstStyle/>
          <a:p>
            <a:pPr indent="0" marL="0">
              <a:buNone/>
            </a:pPr>
            <a:r>
              <a:rPr lang="en-US" sz="1400" dirty="0">
                <a:solidFill>
                  <a:schemeClr val="tx1"/>
                </a:solidFill>
              </a:rPr>
              <a:t>at 10.7% sent, threshold chosen on validation</a:t>
            </a:r>
            <a:endParaRPr lang="en-US" sz="1400" dirty="0"/>
          </a:p>
        </p:txBody>
      </p:sp>
      <p:sp>
        <p:nvSpPr>
          <p:cNvPr id="9" name="~5%"/>
          <p:cNvSpPr/>
          <p:nvPr/>
        </p:nvSpPr>
        <p:spPr>
          <a:xfrm>
            <a:off x="8001000" y="3218688"/>
            <a:ext cx="3639312" cy="1280160"/>
          </a:xfrm>
          <a:prstGeom prst="roundRect">
            <a:avLst>
              <a:gd name="adj" fmla="val 5714"/>
            </a:avLst>
          </a:prstGeom>
          <a:solidFill>
            <a:schemeClr val="accent4"/>
          </a:solidFill>
          <a:ln/>
          <a:effectLst>
            <a:outerShdw sx="100000" sy="100000" kx="0" ky="0" algn="bl" rotWithShape="0" blurRad="76200" dist="25400" dir="5400000">
              <a:srgbClr val="9C8189">
                <a:alpha val="16000"/>
              </a:srgbClr>
            </a:outerShdw>
          </a:effectLst>
        </p:spPr>
      </p:sp>
      <p:sp>
        <p:nvSpPr>
          <p:cNvPr id="10" name="Text 7"/>
          <p:cNvSpPr txBox="1"/>
          <p:nvPr/>
        </p:nvSpPr>
        <p:spPr>
          <a:xfrm>
            <a:off x="8229600" y="3355848"/>
            <a:ext cx="3200400" cy="54864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~5%</a:t>
            </a:r>
            <a:endParaRPr lang="en-US" sz="2600" dirty="0"/>
          </a:p>
        </p:txBody>
      </p:sp>
      <p:sp>
        <p:nvSpPr>
          <p:cNvPr id="11" name="Text 8"/>
          <p:cNvSpPr txBox="1"/>
          <p:nvPr/>
        </p:nvSpPr>
        <p:spPr>
          <a:xfrm>
            <a:off x="8229600" y="3904488"/>
            <a:ext cx="3200400" cy="502920"/>
          </a:xfrm>
          <a:prstGeom prst="rect">
            <a:avLst/>
          </a:prstGeom>
          <a:noFill/>
          <a:ln/>
        </p:spPr>
        <p:txBody>
          <a:bodyPr wrap="square" lIns="0" tIns="0" rIns="0" bIns="0" rtlCol="0" anchor="t"/>
          <a:lstStyle/>
          <a:p>
            <a:pPr indent="0" marL="0">
              <a:buNone/>
            </a:pPr>
            <a:r>
              <a:rPr lang="en-US" sz="1400" dirty="0">
                <a:solidFill>
                  <a:schemeClr val="tx1"/>
                </a:solidFill>
              </a:rPr>
              <a:t>of reviews sent is enough to match the hub</a:t>
            </a:r>
            <a:endParaRPr lang="en-US" sz="1400" dirty="0"/>
          </a:p>
        </p:txBody>
      </p:sp>
      <p:sp>
        <p:nvSpPr>
          <p:cNvPr id="12" name="±0.1 pt"/>
          <p:cNvSpPr/>
          <p:nvPr/>
        </p:nvSpPr>
        <p:spPr>
          <a:xfrm>
            <a:off x="8001000" y="4654296"/>
            <a:ext cx="3639312" cy="1280160"/>
          </a:xfrm>
          <a:prstGeom prst="roundRect">
            <a:avLst>
              <a:gd name="adj" fmla="val 5714"/>
            </a:avLst>
          </a:prstGeom>
          <a:solidFill>
            <a:schemeClr val="accent5"/>
          </a:solidFill>
          <a:ln/>
          <a:effectLst>
            <a:outerShdw sx="100000" sy="100000" kx="0" ky="0" algn="bl" rotWithShape="0" blurRad="76200" dist="25400" dir="5400000">
              <a:srgbClr val="9C8189">
                <a:alpha val="16000"/>
              </a:srgbClr>
            </a:outerShdw>
          </a:effectLst>
        </p:spPr>
      </p:sp>
      <p:sp>
        <p:nvSpPr>
          <p:cNvPr id="13" name="Text 10"/>
          <p:cNvSpPr txBox="1"/>
          <p:nvPr/>
        </p:nvSpPr>
        <p:spPr>
          <a:xfrm>
            <a:off x="8229600" y="4791456"/>
            <a:ext cx="3200400" cy="54864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±0.1 pt</a:t>
            </a:r>
            <a:endParaRPr lang="en-US" sz="2600" dirty="0"/>
          </a:p>
        </p:txBody>
      </p:sp>
      <p:sp>
        <p:nvSpPr>
          <p:cNvPr id="14" name="Text 11"/>
          <p:cNvSpPr txBox="1"/>
          <p:nvPr/>
        </p:nvSpPr>
        <p:spPr>
          <a:xfrm>
            <a:off x="8229600" y="5340096"/>
            <a:ext cx="3200400" cy="502920"/>
          </a:xfrm>
          <a:prstGeom prst="rect">
            <a:avLst/>
          </a:prstGeom>
          <a:noFill/>
          <a:ln/>
        </p:spPr>
        <p:txBody>
          <a:bodyPr wrap="square" lIns="0" tIns="0" rIns="0" bIns="0" rtlCol="0" anchor="t"/>
          <a:lstStyle/>
          <a:p>
            <a:pPr indent="0" marL="0">
              <a:buNone/>
            </a:pPr>
            <a:r>
              <a:rPr lang="en-US" sz="1400" dirty="0">
                <a:solidFill>
                  <a:schemeClr val="tx1"/>
                </a:solidFill>
              </a:rPr>
              <a:t>learned deferral vs confidence routing: no real gain yet</a:t>
            </a:r>
            <a:endParaRPr lang="en-US" sz="14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ENERGY</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19× less device energy at the transformer's accuracy</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050" i="1" dirty="0">
                <a:solidFill>
                  <a:schemeClr val="accent6"/>
                </a:solidFill>
              </a:rPr>
              <a:t>Energy per review = V × (CPU current × local time + share sent × (transmit current × send time + receive current × hub wait)).</a:t>
            </a:r>
            <a:endParaRPr lang="en-US" sz="1050" dirty="0"/>
          </a:p>
        </p:txBody>
      </p:sp>
      <p:graphicFrame>
        <p:nvGraphicFramePr>
          <p:cNvPr id="5" name="Chart 0" descr=""/>
          <p:cNvGraphicFramePr/>
          <p:nvPr/>
        </p:nvGraphicFramePr>
        <p:xfrm>
          <a:off x="457200" y="1691640"/>
          <a:ext cx="7223760" cy="4206240"/>
        </p:xfrm>
        <a:graphic xmlns:a="http://schemas.openxmlformats.org/drawingml/2006/main">
          <a:graphicData uri="http://schemas.openxmlformats.org/drawingml/2006/chart">
            <c:chart xmlns:c="http://schemas.openxmlformats.org/drawingml/2006/chart" r:id="rId1"/>
          </a:graphicData>
        </a:graphic>
      </p:graphicFrame>
      <p:sp>
        <p:nvSpPr>
          <p:cNvPr id="6" name="assumptions"/>
          <p:cNvSpPr/>
          <p:nvPr/>
        </p:nvSpPr>
        <p:spPr>
          <a:xfrm>
            <a:off x="8001000" y="1783080"/>
            <a:ext cx="3639312" cy="4206240"/>
          </a:xfrm>
          <a:prstGeom prst="roundRect">
            <a:avLst>
              <a:gd name="adj" fmla="val 2010"/>
            </a:avLst>
          </a:prstGeom>
          <a:solidFill>
            <a:schemeClr val="bg2"/>
          </a:solidFill>
          <a:ln/>
          <a:effectLst>
            <a:outerShdw sx="100000" sy="100000" kx="0" ky="0" algn="bl" rotWithShape="0" blurRad="76200" dist="25400" dir="5400000">
              <a:srgbClr val="9C8189">
                <a:alpha val="16000"/>
              </a:srgbClr>
            </a:outerShdw>
          </a:effectLst>
        </p:spPr>
      </p:sp>
      <p:sp>
        <p:nvSpPr>
          <p:cNvPr id="7" name="Text 4"/>
          <p:cNvSpPr txBox="1"/>
          <p:nvPr/>
        </p:nvSpPr>
        <p:spPr>
          <a:xfrm>
            <a:off x="8275320" y="1965960"/>
            <a:ext cx="3108960" cy="365760"/>
          </a:xfrm>
          <a:prstGeom prst="rect">
            <a:avLst/>
          </a:prstGeom>
          <a:noFill/>
          <a:ln/>
        </p:spPr>
        <p:txBody>
          <a:bodyPr wrap="square" lIns="0" tIns="0" rIns="0" bIns="0" rtlCol="0" anchor="ctr"/>
          <a:lstStyle/>
          <a:p>
            <a:pPr indent="0" marL="0">
              <a:buNone/>
            </a:pPr>
            <a:r>
              <a:rPr lang="en-US" sz="1500" b="1" dirty="0">
                <a:solidFill>
                  <a:schemeClr val="accent2"/>
                </a:solidFill>
              </a:rPr>
              <a:t>Assumptions</a:t>
            </a:r>
            <a:endParaRPr lang="en-US" sz="1500" dirty="0"/>
          </a:p>
        </p:txBody>
      </p:sp>
      <p:sp>
        <p:nvSpPr>
          <p:cNvPr id="8" name="Text 5"/>
          <p:cNvSpPr txBox="1"/>
          <p:nvPr/>
        </p:nvSpPr>
        <p:spPr>
          <a:xfrm>
            <a:off x="8275320" y="2423160"/>
            <a:ext cx="3154680" cy="3383280"/>
          </a:xfrm>
          <a:prstGeom prst="rect">
            <a:avLst/>
          </a:prstGeom>
          <a:noFill/>
          <a:ln/>
        </p:spPr>
        <p:txBody>
          <a:bodyPr wrap="square" lIns="0" tIns="0" rIns="0" bIns="0" rtlCol="0" anchor="t"/>
          <a:lstStyle/>
          <a:p>
            <a:pPr indent="0" marL="0">
              <a:buNone/>
            </a:pPr>
            <a:r>
              <a:rPr lang="en-US" sz="1400" b="1" dirty="0">
                <a:solidFill>
                  <a:schemeClr val="tx1"/>
                </a:solidFill>
              </a:rPr>
              <a:t>From the ESP32-S3 datasheet: </a:t>
            </a:r>
            <a:endParaRPr lang="en-US" sz="1400" dirty="0"/>
          </a:p>
          <a:p>
            <a:pPr indent="0" marL="0">
              <a:buNone/>
            </a:pPr>
            <a:r>
              <a:rPr lang="en-US" sz="1400" dirty="0">
                <a:solidFill>
                  <a:schemeClr val="tx1"/>
                </a:solidFill>
              </a:rPr>
              <a:t>Wi-Fi transmit 283 mA, receive 88 mA, CPU 51.2 mA, at 3.3 V</a:t>
            </a:r>
            <a:endParaRPr lang="en-US" sz="1400" dirty="0"/>
          </a:p>
          <a:p>
            <a:pPr indent="0" marL="0">
              <a:buNone/>
            </a:pPr>
            <a:r>
              <a:rPr lang="en-US" sz="1400" dirty="0">
                <a:solidFill>
                  <a:schemeClr val="tx1"/>
                </a:solidFill>
              </a:rPr>
              <a:t> </a:t>
            </a:r>
            <a:endParaRPr lang="en-US" sz="1400" dirty="0"/>
          </a:p>
          <a:p>
            <a:pPr indent="0" marL="0">
              <a:buNone/>
            </a:pPr>
            <a:r>
              <a:rPr lang="en-US" sz="1400" b="1" dirty="0">
                <a:solidFill>
                  <a:schemeClr val="tx1"/>
                </a:solidFill>
              </a:rPr>
              <a:t>Placeholders, to be measured: </a:t>
            </a:r>
            <a:endParaRPr lang="en-US" sz="1400" dirty="0"/>
          </a:p>
          <a:p>
            <a:pPr indent="0" marL="0">
              <a:buNone/>
            </a:pPr>
            <a:r>
              <a:rPr lang="en-US" sz="1400" dirty="0">
                <a:solidFill>
                  <a:schemeClr val="tx1"/>
                </a:solidFill>
              </a:rPr>
              <a:t>5 ms on the chip, 10 ms to send, 1 s waiting for the hub</a:t>
            </a:r>
            <a:endParaRPr lang="en-US" sz="1400" dirty="0"/>
          </a:p>
          <a:p>
            <a:pPr indent="0" marL="0">
              <a:buNone/>
            </a:pPr>
            <a:r>
              <a:rPr lang="en-US" sz="1400" dirty="0">
                <a:solidFill>
                  <a:schemeClr val="tx1"/>
                </a:solidFill>
              </a:rPr>
              <a:t> </a:t>
            </a:r>
            <a:endParaRPr lang="en-US" sz="1400" dirty="0"/>
          </a:p>
          <a:p>
            <a:pPr indent="0" marL="0">
              <a:buNone/>
            </a:pPr>
            <a:r>
              <a:rPr lang="en-US" sz="1400" i="1" dirty="0">
                <a:solidFill>
                  <a:schemeClr val="tx1"/>
                </a:solidFill>
              </a:rPr>
              <a:t>The 14–19× saving holds for hub waits from 0.1 to 2 s.</a:t>
            </a:r>
            <a:endParaRPr lang="en-US" sz="14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RECORD ATTEMPT</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97.40%: above the best published IMDb result</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050" i="1" dirty="0">
                <a:solidFill>
                  <a:schemeClr val="accent6"/>
                </a:solidFill>
              </a:rPr>
              <a:t>Published: ERNIE-Doc (ACL 2021), XLNet (NeurIPS 2019), LlamBERT (2024, extra data). Ours: chosen on val_pool; ensemble = ELECTRA + DeBERTa + 1 MB n-gram, stacked.</a:t>
            </a:r>
            <a:endParaRPr lang="en-US" sz="1050" dirty="0"/>
          </a:p>
        </p:txBody>
      </p:sp>
      <p:graphicFrame>
        <p:nvGraphicFramePr>
          <p:cNvPr id="5" name="Chart 0" descr=""/>
          <p:cNvGraphicFramePr/>
          <p:nvPr/>
        </p:nvGraphicFramePr>
        <p:xfrm>
          <a:off x="457200" y="1691640"/>
          <a:ext cx="7498080" cy="4526280"/>
        </p:xfrm>
        <a:graphic xmlns:a="http://schemas.openxmlformats.org/drawingml/2006/main">
          <a:graphicData uri="http://schemas.openxmlformats.org/drawingml/2006/chart">
            <c:chart xmlns:c="http://schemas.openxmlformats.org/drawingml/2006/chart" r:id="rId1"/>
          </a:graphicData>
        </a:graphic>
      </p:graphicFrame>
      <p:sp>
        <p:nvSpPr>
          <p:cNvPr id="6" name="record callout"/>
          <p:cNvSpPr/>
          <p:nvPr/>
        </p:nvSpPr>
        <p:spPr>
          <a:xfrm>
            <a:off x="8229600" y="1783080"/>
            <a:ext cx="3410712" cy="4206240"/>
          </a:xfrm>
          <a:prstGeom prst="roundRect">
            <a:avLst>
              <a:gd name="adj" fmla="val 2145"/>
            </a:avLst>
          </a:prstGeom>
          <a:solidFill>
            <a:schemeClr val="bg2"/>
          </a:solidFill>
          <a:ln/>
          <a:effectLst>
            <a:outerShdw sx="100000" sy="100000" kx="0" ky="0" algn="bl" rotWithShape="0" blurRad="76200" dist="25400" dir="5400000">
              <a:srgbClr val="9C8189">
                <a:alpha val="16000"/>
              </a:srgbClr>
            </a:outerShdw>
          </a:effectLst>
        </p:spPr>
      </p:sp>
      <p:sp>
        <p:nvSpPr>
          <p:cNvPr id="7" name="Text 4"/>
          <p:cNvSpPr txBox="1"/>
          <p:nvPr/>
        </p:nvSpPr>
        <p:spPr>
          <a:xfrm>
            <a:off x="8503920" y="2011680"/>
            <a:ext cx="2926080" cy="868680"/>
          </a:xfrm>
          <a:prstGeom prst="rect">
            <a:avLst/>
          </a:prstGeom>
          <a:noFill/>
          <a:ln/>
        </p:spPr>
        <p:txBody>
          <a:bodyPr wrap="square" lIns="0" tIns="0" rIns="0" bIns="0" rtlCol="0" anchor="ctr"/>
          <a:lstStyle/>
          <a:p>
            <a:pPr indent="0" marL="0">
              <a:buNone/>
            </a:pPr>
            <a:r>
              <a:rPr lang="en-US" sz="4600" b="1" dirty="0">
                <a:solidFill>
                  <a:schemeClr val="accent2"/>
                </a:solidFill>
                <a:latin typeface="Cambria" pitchFamily="34" charset="0"/>
                <a:ea typeface="Cambria" pitchFamily="34" charset="-122"/>
                <a:cs typeface="Cambria" pitchFamily="34" charset="-120"/>
              </a:rPr>
              <a:t>97.40%</a:t>
            </a:r>
            <a:endParaRPr lang="en-US" sz="4600" dirty="0"/>
          </a:p>
        </p:txBody>
      </p:sp>
      <p:sp>
        <p:nvSpPr>
          <p:cNvPr id="8" name="Text 5"/>
          <p:cNvSpPr txBox="1"/>
          <p:nvPr/>
        </p:nvSpPr>
        <p:spPr>
          <a:xfrm>
            <a:off x="8503920" y="2880360"/>
            <a:ext cx="2926080" cy="411480"/>
          </a:xfrm>
          <a:prstGeom prst="rect">
            <a:avLst/>
          </a:prstGeom>
          <a:noFill/>
          <a:ln/>
        </p:spPr>
        <p:txBody>
          <a:bodyPr wrap="square" lIns="0" tIns="0" rIns="0" bIns="0" rtlCol="0" anchor="ctr"/>
          <a:lstStyle/>
          <a:p>
            <a:pPr indent="0" marL="0">
              <a:buNone/>
            </a:pPr>
            <a:r>
              <a:rPr lang="en-US" sz="1600" b="1" dirty="0">
                <a:solidFill>
                  <a:schemeClr val="tx2"/>
                </a:solidFill>
              </a:rPr>
              <a:t>IMDb test accuracy</a:t>
            </a:r>
            <a:endParaRPr lang="en-US" sz="1600" dirty="0"/>
          </a:p>
        </p:txBody>
      </p:sp>
      <p:sp>
        <p:nvSpPr>
          <p:cNvPr id="9" name="Text 6"/>
          <p:cNvSpPr txBox="1"/>
          <p:nvPr/>
        </p:nvSpPr>
        <p:spPr>
          <a:xfrm>
            <a:off x="8503920" y="3429000"/>
            <a:ext cx="297180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95% CI 97.21–97.58%</a:t>
            </a:r>
            <a:endParaRPr lang="en-US" sz="1400" dirty="0"/>
          </a:p>
          <a:p>
            <a:pPr marL="342900" indent="-342900">
              <a:spcAft>
                <a:spcPts val="800"/>
              </a:spcAft>
              <a:buSzPct val="100000"/>
              <a:buChar char="•"/>
            </a:pPr>
            <a:r>
              <a:rPr lang="en-US" sz="1400" dirty="0">
                <a:solidFill>
                  <a:schemeClr val="tx1"/>
                </a:solidFill>
              </a:rPr>
              <a:t>De-duplicated test: 97.40%</a:t>
            </a:r>
            <a:endParaRPr lang="en-US" sz="1400" dirty="0"/>
          </a:p>
          <a:p>
            <a:pPr marL="342900" indent="-342900">
              <a:spcAft>
                <a:spcPts val="800"/>
              </a:spcAft>
              <a:buSzPct val="100000"/>
              <a:buChar char="•"/>
            </a:pPr>
            <a:r>
              <a:rPr lang="en-US" sz="1400" dirty="0">
                <a:solidFill>
                  <a:schemeClr val="tx1"/>
                </a:solidFill>
              </a:rPr>
              <a:t>Beats our best single model (p = 0.046)</a:t>
            </a:r>
            <a:endParaRPr lang="en-US" sz="14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IMPLEMENTATION</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How the record was built</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050" i="1" dirty="0">
                <a:solidFill>
                  <a:schemeClr val="accent6"/>
                </a:solidFill>
              </a:rPr>
              <a:t>Cloud compute: Modal H100 80 GB GPUs, about 400 reviews per second for RoBERTa-large (about 100× the laptop). Total cost $17.99 of $30 in free credits.</a:t>
            </a:r>
            <a:endParaRPr lang="en-US" sz="1050" dirty="0"/>
          </a:p>
        </p:txBody>
      </p:sp>
      <p:sp>
        <p:nvSpPr>
          <p:cNvPr id="5" name="Data"/>
          <p:cNvSpPr/>
          <p:nvPr/>
        </p:nvSpPr>
        <p:spPr>
          <a:xfrm>
            <a:off x="548640" y="1783080"/>
            <a:ext cx="3538728" cy="4206240"/>
          </a:xfrm>
          <a:prstGeom prst="roundRect">
            <a:avLst>
              <a:gd name="adj" fmla="val 2067"/>
            </a:avLst>
          </a:prstGeom>
          <a:solidFill>
            <a:schemeClr val="bg2"/>
          </a:solidFill>
          <a:ln/>
          <a:effectLst>
            <a:outerShdw sx="100000" sy="100000" kx="0" ky="0" algn="bl" rotWithShape="0" blurRad="76200" dist="25400" dir="5400000">
              <a:srgbClr val="9C8189">
                <a:alpha val="16000"/>
              </a:srgbClr>
            </a:outerShdw>
          </a:effectLst>
        </p:spPr>
      </p:sp>
      <p:sp>
        <p:nvSpPr>
          <p:cNvPr id="6" name="Shape 4"/>
          <p:cNvSpPr/>
          <p:nvPr/>
        </p:nvSpPr>
        <p:spPr>
          <a:xfrm>
            <a:off x="822960" y="2011680"/>
            <a:ext cx="685800" cy="68580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994410" y="2183130"/>
            <a:ext cx="342900" cy="342900"/>
          </a:xfrm>
          <a:prstGeom prst="rect">
            <a:avLst/>
          </a:prstGeom>
        </p:spPr>
      </p:pic>
      <p:sp>
        <p:nvSpPr>
          <p:cNvPr id="8" name="Text 5"/>
          <p:cNvSpPr txBox="1"/>
          <p:nvPr/>
        </p:nvSpPr>
        <p:spPr>
          <a:xfrm>
            <a:off x="1645920" y="2121408"/>
            <a:ext cx="219456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Data</a:t>
            </a:r>
            <a:endParaRPr lang="en-US" sz="2000" dirty="0"/>
          </a:p>
        </p:txBody>
      </p:sp>
      <p:sp>
        <p:nvSpPr>
          <p:cNvPr id="9" name="Text 6"/>
          <p:cNvSpPr txBox="1"/>
          <p:nvPr/>
        </p:nvSpPr>
        <p:spPr>
          <a:xfrm>
            <a:off x="822960" y="2926080"/>
            <a:ext cx="3017520" cy="29260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Official 20k training reviews + 1M cleaned pool reviews</a:t>
            </a:r>
            <a:endParaRPr lang="en-US" sz="1500" dirty="0"/>
          </a:p>
          <a:p>
            <a:pPr marL="342900" indent="-342900">
              <a:spcAft>
                <a:spcPts val="1000"/>
              </a:spcAft>
              <a:buSzPct val="100000"/>
              <a:buChar char="•"/>
            </a:pPr>
            <a:r>
              <a:rPr lang="en-US" sz="1500" dirty="0">
                <a:solidFill>
                  <a:schemeClr val="tx1"/>
                </a:solidFill>
              </a:rPr>
              <a:t>Tokens cached on cheap CPU machines</a:t>
            </a:r>
            <a:endParaRPr lang="en-US" sz="1500" dirty="0"/>
          </a:p>
          <a:p>
            <a:pPr marL="342900" indent="-342900">
              <a:spcAft>
                <a:spcPts val="1000"/>
              </a:spcAft>
              <a:buSzPct val="100000"/>
              <a:buChar char="•"/>
            </a:pPr>
            <a:r>
              <a:rPr lang="en-US" sz="1500" dirty="0">
                <a:solidFill>
                  <a:schemeClr val="tx1"/>
                </a:solidFill>
              </a:rPr>
              <a:t>Long reviews cut to first 128 + last 382 tokens</a:t>
            </a:r>
            <a:endParaRPr lang="en-US" sz="1500" dirty="0"/>
          </a:p>
        </p:txBody>
      </p:sp>
      <p:sp>
        <p:nvSpPr>
          <p:cNvPr id="10" name="Training"/>
          <p:cNvSpPr/>
          <p:nvPr/>
        </p:nvSpPr>
        <p:spPr>
          <a:xfrm>
            <a:off x="4325112" y="1783080"/>
            <a:ext cx="3538728" cy="4206240"/>
          </a:xfrm>
          <a:prstGeom prst="roundRect">
            <a:avLst>
              <a:gd name="adj" fmla="val 2067"/>
            </a:avLst>
          </a:prstGeom>
          <a:solidFill>
            <a:schemeClr val="accent4"/>
          </a:solidFill>
          <a:ln/>
          <a:effectLst>
            <a:outerShdw sx="100000" sy="100000" kx="0" ky="0" algn="bl" rotWithShape="0" blurRad="76200" dist="25400" dir="5400000">
              <a:srgbClr val="9C8189">
                <a:alpha val="16000"/>
              </a:srgbClr>
            </a:outerShdw>
          </a:effectLst>
        </p:spPr>
      </p:sp>
      <p:sp>
        <p:nvSpPr>
          <p:cNvPr id="11" name="Shape 8"/>
          <p:cNvSpPr/>
          <p:nvPr/>
        </p:nvSpPr>
        <p:spPr>
          <a:xfrm>
            <a:off x="4599432" y="2011680"/>
            <a:ext cx="685800" cy="685800"/>
          </a:xfrm>
          <a:prstGeom prst="ellipse">
            <a:avLst/>
          </a:prstGeom>
          <a:solidFill>
            <a:schemeClr val="accent3"/>
          </a:solidFill>
          <a:ln/>
        </p:spPr>
      </p:sp>
      <p:pic>
        <p:nvPicPr>
          <p:cNvPr id="12" name="Image 1" descr="preencoded.png">    </p:cNvPr>
          <p:cNvPicPr>
            <a:picLocks noChangeAspect="1"/>
          </p:cNvPicPr>
          <p:nvPr/>
        </p:nvPicPr>
        <p:blipFill>
          <a:blip r:embed="rId2"/>
          <a:stretch>
            <a:fillRect/>
          </a:stretch>
        </p:blipFill>
        <p:spPr>
          <a:xfrm>
            <a:off x="4770882" y="2183130"/>
            <a:ext cx="342900" cy="342900"/>
          </a:xfrm>
          <a:prstGeom prst="rect">
            <a:avLst/>
          </a:prstGeom>
        </p:spPr>
      </p:pic>
      <p:sp>
        <p:nvSpPr>
          <p:cNvPr id="13" name="Text 9"/>
          <p:cNvSpPr txBox="1"/>
          <p:nvPr/>
        </p:nvSpPr>
        <p:spPr>
          <a:xfrm>
            <a:off x="5422392" y="2121408"/>
            <a:ext cx="219456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Training</a:t>
            </a:r>
            <a:endParaRPr lang="en-US" sz="2000" dirty="0"/>
          </a:p>
        </p:txBody>
      </p:sp>
      <p:sp>
        <p:nvSpPr>
          <p:cNvPr id="14" name="Text 10"/>
          <p:cNvSpPr txBox="1"/>
          <p:nvPr/>
        </p:nvSpPr>
        <p:spPr>
          <a:xfrm>
            <a:off x="4599432" y="2926080"/>
            <a:ext cx="3017520" cy="29260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RoBERTa-large, ELECTRA-large, DeBERTa-v3-large</a:t>
            </a:r>
            <a:endParaRPr lang="en-US" sz="1500" dirty="0"/>
          </a:p>
          <a:p>
            <a:pPr marL="342900" indent="-342900">
              <a:spcAft>
                <a:spcPts val="1000"/>
              </a:spcAft>
              <a:buSzPct val="100000"/>
              <a:buChar char="•"/>
            </a:pPr>
            <a:r>
              <a:rPr lang="en-US" sz="1500" dirty="0">
                <a:solidFill>
                  <a:schemeClr val="tx1"/>
                </a:solidFill>
              </a:rPr>
              <a:t>One epoch, bf16, AdamW, batch 32</a:t>
            </a:r>
            <a:endParaRPr lang="en-US" sz="1500" dirty="0"/>
          </a:p>
          <a:p>
            <a:pPr marL="342900" indent="-342900">
              <a:spcAft>
                <a:spcPts val="1000"/>
              </a:spcAft>
              <a:buSzPct val="100000"/>
              <a:buChar char="•"/>
            </a:pPr>
            <a:r>
              <a:rPr lang="en-US" sz="1500" dirty="0">
                <a:solidFill>
                  <a:schemeClr val="tx1"/>
                </a:solidFill>
              </a:rPr>
              <a:t>Checkpoints and hard time limits on every run</a:t>
            </a:r>
            <a:endParaRPr lang="en-US" sz="1500" dirty="0"/>
          </a:p>
        </p:txBody>
      </p:sp>
      <p:sp>
        <p:nvSpPr>
          <p:cNvPr id="15" name="Combining"/>
          <p:cNvSpPr/>
          <p:nvPr/>
        </p:nvSpPr>
        <p:spPr>
          <a:xfrm>
            <a:off x="8101584" y="1783080"/>
            <a:ext cx="3538728" cy="4206240"/>
          </a:xfrm>
          <a:prstGeom prst="roundRect">
            <a:avLst>
              <a:gd name="adj" fmla="val 2067"/>
            </a:avLst>
          </a:prstGeom>
          <a:solidFill>
            <a:schemeClr val="bg2"/>
          </a:solidFill>
          <a:ln/>
          <a:effectLst>
            <a:outerShdw sx="100000" sy="100000" kx="0" ky="0" algn="bl" rotWithShape="0" blurRad="76200" dist="25400" dir="5400000">
              <a:srgbClr val="9C8189">
                <a:alpha val="16000"/>
              </a:srgbClr>
            </a:outerShdw>
          </a:effectLst>
        </p:spPr>
      </p:sp>
      <p:sp>
        <p:nvSpPr>
          <p:cNvPr id="16" name="Shape 12"/>
          <p:cNvSpPr/>
          <p:nvPr/>
        </p:nvSpPr>
        <p:spPr>
          <a:xfrm>
            <a:off x="8375904" y="2011680"/>
            <a:ext cx="685800" cy="68580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8547354" y="2183130"/>
            <a:ext cx="342900" cy="342900"/>
          </a:xfrm>
          <a:prstGeom prst="rect">
            <a:avLst/>
          </a:prstGeom>
        </p:spPr>
      </p:pic>
      <p:sp>
        <p:nvSpPr>
          <p:cNvPr id="18" name="Text 13"/>
          <p:cNvSpPr txBox="1"/>
          <p:nvPr/>
        </p:nvSpPr>
        <p:spPr>
          <a:xfrm>
            <a:off x="9198864" y="2121408"/>
            <a:ext cx="219456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Combining</a:t>
            </a:r>
            <a:endParaRPr lang="en-US" sz="2000" dirty="0"/>
          </a:p>
        </p:txBody>
      </p:sp>
      <p:sp>
        <p:nvSpPr>
          <p:cNvPr id="19" name="Text 14"/>
          <p:cNvSpPr txBox="1"/>
          <p:nvPr/>
        </p:nvSpPr>
        <p:spPr>
          <a:xfrm>
            <a:off x="8375904" y="2926080"/>
            <a:ext cx="3017520" cy="29260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Long reviews re-read in sliding windows (kept only where it helped on validation)</a:t>
            </a:r>
            <a:endParaRPr lang="en-US" sz="1500" dirty="0"/>
          </a:p>
          <a:p>
            <a:pPr marL="342900" indent="-342900">
              <a:spcAft>
                <a:spcPts val="1000"/>
              </a:spcAft>
              <a:buSzPct val="100000"/>
              <a:buChar char="•"/>
            </a:pPr>
            <a:r>
              <a:rPr lang="en-US" sz="1500" dirty="0">
                <a:solidFill>
                  <a:schemeClr val="tx1"/>
                </a:solidFill>
              </a:rPr>
              <a:t>Stacking chosen by 5-fold cross-validation on val_pool</a:t>
            </a:r>
            <a:endParaRPr lang="en-US" sz="1500" dirty="0"/>
          </a:p>
          <a:p>
            <a:pPr marL="342900" indent="-342900">
              <a:spcAft>
                <a:spcPts val="1000"/>
              </a:spcAft>
              <a:buSzPct val="100000"/>
              <a:buChar char="•"/>
            </a:pPr>
            <a:r>
              <a:rPr lang="en-US" sz="1500" dirty="0">
                <a:solidFill>
                  <a:schemeClr val="tx1"/>
                </a:solidFill>
              </a:rPr>
              <a:t>Test scored once</a:t>
            </a:r>
            <a:endParaRPr lang="en-US" sz="15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HONEST REPORTING</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What we can claim, and what we can't</a:t>
            </a:r>
            <a:endParaRPr lang="en-US" sz="3000" dirty="0"/>
          </a:p>
        </p:txBody>
      </p:sp>
      <p:sp>
        <p:nvSpPr>
          <p:cNvPr id="4" name="We can claim"/>
          <p:cNvSpPr/>
          <p:nvPr/>
        </p:nvSpPr>
        <p:spPr>
          <a:xfrm>
            <a:off x="548640" y="1783080"/>
            <a:ext cx="5440680" cy="4206240"/>
          </a:xfrm>
          <a:prstGeom prst="roundRect">
            <a:avLst>
              <a:gd name="adj" fmla="val 1739"/>
            </a:avLst>
          </a:prstGeom>
          <a:solidFill>
            <a:schemeClr val="accent4"/>
          </a:solidFill>
          <a:ln/>
          <a:effectLst>
            <a:outerShdw sx="100000" sy="100000" kx="0" ky="0" algn="bl" rotWithShape="0" blurRad="76200" dist="25400" dir="5400000">
              <a:srgbClr val="9C8189">
                <a:alpha val="16000"/>
              </a:srgbClr>
            </a:outerShdw>
          </a:effectLst>
        </p:spPr>
      </p:sp>
      <p:sp>
        <p:nvSpPr>
          <p:cNvPr id="5" name="Shape 3"/>
          <p:cNvSpPr/>
          <p:nvPr/>
        </p:nvSpPr>
        <p:spPr>
          <a:xfrm>
            <a:off x="822960" y="1993392"/>
            <a:ext cx="640080" cy="640080"/>
          </a:xfrm>
          <a:prstGeom prst="ellipse">
            <a:avLst/>
          </a:prstGeom>
          <a:solidFill>
            <a:schemeClr val="accent3"/>
          </a:solidFill>
          <a:ln/>
        </p:spPr>
      </p:sp>
      <p:pic>
        <p:nvPicPr>
          <p:cNvPr id="6" name="Image 0" descr="preencoded.png">    </p:cNvPr>
          <p:cNvPicPr>
            <a:picLocks noChangeAspect="1"/>
          </p:cNvPicPr>
          <p:nvPr/>
        </p:nvPicPr>
        <p:blipFill>
          <a:blip r:embed="rId1"/>
          <a:stretch>
            <a:fillRect/>
          </a:stretch>
        </p:blipFill>
        <p:spPr>
          <a:xfrm>
            <a:off x="982980" y="2153412"/>
            <a:ext cx="320040" cy="320040"/>
          </a:xfrm>
          <a:prstGeom prst="rect">
            <a:avLst/>
          </a:prstGeom>
        </p:spPr>
      </p:pic>
      <p:sp>
        <p:nvSpPr>
          <p:cNvPr id="7" name="Text 4"/>
          <p:cNvSpPr txBox="1"/>
          <p:nvPr/>
        </p:nvSpPr>
        <p:spPr>
          <a:xfrm>
            <a:off x="1645920" y="2103120"/>
            <a:ext cx="411480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We can claim</a:t>
            </a:r>
            <a:endParaRPr lang="en-US" sz="2000" dirty="0"/>
          </a:p>
        </p:txBody>
      </p:sp>
      <p:sp>
        <p:nvSpPr>
          <p:cNvPr id="8" name="Text 5"/>
          <p:cNvSpPr txBox="1"/>
          <p:nvPr/>
        </p:nvSpPr>
        <p:spPr>
          <a:xfrm>
            <a:off x="822960" y="2834640"/>
            <a:ext cx="4892040" cy="30175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97.40% on IMDb test, using ~1M extra rating-labelled IMDb reviews, de-duplicated and movie- and author-disjoint from test</a:t>
            </a:r>
            <a:endParaRPr lang="en-US" sz="1500" dirty="0"/>
          </a:p>
          <a:p>
            <a:pPr marL="342900" indent="-342900">
              <a:spcAft>
                <a:spcPts val="1000"/>
              </a:spcAft>
              <a:buSzPct val="100000"/>
              <a:buChar char="•"/>
            </a:pPr>
            <a:r>
              <a:rPr lang="en-US" sz="1500" dirty="0">
                <a:solidFill>
                  <a:schemeClr val="tx1"/>
                </a:solidFill>
              </a:rPr>
              <a:t>Significantly better than our best single model (p = 0.046) and the official-data baseline (p ≈ 6 × 10⁻²²)</a:t>
            </a:r>
            <a:endParaRPr lang="en-US" sz="1500" dirty="0"/>
          </a:p>
          <a:p>
            <a:pPr marL="342900" indent="-342900">
              <a:spcAft>
                <a:spcPts val="1000"/>
              </a:spcAft>
              <a:buSzPct val="100000"/>
              <a:buChar char="•"/>
            </a:pPr>
            <a:r>
              <a:rPr lang="en-US" sz="1500" dirty="0">
                <a:solidFill>
                  <a:schemeClr val="tx1"/>
                </a:solidFill>
              </a:rPr>
              <a:t>Its 95% confidence interval (97.21–97.58%) sits above ERNIE-Doc's 97.1%</a:t>
            </a:r>
            <a:endParaRPr lang="en-US" sz="1500" dirty="0"/>
          </a:p>
        </p:txBody>
      </p:sp>
      <p:sp>
        <p:nvSpPr>
          <p:cNvPr id="9" name="Caveats"/>
          <p:cNvSpPr/>
          <p:nvPr/>
        </p:nvSpPr>
        <p:spPr>
          <a:xfrm>
            <a:off x="6199632" y="1783080"/>
            <a:ext cx="5440680" cy="4206240"/>
          </a:xfrm>
          <a:prstGeom prst="roundRect">
            <a:avLst>
              <a:gd name="adj" fmla="val 1739"/>
            </a:avLst>
          </a:prstGeom>
          <a:solidFill>
            <a:schemeClr val="bg2"/>
          </a:solidFill>
          <a:ln/>
          <a:effectLst>
            <a:outerShdw sx="100000" sy="100000" kx="0" ky="0" algn="bl" rotWithShape="0" blurRad="76200" dist="25400" dir="5400000">
              <a:srgbClr val="9C8189">
                <a:alpha val="16000"/>
              </a:srgbClr>
            </a:outerShdw>
          </a:effectLst>
        </p:spPr>
      </p:sp>
      <p:sp>
        <p:nvSpPr>
          <p:cNvPr id="10" name="Shape 7"/>
          <p:cNvSpPr/>
          <p:nvPr/>
        </p:nvSpPr>
        <p:spPr>
          <a:xfrm>
            <a:off x="6473952" y="1993392"/>
            <a:ext cx="640080" cy="640080"/>
          </a:xfrm>
          <a:prstGeom prst="ellipse">
            <a:avLst/>
          </a:prstGeom>
          <a:solidFill>
            <a:schemeClr val="accent2"/>
          </a:solidFill>
          <a:ln/>
        </p:spPr>
      </p:sp>
      <p:pic>
        <p:nvPicPr>
          <p:cNvPr id="11" name="Image 1" descr="preencoded.png">    </p:cNvPr>
          <p:cNvPicPr>
            <a:picLocks noChangeAspect="1"/>
          </p:cNvPicPr>
          <p:nvPr/>
        </p:nvPicPr>
        <p:blipFill>
          <a:blip r:embed="rId2"/>
          <a:stretch>
            <a:fillRect/>
          </a:stretch>
        </p:blipFill>
        <p:spPr>
          <a:xfrm>
            <a:off x="6633972" y="2153412"/>
            <a:ext cx="320040" cy="320040"/>
          </a:xfrm>
          <a:prstGeom prst="rect">
            <a:avLst/>
          </a:prstGeom>
        </p:spPr>
      </p:pic>
      <p:sp>
        <p:nvSpPr>
          <p:cNvPr id="12" name="Text 8"/>
          <p:cNvSpPr txBox="1"/>
          <p:nvPr/>
        </p:nvSpPr>
        <p:spPr>
          <a:xfrm>
            <a:off x="7296912" y="2103120"/>
            <a:ext cx="411480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Caveats</a:t>
            </a:r>
            <a:endParaRPr lang="en-US" sz="2000" dirty="0"/>
          </a:p>
        </p:txBody>
      </p:sp>
      <p:sp>
        <p:nvSpPr>
          <p:cNvPr id="13" name="Text 9"/>
          <p:cNvSpPr txBox="1"/>
          <p:nvPr/>
        </p:nvSpPr>
        <p:spPr>
          <a:xfrm>
            <a:off x="6473952" y="2834640"/>
            <a:ext cx="4892040" cy="30175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An extra-training-data result, not an official-data-only one</a:t>
            </a:r>
            <a:endParaRPr lang="en-US" sz="1500" dirty="0"/>
          </a:p>
          <a:p>
            <a:pPr marL="342900" indent="-342900">
              <a:spcAft>
                <a:spcPts val="1000"/>
              </a:spcAft>
              <a:buSzPct val="100000"/>
              <a:buChar char="•"/>
            </a:pPr>
            <a:r>
              <a:rPr lang="en-US" sz="1500" dirty="0">
                <a:solidFill>
                  <a:schemeClr val="tx1"/>
                </a:solidFill>
              </a:rPr>
              <a:t>One training run per model: no repeated seeds yet</a:t>
            </a:r>
            <a:endParaRPr lang="en-US" sz="1500" dirty="0"/>
          </a:p>
          <a:p>
            <a:pPr marL="342900" indent="-342900">
              <a:spcAft>
                <a:spcPts val="1000"/>
              </a:spcAft>
              <a:buSzPct val="100000"/>
              <a:buChar char="•"/>
            </a:pPr>
            <a:r>
              <a:rPr lang="en-US" sz="1500" dirty="0">
                <a:solidFill>
                  <a:schemeClr val="tx1"/>
                </a:solidFill>
              </a:rPr>
              <a:t>About 2.9% of IMDb test labels are wrong, so ~97% is the practical ceiling</a:t>
            </a:r>
            <a:endParaRPr lang="en-US" sz="1500" dirty="0"/>
          </a:p>
          <a:p>
            <a:pPr marL="342900" indent="-342900">
              <a:spcAft>
                <a:spcPts val="1000"/>
              </a:spcAft>
              <a:buSzPct val="100000"/>
              <a:buChar char="•"/>
            </a:pPr>
            <a:r>
              <a:rPr lang="en-US" sz="1500" dirty="0">
                <a:solidFill>
                  <a:schemeClr val="tx1"/>
                </a:solidFill>
              </a:rPr>
              <a:t>Energy figures use placeholder timings until measured on hardware</a:t>
            </a:r>
            <a:endParaRPr lang="en-US" sz="1500" dirty="0"/>
          </a:p>
        </p:txBody>
      </p:sp>
      <p:sp>
        <p:nvSpPr>
          <p:cNvPr id="15"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endParaRPr lang="en-US" sz="105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IMPLEMENTATION</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Tech stack and engineering lessons</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050" i="1" dirty="0">
                <a:solidFill>
                  <a:schemeClr val="accent6"/>
                </a:solidFill>
              </a:rPr>
              <a:t>All code, data steps and 49 cited papers (with BibTeX) are in the project folder; a live dashboard tracks background jobs.</a:t>
            </a:r>
            <a:endParaRPr lang="en-US" sz="1050" dirty="0"/>
          </a:p>
        </p:txBody>
      </p:sp>
      <p:sp>
        <p:nvSpPr>
          <p:cNvPr id="5" name="Python 3.12, PyTorch 2.14"/>
          <p:cNvSpPr/>
          <p:nvPr/>
        </p:nvSpPr>
        <p:spPr>
          <a:xfrm>
            <a:off x="548640" y="1783080"/>
            <a:ext cx="2331720" cy="1965960"/>
          </a:xfrm>
          <a:prstGeom prst="roundRect">
            <a:avLst>
              <a:gd name="adj" fmla="val 3721"/>
            </a:avLst>
          </a:prstGeom>
          <a:solidFill>
            <a:schemeClr val="bg2"/>
          </a:solidFill>
          <a:ln/>
          <a:effectLst>
            <a:outerShdw sx="100000" sy="100000" kx="0" ky="0" algn="bl" rotWithShape="0" blurRad="76200" dist="25400" dir="5400000">
              <a:srgbClr val="9C8189">
                <a:alpha val="16000"/>
              </a:srgbClr>
            </a:outerShdw>
          </a:effectLst>
        </p:spPr>
      </p:sp>
      <p:sp>
        <p:nvSpPr>
          <p:cNvPr id="6" name="Shape 4"/>
          <p:cNvSpPr/>
          <p:nvPr/>
        </p:nvSpPr>
        <p:spPr>
          <a:xfrm>
            <a:off x="777240" y="1984248"/>
            <a:ext cx="548640" cy="54864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914400" y="2121408"/>
            <a:ext cx="274320" cy="274320"/>
          </a:xfrm>
          <a:prstGeom prst="rect">
            <a:avLst/>
          </a:prstGeom>
        </p:spPr>
      </p:pic>
      <p:sp>
        <p:nvSpPr>
          <p:cNvPr id="8" name="Text 5"/>
          <p:cNvSpPr txBox="1"/>
          <p:nvPr/>
        </p:nvSpPr>
        <p:spPr>
          <a:xfrm>
            <a:off x="777240" y="2651760"/>
            <a:ext cx="1920240" cy="502920"/>
          </a:xfrm>
          <a:prstGeom prst="rect">
            <a:avLst/>
          </a:prstGeom>
          <a:noFill/>
          <a:ln/>
        </p:spPr>
        <p:txBody>
          <a:bodyPr wrap="square" lIns="0" tIns="0" rIns="0" bIns="0" rtlCol="0" anchor="t"/>
          <a:lstStyle/>
          <a:p>
            <a:pPr indent="0" marL="0">
              <a:buNone/>
            </a:pPr>
            <a:r>
              <a:rPr lang="en-US" sz="1500" b="1" dirty="0">
                <a:solidFill>
                  <a:schemeClr val="tx2"/>
                </a:solidFill>
              </a:rPr>
              <a:t>Python 3.12, PyTorch 2.14</a:t>
            </a:r>
            <a:endParaRPr lang="en-US" sz="1500" dirty="0"/>
          </a:p>
        </p:txBody>
      </p:sp>
      <p:sp>
        <p:nvSpPr>
          <p:cNvPr id="9" name="Text 6"/>
          <p:cNvSpPr txBox="1"/>
          <p:nvPr/>
        </p:nvSpPr>
        <p:spPr>
          <a:xfrm>
            <a:off x="777240" y="3108960"/>
            <a:ext cx="1920240" cy="548640"/>
          </a:xfrm>
          <a:prstGeom prst="rect">
            <a:avLst/>
          </a:prstGeom>
          <a:noFill/>
          <a:ln/>
        </p:spPr>
        <p:txBody>
          <a:bodyPr wrap="square" lIns="0" tIns="0" rIns="0" bIns="0" rtlCol="0" anchor="t"/>
          <a:lstStyle/>
          <a:p>
            <a:pPr indent="0" marL="0">
              <a:buNone/>
            </a:pPr>
            <a:r>
              <a:rPr lang="en-US" sz="1200" dirty="0">
                <a:solidFill>
                  <a:schemeClr val="tx1"/>
                </a:solidFill>
              </a:rPr>
              <a:t>Apple GPU (MPS) locally, CUDA in the cloud</a:t>
            </a:r>
            <a:endParaRPr lang="en-US" sz="1200" dirty="0"/>
          </a:p>
        </p:txBody>
      </p:sp>
      <p:sp>
        <p:nvSpPr>
          <p:cNvPr id="10" name="Hugging Face transformers 5.20"/>
          <p:cNvSpPr/>
          <p:nvPr/>
        </p:nvSpPr>
        <p:spPr>
          <a:xfrm>
            <a:off x="3063240" y="1783080"/>
            <a:ext cx="2331720" cy="1965960"/>
          </a:xfrm>
          <a:prstGeom prst="roundRect">
            <a:avLst>
              <a:gd name="adj" fmla="val 3721"/>
            </a:avLst>
          </a:prstGeom>
          <a:solidFill>
            <a:schemeClr val="accent4"/>
          </a:solidFill>
          <a:ln/>
          <a:effectLst>
            <a:outerShdw sx="100000" sy="100000" kx="0" ky="0" algn="bl" rotWithShape="0" blurRad="76200" dist="25400" dir="5400000">
              <a:srgbClr val="9C8189">
                <a:alpha val="16000"/>
              </a:srgbClr>
            </a:outerShdw>
          </a:effectLst>
        </p:spPr>
      </p:sp>
      <p:sp>
        <p:nvSpPr>
          <p:cNvPr id="11" name="Shape 8"/>
          <p:cNvSpPr/>
          <p:nvPr/>
        </p:nvSpPr>
        <p:spPr>
          <a:xfrm>
            <a:off x="3291840" y="1984248"/>
            <a:ext cx="548640" cy="54864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3429000" y="2121408"/>
            <a:ext cx="274320" cy="274320"/>
          </a:xfrm>
          <a:prstGeom prst="rect">
            <a:avLst/>
          </a:prstGeom>
        </p:spPr>
      </p:pic>
      <p:sp>
        <p:nvSpPr>
          <p:cNvPr id="13" name="Text 9"/>
          <p:cNvSpPr txBox="1"/>
          <p:nvPr/>
        </p:nvSpPr>
        <p:spPr>
          <a:xfrm>
            <a:off x="3291840" y="2651760"/>
            <a:ext cx="1920240" cy="502920"/>
          </a:xfrm>
          <a:prstGeom prst="rect">
            <a:avLst/>
          </a:prstGeom>
          <a:noFill/>
          <a:ln/>
        </p:spPr>
        <p:txBody>
          <a:bodyPr wrap="square" lIns="0" tIns="0" rIns="0" bIns="0" rtlCol="0" anchor="t"/>
          <a:lstStyle/>
          <a:p>
            <a:pPr indent="0" marL="0">
              <a:buNone/>
            </a:pPr>
            <a:r>
              <a:rPr lang="en-US" sz="1500" b="1" dirty="0">
                <a:solidFill>
                  <a:schemeClr val="tx2"/>
                </a:solidFill>
              </a:rPr>
              <a:t>Hugging Face transformers 5.20</a:t>
            </a:r>
            <a:endParaRPr lang="en-US" sz="1500" dirty="0"/>
          </a:p>
        </p:txBody>
      </p:sp>
      <p:sp>
        <p:nvSpPr>
          <p:cNvPr id="14" name="Text 10"/>
          <p:cNvSpPr txBox="1"/>
          <p:nvPr/>
        </p:nvSpPr>
        <p:spPr>
          <a:xfrm>
            <a:off x="3291840" y="3108960"/>
            <a:ext cx="1920240" cy="548640"/>
          </a:xfrm>
          <a:prstGeom prst="rect">
            <a:avLst/>
          </a:prstGeom>
          <a:noFill/>
          <a:ln/>
        </p:spPr>
        <p:txBody>
          <a:bodyPr wrap="square" lIns="0" tIns="0" rIns="0" bIns="0" rtlCol="0" anchor="t"/>
          <a:lstStyle/>
          <a:p>
            <a:pPr indent="0" marL="0">
              <a:buNone/>
            </a:pPr>
            <a:r>
              <a:rPr lang="en-US" sz="1200" dirty="0">
                <a:solidFill>
                  <a:schemeClr val="tx1"/>
                </a:solidFill>
              </a:rPr>
              <a:t>RoBERTa, ELECTRA, DeBERTa, DistilBERT</a:t>
            </a:r>
            <a:endParaRPr lang="en-US" sz="1200" dirty="0"/>
          </a:p>
        </p:txBody>
      </p:sp>
      <p:sp>
        <p:nvSpPr>
          <p:cNvPr id="15" name="scikit-learn 1.9"/>
          <p:cNvSpPr/>
          <p:nvPr/>
        </p:nvSpPr>
        <p:spPr>
          <a:xfrm>
            <a:off x="5577840" y="1783080"/>
            <a:ext cx="2331720" cy="1965960"/>
          </a:xfrm>
          <a:prstGeom prst="roundRect">
            <a:avLst>
              <a:gd name="adj" fmla="val 3721"/>
            </a:avLst>
          </a:prstGeom>
          <a:solidFill>
            <a:schemeClr val="bg2"/>
          </a:solidFill>
          <a:ln/>
          <a:effectLst>
            <a:outerShdw sx="100000" sy="100000" kx="0" ky="0" algn="bl" rotWithShape="0" blurRad="76200" dist="25400" dir="5400000">
              <a:srgbClr val="9C8189">
                <a:alpha val="16000"/>
              </a:srgbClr>
            </a:outerShdw>
          </a:effectLst>
        </p:spPr>
      </p:sp>
      <p:sp>
        <p:nvSpPr>
          <p:cNvPr id="16" name="Shape 12"/>
          <p:cNvSpPr/>
          <p:nvPr/>
        </p:nvSpPr>
        <p:spPr>
          <a:xfrm>
            <a:off x="5806440" y="1984248"/>
            <a:ext cx="548640" cy="54864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5943600" y="2121408"/>
            <a:ext cx="274320" cy="274320"/>
          </a:xfrm>
          <a:prstGeom prst="rect">
            <a:avLst/>
          </a:prstGeom>
        </p:spPr>
      </p:pic>
      <p:sp>
        <p:nvSpPr>
          <p:cNvPr id="18" name="Text 13"/>
          <p:cNvSpPr txBox="1"/>
          <p:nvPr/>
        </p:nvSpPr>
        <p:spPr>
          <a:xfrm>
            <a:off x="5806440" y="2651760"/>
            <a:ext cx="1920240" cy="502920"/>
          </a:xfrm>
          <a:prstGeom prst="rect">
            <a:avLst/>
          </a:prstGeom>
          <a:noFill/>
          <a:ln/>
        </p:spPr>
        <p:txBody>
          <a:bodyPr wrap="square" lIns="0" tIns="0" rIns="0" bIns="0" rtlCol="0" anchor="t"/>
          <a:lstStyle/>
          <a:p>
            <a:pPr indent="0" marL="0">
              <a:buNone/>
            </a:pPr>
            <a:r>
              <a:rPr lang="en-US" sz="1500" b="1" dirty="0">
                <a:solidFill>
                  <a:schemeClr val="tx2"/>
                </a:solidFill>
              </a:rPr>
              <a:t>scikit-learn 1.9</a:t>
            </a:r>
            <a:endParaRPr lang="en-US" sz="1500" dirty="0"/>
          </a:p>
        </p:txBody>
      </p:sp>
      <p:sp>
        <p:nvSpPr>
          <p:cNvPr id="19" name="Text 14"/>
          <p:cNvSpPr txBox="1"/>
          <p:nvPr/>
        </p:nvSpPr>
        <p:spPr>
          <a:xfrm>
            <a:off x="5806440" y="3108960"/>
            <a:ext cx="1920240" cy="548640"/>
          </a:xfrm>
          <a:prstGeom prst="rect">
            <a:avLst/>
          </a:prstGeom>
          <a:noFill/>
          <a:ln/>
        </p:spPr>
        <p:txBody>
          <a:bodyPr wrap="square" lIns="0" tIns="0" rIns="0" bIns="0" rtlCol="0" anchor="t"/>
          <a:lstStyle/>
          <a:p>
            <a:pPr indent="0" marL="0">
              <a:buNone/>
            </a:pPr>
            <a:r>
              <a:rPr lang="en-US" sz="1200" dirty="0">
                <a:solidFill>
                  <a:schemeClr val="tx1"/>
                </a:solidFill>
              </a:rPr>
              <a:t>Hashed n-grams, logistic regression, stacking</a:t>
            </a:r>
            <a:endParaRPr lang="en-US" sz="1200" dirty="0"/>
          </a:p>
        </p:txBody>
      </p:sp>
      <p:sp>
        <p:nvSpPr>
          <p:cNvPr id="20" name="Modal H100 GPUs"/>
          <p:cNvSpPr/>
          <p:nvPr/>
        </p:nvSpPr>
        <p:spPr>
          <a:xfrm>
            <a:off x="548640" y="3931920"/>
            <a:ext cx="2331720" cy="1965960"/>
          </a:xfrm>
          <a:prstGeom prst="roundRect">
            <a:avLst>
              <a:gd name="adj" fmla="val 3721"/>
            </a:avLst>
          </a:prstGeom>
          <a:solidFill>
            <a:schemeClr val="accent4"/>
          </a:solidFill>
          <a:ln/>
          <a:effectLst>
            <a:outerShdw sx="100000" sy="100000" kx="0" ky="0" algn="bl" rotWithShape="0" blurRad="76200" dist="25400" dir="5400000">
              <a:srgbClr val="9C8189">
                <a:alpha val="16000"/>
              </a:srgbClr>
            </a:outerShdw>
          </a:effectLst>
        </p:spPr>
      </p:sp>
      <p:sp>
        <p:nvSpPr>
          <p:cNvPr id="21" name="Shape 16"/>
          <p:cNvSpPr/>
          <p:nvPr/>
        </p:nvSpPr>
        <p:spPr>
          <a:xfrm>
            <a:off x="777240" y="4133088"/>
            <a:ext cx="548640" cy="548640"/>
          </a:xfrm>
          <a:prstGeom prst="ellipse">
            <a:avLst/>
          </a:prstGeom>
          <a:solidFill>
            <a:schemeClr val="accent1"/>
          </a:solidFill>
          <a:ln/>
        </p:spPr>
      </p:sp>
      <p:pic>
        <p:nvPicPr>
          <p:cNvPr id="22" name="Image 3" descr="preencoded.png">    </p:cNvPr>
          <p:cNvPicPr>
            <a:picLocks noChangeAspect="1"/>
          </p:cNvPicPr>
          <p:nvPr/>
        </p:nvPicPr>
        <p:blipFill>
          <a:blip r:embed="rId4"/>
          <a:stretch>
            <a:fillRect/>
          </a:stretch>
        </p:blipFill>
        <p:spPr>
          <a:xfrm>
            <a:off x="914400" y="4270248"/>
            <a:ext cx="274320" cy="274320"/>
          </a:xfrm>
          <a:prstGeom prst="rect">
            <a:avLst/>
          </a:prstGeom>
        </p:spPr>
      </p:pic>
      <p:sp>
        <p:nvSpPr>
          <p:cNvPr id="23" name="Text 17"/>
          <p:cNvSpPr txBox="1"/>
          <p:nvPr/>
        </p:nvSpPr>
        <p:spPr>
          <a:xfrm>
            <a:off x="777240" y="4800600"/>
            <a:ext cx="1920240" cy="502920"/>
          </a:xfrm>
          <a:prstGeom prst="rect">
            <a:avLst/>
          </a:prstGeom>
          <a:noFill/>
          <a:ln/>
        </p:spPr>
        <p:txBody>
          <a:bodyPr wrap="square" lIns="0" tIns="0" rIns="0" bIns="0" rtlCol="0" anchor="t"/>
          <a:lstStyle/>
          <a:p>
            <a:pPr indent="0" marL="0">
              <a:buNone/>
            </a:pPr>
            <a:r>
              <a:rPr lang="en-US" sz="1500" b="1" dirty="0">
                <a:solidFill>
                  <a:schemeClr val="tx2"/>
                </a:solidFill>
              </a:rPr>
              <a:t>Modal H100 GPUs</a:t>
            </a:r>
            <a:endParaRPr lang="en-US" sz="1500" dirty="0"/>
          </a:p>
        </p:txBody>
      </p:sp>
      <p:sp>
        <p:nvSpPr>
          <p:cNvPr id="24" name="Text 18"/>
          <p:cNvSpPr txBox="1"/>
          <p:nvPr/>
        </p:nvSpPr>
        <p:spPr>
          <a:xfrm>
            <a:off x="777240" y="5257800"/>
            <a:ext cx="1920240" cy="548640"/>
          </a:xfrm>
          <a:prstGeom prst="rect">
            <a:avLst/>
          </a:prstGeom>
          <a:noFill/>
          <a:ln/>
        </p:spPr>
        <p:txBody>
          <a:bodyPr wrap="square" lIns="0" tIns="0" rIns="0" bIns="0" rtlCol="0" anchor="t"/>
          <a:lstStyle/>
          <a:p>
            <a:pPr indent="0" marL="0">
              <a:buNone/>
            </a:pPr>
            <a:r>
              <a:rPr lang="en-US" sz="1200" dirty="0">
                <a:solidFill>
                  <a:schemeClr val="tx1"/>
                </a:solidFill>
              </a:rPr>
              <a:t>Cost-capped, checkpointed cloud training</a:t>
            </a:r>
            <a:endParaRPr lang="en-US" sz="1200" dirty="0"/>
          </a:p>
        </p:txBody>
      </p:sp>
      <p:sp>
        <p:nvSpPr>
          <p:cNvPr id="25" name="pyarrow, ijson"/>
          <p:cNvSpPr/>
          <p:nvPr/>
        </p:nvSpPr>
        <p:spPr>
          <a:xfrm>
            <a:off x="3063240" y="3931920"/>
            <a:ext cx="2331720" cy="1965960"/>
          </a:xfrm>
          <a:prstGeom prst="roundRect">
            <a:avLst>
              <a:gd name="adj" fmla="val 3721"/>
            </a:avLst>
          </a:prstGeom>
          <a:solidFill>
            <a:schemeClr val="bg2"/>
          </a:solidFill>
          <a:ln/>
          <a:effectLst>
            <a:outerShdw sx="100000" sy="100000" kx="0" ky="0" algn="bl" rotWithShape="0" blurRad="76200" dist="25400" dir="5400000">
              <a:srgbClr val="9C8189">
                <a:alpha val="16000"/>
              </a:srgbClr>
            </a:outerShdw>
          </a:effectLst>
        </p:spPr>
      </p:sp>
      <p:sp>
        <p:nvSpPr>
          <p:cNvPr id="26" name="Shape 20"/>
          <p:cNvSpPr/>
          <p:nvPr/>
        </p:nvSpPr>
        <p:spPr>
          <a:xfrm>
            <a:off x="3291840" y="4133088"/>
            <a:ext cx="548640" cy="548640"/>
          </a:xfrm>
          <a:prstGeom prst="ellipse">
            <a:avLst/>
          </a:prstGeom>
          <a:solidFill>
            <a:schemeClr val="accent1"/>
          </a:solidFill>
          <a:ln/>
        </p:spPr>
      </p:sp>
      <p:pic>
        <p:nvPicPr>
          <p:cNvPr id="27" name="Image 4" descr="preencoded.png">    </p:cNvPr>
          <p:cNvPicPr>
            <a:picLocks noChangeAspect="1"/>
          </p:cNvPicPr>
          <p:nvPr/>
        </p:nvPicPr>
        <p:blipFill>
          <a:blip r:embed="rId5"/>
          <a:stretch>
            <a:fillRect/>
          </a:stretch>
        </p:blipFill>
        <p:spPr>
          <a:xfrm>
            <a:off x="3429000" y="4270248"/>
            <a:ext cx="274320" cy="274320"/>
          </a:xfrm>
          <a:prstGeom prst="rect">
            <a:avLst/>
          </a:prstGeom>
        </p:spPr>
      </p:pic>
      <p:sp>
        <p:nvSpPr>
          <p:cNvPr id="28" name="Text 21"/>
          <p:cNvSpPr txBox="1"/>
          <p:nvPr/>
        </p:nvSpPr>
        <p:spPr>
          <a:xfrm>
            <a:off x="3291840" y="4800600"/>
            <a:ext cx="1920240" cy="502920"/>
          </a:xfrm>
          <a:prstGeom prst="rect">
            <a:avLst/>
          </a:prstGeom>
          <a:noFill/>
          <a:ln/>
        </p:spPr>
        <p:txBody>
          <a:bodyPr wrap="square" lIns="0" tIns="0" rIns="0" bIns="0" rtlCol="0" anchor="t"/>
          <a:lstStyle/>
          <a:p>
            <a:pPr indent="0" marL="0">
              <a:buNone/>
            </a:pPr>
            <a:r>
              <a:rPr lang="en-US" sz="1500" b="1" dirty="0">
                <a:solidFill>
                  <a:schemeClr val="tx2"/>
                </a:solidFill>
              </a:rPr>
              <a:t>pyarrow, ijson</a:t>
            </a:r>
            <a:endParaRPr lang="en-US" sz="1500" dirty="0"/>
          </a:p>
        </p:txBody>
      </p:sp>
      <p:sp>
        <p:nvSpPr>
          <p:cNvPr id="29" name="Text 22"/>
          <p:cNvSpPr txBox="1"/>
          <p:nvPr/>
        </p:nvSpPr>
        <p:spPr>
          <a:xfrm>
            <a:off x="3291840" y="5257800"/>
            <a:ext cx="1920240" cy="548640"/>
          </a:xfrm>
          <a:prstGeom prst="rect">
            <a:avLst/>
          </a:prstGeom>
          <a:noFill/>
          <a:ln/>
        </p:spPr>
        <p:txBody>
          <a:bodyPr wrap="square" lIns="0" tIns="0" rIns="0" bIns="0" rtlCol="0" anchor="t"/>
          <a:lstStyle/>
          <a:p>
            <a:pPr indent="0" marL="0">
              <a:buNone/>
            </a:pPr>
            <a:r>
              <a:rPr lang="en-US" sz="1200" dirty="0">
                <a:solidFill>
                  <a:schemeClr val="tx1"/>
                </a:solidFill>
              </a:rPr>
              <a:t>Streaming 23M reviews within 18 GB of RAM</a:t>
            </a:r>
            <a:endParaRPr lang="en-US" sz="1200" dirty="0"/>
          </a:p>
        </p:txBody>
      </p:sp>
      <p:sp>
        <p:nvSpPr>
          <p:cNvPr id="30" name="Kaggle and Hugging Face"/>
          <p:cNvSpPr/>
          <p:nvPr/>
        </p:nvSpPr>
        <p:spPr>
          <a:xfrm>
            <a:off x="5577840" y="3931920"/>
            <a:ext cx="2331720" cy="1965960"/>
          </a:xfrm>
          <a:prstGeom prst="roundRect">
            <a:avLst>
              <a:gd name="adj" fmla="val 3721"/>
            </a:avLst>
          </a:prstGeom>
          <a:solidFill>
            <a:schemeClr val="accent4"/>
          </a:solidFill>
          <a:ln/>
          <a:effectLst>
            <a:outerShdw sx="100000" sy="100000" kx="0" ky="0" algn="bl" rotWithShape="0" blurRad="76200" dist="25400" dir="5400000">
              <a:srgbClr val="9C8189">
                <a:alpha val="16000"/>
              </a:srgbClr>
            </a:outerShdw>
          </a:effectLst>
        </p:spPr>
      </p:sp>
      <p:sp>
        <p:nvSpPr>
          <p:cNvPr id="31" name="Shape 24"/>
          <p:cNvSpPr/>
          <p:nvPr/>
        </p:nvSpPr>
        <p:spPr>
          <a:xfrm>
            <a:off x="5806440" y="4133088"/>
            <a:ext cx="548640" cy="548640"/>
          </a:xfrm>
          <a:prstGeom prst="ellipse">
            <a:avLst/>
          </a:prstGeom>
          <a:solidFill>
            <a:schemeClr val="accent1"/>
          </a:solidFill>
          <a:ln/>
        </p:spPr>
      </p:sp>
      <p:pic>
        <p:nvPicPr>
          <p:cNvPr id="32" name="Image 5" descr="preencoded.png">    </p:cNvPr>
          <p:cNvPicPr>
            <a:picLocks noChangeAspect="1"/>
          </p:cNvPicPr>
          <p:nvPr/>
        </p:nvPicPr>
        <p:blipFill>
          <a:blip r:embed="rId6"/>
          <a:stretch>
            <a:fillRect/>
          </a:stretch>
        </p:blipFill>
        <p:spPr>
          <a:xfrm>
            <a:off x="5943600" y="4270248"/>
            <a:ext cx="274320" cy="274320"/>
          </a:xfrm>
          <a:prstGeom prst="rect">
            <a:avLst/>
          </a:prstGeom>
        </p:spPr>
      </p:pic>
      <p:sp>
        <p:nvSpPr>
          <p:cNvPr id="33" name="Text 25"/>
          <p:cNvSpPr txBox="1"/>
          <p:nvPr/>
        </p:nvSpPr>
        <p:spPr>
          <a:xfrm>
            <a:off x="5806440" y="4800600"/>
            <a:ext cx="1920240" cy="502920"/>
          </a:xfrm>
          <a:prstGeom prst="rect">
            <a:avLst/>
          </a:prstGeom>
          <a:noFill/>
          <a:ln/>
        </p:spPr>
        <p:txBody>
          <a:bodyPr wrap="square" lIns="0" tIns="0" rIns="0" bIns="0" rtlCol="0" anchor="t"/>
          <a:lstStyle/>
          <a:p>
            <a:pPr indent="0" marL="0">
              <a:buNone/>
            </a:pPr>
            <a:r>
              <a:rPr lang="en-US" sz="1500" b="1" dirty="0">
                <a:solidFill>
                  <a:schemeClr val="tx2"/>
                </a:solidFill>
              </a:rPr>
              <a:t>Kaggle and Hugging Face</a:t>
            </a:r>
            <a:endParaRPr lang="en-US" sz="1500" dirty="0"/>
          </a:p>
        </p:txBody>
      </p:sp>
      <p:sp>
        <p:nvSpPr>
          <p:cNvPr id="34" name="Text 26"/>
          <p:cNvSpPr txBox="1"/>
          <p:nvPr/>
        </p:nvSpPr>
        <p:spPr>
          <a:xfrm>
            <a:off x="5806440" y="5257800"/>
            <a:ext cx="1920240" cy="548640"/>
          </a:xfrm>
          <a:prstGeom prst="rect">
            <a:avLst/>
          </a:prstGeom>
          <a:noFill/>
          <a:ln/>
        </p:spPr>
        <p:txBody>
          <a:bodyPr wrap="square" lIns="0" tIns="0" rIns="0" bIns="0" rtlCol="0" anchor="t"/>
          <a:lstStyle/>
          <a:p>
            <a:pPr indent="0" marL="0">
              <a:buNone/>
            </a:pPr>
            <a:r>
              <a:rPr lang="en-US" sz="1200" dirty="0">
                <a:solidFill>
                  <a:schemeClr val="tx1"/>
                </a:solidFill>
              </a:rPr>
              <a:t>IMDb scrape and Amazon Reviews 2023</a:t>
            </a:r>
            <a:endParaRPr lang="en-US" sz="1200" dirty="0"/>
          </a:p>
        </p:txBody>
      </p:sp>
      <p:sp>
        <p:nvSpPr>
          <p:cNvPr id="35" name="lessons"/>
          <p:cNvSpPr/>
          <p:nvPr/>
        </p:nvSpPr>
        <p:spPr>
          <a:xfrm>
            <a:off x="8229600" y="1783080"/>
            <a:ext cx="3410712" cy="4114800"/>
          </a:xfrm>
          <a:prstGeom prst="roundRect">
            <a:avLst>
              <a:gd name="adj" fmla="val 2145"/>
            </a:avLst>
          </a:prstGeom>
          <a:solidFill>
            <a:schemeClr val="accent5"/>
          </a:solidFill>
          <a:ln/>
          <a:effectLst>
            <a:outerShdw sx="100000" sy="100000" kx="0" ky="0" algn="bl" rotWithShape="0" blurRad="76200" dist="25400" dir="5400000">
              <a:srgbClr val="9C8189">
                <a:alpha val="16000"/>
              </a:srgbClr>
            </a:outerShdw>
          </a:effectLst>
        </p:spPr>
      </p:sp>
      <p:sp>
        <p:nvSpPr>
          <p:cNvPr id="36" name="Text 28"/>
          <p:cNvSpPr txBox="1"/>
          <p:nvPr/>
        </p:nvSpPr>
        <p:spPr>
          <a:xfrm>
            <a:off x="8503920" y="1965960"/>
            <a:ext cx="2926080" cy="411480"/>
          </a:xfrm>
          <a:prstGeom prst="rect">
            <a:avLst/>
          </a:prstGeom>
          <a:noFill/>
          <a:ln/>
        </p:spPr>
        <p:txBody>
          <a:bodyPr wrap="square" lIns="0" tIns="0" rIns="0" bIns="0" rtlCol="0" anchor="ctr"/>
          <a:lstStyle/>
          <a:p>
            <a:pPr indent="0" marL="0">
              <a:buNone/>
            </a:pPr>
            <a:r>
              <a:rPr lang="en-US" sz="1800" b="1" dirty="0">
                <a:solidFill>
                  <a:schemeClr val="accent2"/>
                </a:solidFill>
                <a:latin typeface="Cambria" pitchFamily="34" charset="0"/>
                <a:ea typeface="Cambria" pitchFamily="34" charset="-122"/>
                <a:cs typeface="Cambria" pitchFamily="34" charset="-120"/>
              </a:rPr>
              <a:t>Lessons learned</a:t>
            </a:r>
            <a:endParaRPr lang="en-US" sz="1800" dirty="0"/>
          </a:p>
        </p:txBody>
      </p:sp>
      <p:sp>
        <p:nvSpPr>
          <p:cNvPr id="37" name="Text 29"/>
          <p:cNvSpPr txBox="1"/>
          <p:nvPr/>
        </p:nvSpPr>
        <p:spPr>
          <a:xfrm>
            <a:off x="8503920" y="2514600"/>
            <a:ext cx="2926080" cy="32461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2"/>
                </a:solidFill>
              </a:rPr>
              <a:t>DeBERTa loaded in float16 and turned every weight into NaN: force float32</a:t>
            </a:r>
            <a:endParaRPr lang="en-US" sz="1400" dirty="0"/>
          </a:p>
          <a:p>
            <a:pPr marL="342900" indent="-342900">
              <a:spcAft>
                <a:spcPts val="1000"/>
              </a:spcAft>
              <a:buSzPct val="100000"/>
              <a:buChar char="•"/>
            </a:pPr>
            <a:r>
              <a:rPr lang="en-US" sz="1400" dirty="0">
                <a:solidFill>
                  <a:schemeClr val="tx2"/>
                </a:solidFill>
              </a:rPr>
              <a:t>Apple GPUs recompile for each input length: pad to multiples of 64</a:t>
            </a:r>
            <a:endParaRPr lang="en-US" sz="1400" dirty="0"/>
          </a:p>
          <a:p>
            <a:pPr marL="342900" indent="-342900">
              <a:spcAft>
                <a:spcPts val="1000"/>
              </a:spcAft>
              <a:buSzPct val="100000"/>
              <a:buChar char="•"/>
            </a:pPr>
            <a:r>
              <a:rPr lang="en-US" sz="1400" dirty="0">
                <a:solidFill>
                  <a:schemeClr val="tx2"/>
                </a:solidFill>
              </a:rPr>
              <a:t>Public scrapes contain the benchmark: always de-duplicate</a:t>
            </a:r>
            <a:endParaRPr lang="en-US" sz="14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7315200" cy="320040"/>
          </a:xfrm>
          <a:prstGeom prst="rect">
            <a:avLst/>
          </a:prstGeom>
          <a:noFill/>
          <a:ln/>
        </p:spPr>
        <p:txBody>
          <a:bodyPr wrap="square" lIns="0" tIns="0" rIns="0" bIns="0" rtlCol="0"/>
          <a:lstStyle/>
          <a:p>
            <a:pPr indent="0" marL="0">
              <a:buNone/>
            </a:pPr>
            <a:r>
              <a:rPr lang="en-US" sz="1200" b="1" spc="200" kern="0" dirty="0">
                <a:solidFill>
                  <a:schemeClr val="bg2"/>
                </a:solidFill>
              </a:rPr>
              <a:t>NEXT STEPS</a:t>
            </a:r>
            <a:endParaRPr lang="en-US" sz="1200" dirty="0"/>
          </a:p>
        </p:txBody>
      </p:sp>
      <p:sp>
        <p:nvSpPr>
          <p:cNvPr id="3" name="Text 0"/>
          <p:cNvSpPr/>
          <p:nvPr>
            <p:ph idx="101" type="title" hasCustomPrompt="1"/>
          </p:nvPr>
        </p:nvSpPr>
        <p:spPr>
          <a:xfrm>
            <a:off x="548640" y="868680"/>
            <a:ext cx="10607040" cy="822960"/>
          </a:xfrm>
          <a:prstGeom prst="rect">
            <a:avLst/>
          </a:prstGeom>
          <a:noFill/>
          <a:ln/>
        </p:spPr>
        <p:txBody>
          <a:bodyPr wrap="square" lIns="0" tIns="0" rIns="0" bIns="0" rtlCol="0" anchor="t"/>
          <a:lstStyle/>
          <a:p>
            <a:pPr algn="l" indent="0" marL="0">
              <a:buNone/>
            </a:pPr>
            <a:r>
              <a:rPr lang="en-US" sz="3400" b="1" dirty="0">
                <a:solidFill>
                  <a:schemeClr val="bg1"/>
                </a:solidFill>
              </a:rPr>
              <a:t>What happens next</a:t>
            </a:r>
            <a:endParaRPr lang="en-US" sz="3400" dirty="0"/>
          </a:p>
        </p:txBody>
      </p:sp>
      <p:sp>
        <p:nvSpPr>
          <p:cNvPr id="4" name="Shape 2"/>
          <p:cNvSpPr/>
          <p:nvPr/>
        </p:nvSpPr>
        <p:spPr>
          <a:xfrm>
            <a:off x="548640" y="2011680"/>
            <a:ext cx="566928" cy="566928"/>
          </a:xfrm>
          <a:prstGeom prst="ellipse">
            <a:avLst/>
          </a:prstGeom>
          <a:solidFill>
            <a:schemeClr val="accent2"/>
          </a:solidFill>
          <a:ln/>
        </p:spPr>
      </p:sp>
      <p:pic>
        <p:nvPicPr>
          <p:cNvPr id="5" name="Image 0" descr="preencoded.png">    </p:cNvPr>
          <p:cNvPicPr>
            <a:picLocks noChangeAspect="1"/>
          </p:cNvPicPr>
          <p:nvPr/>
        </p:nvPicPr>
        <p:blipFill>
          <a:blip r:embed="rId1"/>
          <a:stretch>
            <a:fillRect/>
          </a:stretch>
        </p:blipFill>
        <p:spPr>
          <a:xfrm>
            <a:off x="690372" y="2153412"/>
            <a:ext cx="283464" cy="283464"/>
          </a:xfrm>
          <a:prstGeom prst="rect">
            <a:avLst/>
          </a:prstGeom>
        </p:spPr>
      </p:pic>
      <p:sp>
        <p:nvSpPr>
          <p:cNvPr id="6" name="Text 3"/>
          <p:cNvSpPr txBox="1"/>
          <p:nvPr/>
        </p:nvSpPr>
        <p:spPr>
          <a:xfrm>
            <a:off x="1325880" y="1993392"/>
            <a:ext cx="9875520" cy="603504"/>
          </a:xfrm>
          <a:prstGeom prst="rect">
            <a:avLst/>
          </a:prstGeom>
          <a:noFill/>
          <a:ln/>
        </p:spPr>
        <p:txBody>
          <a:bodyPr wrap="square" lIns="0" tIns="0" rIns="0" bIns="0" rtlCol="0" anchor="ctr"/>
          <a:lstStyle/>
          <a:p>
            <a:pPr indent="0" marL="0">
              <a:buNone/>
            </a:pPr>
            <a:r>
              <a:rPr lang="en-US" sz="1800" dirty="0">
                <a:solidFill>
                  <a:schemeClr val="bg1"/>
                </a:solidFill>
              </a:rPr>
              <a:t>Measure real energy on an ESP32-S3, a Raspberry Pi Zero 2 W and an INA219 current sensor</a:t>
            </a:r>
            <a:endParaRPr lang="en-US" sz="1800" dirty="0"/>
          </a:p>
        </p:txBody>
      </p:sp>
      <p:sp>
        <p:nvSpPr>
          <p:cNvPr id="7" name="Shape 4"/>
          <p:cNvSpPr/>
          <p:nvPr/>
        </p:nvSpPr>
        <p:spPr>
          <a:xfrm>
            <a:off x="548640" y="2926080"/>
            <a:ext cx="566928" cy="566928"/>
          </a:xfrm>
          <a:prstGeom prst="ellipse">
            <a:avLst/>
          </a:prstGeom>
          <a:solidFill>
            <a:schemeClr val="accent2"/>
          </a:solidFill>
          <a:ln/>
        </p:spPr>
      </p:sp>
      <p:pic>
        <p:nvPicPr>
          <p:cNvPr id="8" name="Image 1" descr="preencoded.png">    </p:cNvPr>
          <p:cNvPicPr>
            <a:picLocks noChangeAspect="1"/>
          </p:cNvPicPr>
          <p:nvPr/>
        </p:nvPicPr>
        <p:blipFill>
          <a:blip r:embed="rId2"/>
          <a:stretch>
            <a:fillRect/>
          </a:stretch>
        </p:blipFill>
        <p:spPr>
          <a:xfrm>
            <a:off x="690372" y="3067812"/>
            <a:ext cx="283464" cy="283464"/>
          </a:xfrm>
          <a:prstGeom prst="rect">
            <a:avLst/>
          </a:prstGeom>
        </p:spPr>
      </p:pic>
      <p:sp>
        <p:nvSpPr>
          <p:cNvPr id="9" name="Text 5"/>
          <p:cNvSpPr txBox="1"/>
          <p:nvPr/>
        </p:nvSpPr>
        <p:spPr>
          <a:xfrm>
            <a:off x="1325880" y="2907792"/>
            <a:ext cx="9875520" cy="603504"/>
          </a:xfrm>
          <a:prstGeom prst="rect">
            <a:avLst/>
          </a:prstGeom>
          <a:noFill/>
          <a:ln/>
        </p:spPr>
        <p:txBody>
          <a:bodyPr wrap="square" lIns="0" tIns="0" rIns="0" bIns="0" rtlCol="0" anchor="ctr"/>
          <a:lstStyle/>
          <a:p>
            <a:pPr indent="0" marL="0">
              <a:buNone/>
            </a:pPr>
            <a:r>
              <a:rPr lang="en-US" sz="1800" dirty="0">
                <a:solidFill>
                  <a:schemeClr val="bg1"/>
                </a:solidFill>
              </a:rPr>
              <a:t>Rerun the cascade and router on the cleaned data, with a stronger hub</a:t>
            </a:r>
            <a:endParaRPr lang="en-US" sz="1800" dirty="0"/>
          </a:p>
        </p:txBody>
      </p:sp>
      <p:sp>
        <p:nvSpPr>
          <p:cNvPr id="10" name="Shape 6"/>
          <p:cNvSpPr/>
          <p:nvPr/>
        </p:nvSpPr>
        <p:spPr>
          <a:xfrm>
            <a:off x="548640" y="3840480"/>
            <a:ext cx="566928" cy="566928"/>
          </a:xfrm>
          <a:prstGeom prst="ellipse">
            <a:avLst/>
          </a:prstGeom>
          <a:solidFill>
            <a:schemeClr val="accent2"/>
          </a:solidFill>
          <a:ln/>
        </p:spPr>
      </p:sp>
      <p:pic>
        <p:nvPicPr>
          <p:cNvPr id="11" name="Image 2" descr="preencoded.png">    </p:cNvPr>
          <p:cNvPicPr>
            <a:picLocks noChangeAspect="1"/>
          </p:cNvPicPr>
          <p:nvPr/>
        </p:nvPicPr>
        <p:blipFill>
          <a:blip r:embed="rId3"/>
          <a:stretch>
            <a:fillRect/>
          </a:stretch>
        </p:blipFill>
        <p:spPr>
          <a:xfrm>
            <a:off x="690372" y="3982212"/>
            <a:ext cx="283464" cy="283464"/>
          </a:xfrm>
          <a:prstGeom prst="rect">
            <a:avLst/>
          </a:prstGeom>
        </p:spPr>
      </p:pic>
      <p:sp>
        <p:nvSpPr>
          <p:cNvPr id="12" name="Text 7"/>
          <p:cNvSpPr txBox="1"/>
          <p:nvPr/>
        </p:nvSpPr>
        <p:spPr>
          <a:xfrm>
            <a:off x="1325880" y="3822192"/>
            <a:ext cx="9875520" cy="603504"/>
          </a:xfrm>
          <a:prstGeom prst="rect">
            <a:avLst/>
          </a:prstGeom>
          <a:noFill/>
          <a:ln/>
        </p:spPr>
        <p:txBody>
          <a:bodyPr wrap="square" lIns="0" tIns="0" rIns="0" bIns="0" rtlCol="0" anchor="ctr"/>
          <a:lstStyle/>
          <a:p>
            <a:pPr indent="0" marL="0">
              <a:buNone/>
            </a:pPr>
            <a:r>
              <a:rPr lang="en-US" sz="1800" dirty="0">
                <a:solidFill>
                  <a:schemeClr val="bg1"/>
                </a:solidFill>
              </a:rPr>
              <a:t>Repeat training with more seeds, and test on corrected IMDb labels</a:t>
            </a:r>
            <a:endParaRPr lang="en-US" sz="1800" dirty="0"/>
          </a:p>
        </p:txBody>
      </p:sp>
      <p:sp>
        <p:nvSpPr>
          <p:cNvPr id="13" name="Shape 8"/>
          <p:cNvSpPr/>
          <p:nvPr/>
        </p:nvSpPr>
        <p:spPr>
          <a:xfrm>
            <a:off x="548640" y="4754880"/>
            <a:ext cx="566928" cy="566928"/>
          </a:xfrm>
          <a:prstGeom prst="ellipse">
            <a:avLst/>
          </a:prstGeom>
          <a:solidFill>
            <a:schemeClr val="accent2"/>
          </a:solidFill>
          <a:ln/>
        </p:spPr>
      </p:sp>
      <p:pic>
        <p:nvPicPr>
          <p:cNvPr id="14" name="Image 3" descr="preencoded.png">    </p:cNvPr>
          <p:cNvPicPr>
            <a:picLocks noChangeAspect="1"/>
          </p:cNvPicPr>
          <p:nvPr/>
        </p:nvPicPr>
        <p:blipFill>
          <a:blip r:embed="rId4"/>
          <a:stretch>
            <a:fillRect/>
          </a:stretch>
        </p:blipFill>
        <p:spPr>
          <a:xfrm>
            <a:off x="690372" y="4896612"/>
            <a:ext cx="283464" cy="283464"/>
          </a:xfrm>
          <a:prstGeom prst="rect">
            <a:avLst/>
          </a:prstGeom>
        </p:spPr>
      </p:pic>
      <p:sp>
        <p:nvSpPr>
          <p:cNvPr id="15" name="Text 9"/>
          <p:cNvSpPr txBox="1"/>
          <p:nvPr/>
        </p:nvSpPr>
        <p:spPr>
          <a:xfrm>
            <a:off x="1325880" y="4736592"/>
            <a:ext cx="9875520" cy="603504"/>
          </a:xfrm>
          <a:prstGeom prst="rect">
            <a:avLst/>
          </a:prstGeom>
          <a:noFill/>
          <a:ln/>
        </p:spPr>
        <p:txBody>
          <a:bodyPr wrap="square" lIns="0" tIns="0" rIns="0" bIns="0" rtlCol="0" anchor="ctr"/>
          <a:lstStyle/>
          <a:p>
            <a:pPr indent="0" marL="0">
              <a:buNone/>
            </a:pPr>
            <a:r>
              <a:rPr lang="en-US" sz="1800" dirty="0">
                <a:solidFill>
                  <a:schemeClr val="bg1"/>
                </a:solidFill>
              </a:rPr>
              <a:t>Write up the paper and final review materials</a:t>
            </a:r>
            <a:endParaRPr lang="en-US" sz="1800" dirty="0"/>
          </a:p>
        </p:txBody>
      </p:sp>
      <p:sp>
        <p:nvSpPr>
          <p:cNvPr id="16" name="Text 10"/>
          <p:cNvSpPr txBox="1"/>
          <p:nvPr/>
        </p:nvSpPr>
        <p:spPr>
          <a:xfrm>
            <a:off x="548640" y="5806440"/>
            <a:ext cx="10515600" cy="457200"/>
          </a:xfrm>
          <a:prstGeom prst="rect">
            <a:avLst/>
          </a:prstGeom>
          <a:noFill/>
          <a:ln/>
        </p:spPr>
        <p:txBody>
          <a:bodyPr wrap="square" lIns="0" tIns="0" rIns="0" bIns="0" rtlCol="0" anchor="ctr"/>
          <a:lstStyle/>
          <a:p>
            <a:pPr indent="0" marL="0">
              <a:buNone/>
            </a:pPr>
            <a:r>
              <a:rPr lang="en-US" sz="1600" i="1" dirty="0">
                <a:solidFill>
                  <a:schemeClr val="bg2"/>
                </a:solidFill>
                <a:latin typeface="Cambria" pitchFamily="34" charset="0"/>
                <a:ea typeface="Cambria" pitchFamily="34" charset="-122"/>
                <a:cs typeface="Cambria" pitchFamily="34" charset="-120"/>
              </a:rPr>
              <a:t>Feedback on the energy framing and the record claim is welcome before the final write-up.</a:t>
            </a:r>
            <a:endParaRPr lang="en-US" sz="1600" dirty="0"/>
          </a:p>
        </p:txBody>
      </p:sp>
    </p:spTree>
  </p:cSld>
  <p:clrMapOvr>
    <a:masterClrMapping/>
  </p:clrMapOvr>
</p:sld>
</file>

<file path=ppt/theme/theme1.xml><?xml version="1.0" encoding="utf-8"?>
<a:theme xmlns:a="http://schemas.openxmlformats.org/drawingml/2006/main" name="Sentiment Edge">
  <a:themeElements>
    <a:clrScheme name="Sentiment Edge">
      <a:dk1>
        <a:srgbClr val="2E2A2C"/>
      </a:dk1>
      <a:lt1>
        <a:srgbClr val="FFFFFF"/>
      </a:lt1>
      <a:dk2>
        <a:srgbClr val="3A2E31"/>
      </a:dk2>
      <a:lt2>
        <a:srgbClr val="F7EFF1"/>
      </a:lt2>
      <a:accent1>
        <a:srgbClr val="9C7F89"/>
      </a:accent1>
      <a:accent2>
        <a:srgbClr val="8C4B57"/>
      </a:accent2>
      <a:accent3>
        <a:srgbClr val="4A5A50"/>
      </a:accent3>
      <a:accent4>
        <a:srgbClr val="D9E3DC"/>
      </a:accent4>
      <a:accent5>
        <a:srgbClr val="F3A9B7"/>
      </a:accent5>
      <a:accent6>
        <a:srgbClr val="8A7E80"/>
      </a:accent6>
      <a:hlink>
        <a:srgbClr val="8C4B57"/>
      </a:hlink>
      <a:folHlink>
        <a:srgbClr val="9C7F89"/>
      </a:folHlink>
    </a:clrScheme>
    <a:fontScheme name="Sentiment Ed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Energy-Aware Hybrid Sentiment Analysis: Project Update</dc:title>
  <dc:subject>PptxGenJS Presentation</dc:subject>
  <dc:creator>Ehsan Abdulkhader, Danyson Antony, Aditya Achar</dc:creator>
  <cp:lastModifiedBy>Ehsan Abdulkhader, Danyson Antony, Aditya Achar</cp:lastModifiedBy>
  <cp:revision>1</cp:revision>
  <dcterms:created xsi:type="dcterms:W3CDTF">2026-10-19T10:49:48Z</dcterms:created>
  <dcterms:modified xsi:type="dcterms:W3CDTF">2026-10-19T10:49:48Z</dcterms:modified>
</cp:coreProperties>
</file>