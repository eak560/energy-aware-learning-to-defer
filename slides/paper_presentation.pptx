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1.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2.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charts/chart3.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charts/chart4.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charts/chart5.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charts/chart6.xml" ContentType="application/vnd.openxmlformats-officedocument.drawingml.chart+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charts/chart7.xml" ContentType="application/vnd.openxmlformats-officedocument.drawingml.chart+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art 1: Problem, idea and data" id="{2e0879a4-03dc-145e-ca06-789ccc9ca503}">
          <p14:sldIdLst>
            <p14:sldId id="256"/>
            <p14:sldId id="257"/>
            <p14:sldId id="258"/>
            <p14:sldId id="259"/>
            <p14:sldId id="260"/>
            <p14:sldId id="261"/>
            <p14:sldId id="262"/>
            <p14:sldId id="263"/>
          </p14:sldIdLst>
        </p14:section>
        <p14:section name="Part 2: Models and learned deferral" id="{463350e3-aed3-0dd0-f6f7-7109d588f50c}">
          <p14:sldIdLst>
            <p14:sldId id="264"/>
            <p14:sldId id="265"/>
            <p14:sldId id="266"/>
            <p14:sldId id="267"/>
            <p14:sldId id="268"/>
            <p14:sldId id="269"/>
            <p14:sldId id="270"/>
          </p14:sldIdLst>
        </p14:section>
        <p14:section name="Part 3: Results, energy and conclusions" id="{dcec8374-5e37-e60d-aa7f-a5cbf59880a9}">
          <p14:sldIdLst>
            <p14:sldId id="271"/>
            <p14:sldId id="272"/>
            <p14:sldId id="273"/>
            <p14:sldId id="274"/>
            <p14:sldId id="275"/>
            <p14:sldId id="276"/>
            <p14:sldId id="27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Validation accuracy (%)</c:v>
                </c:pt>
              </c:strCache>
            </c:strRef>
          </c:tx>
          <c:spPr>
            <a:solidFill>
              <a:srgbClr val="4A5A50"/>
            </a:solidFill>
            <a:effectLst/>
          </c:spPr>
          <c:invertIfNegative val="0"/>
          <c:dLbls>
            <c:numFmt formatCode="0.00" sourceLinked="0"/>
            <c:txPr>
              <a:bodyPr/>
              <a:lstStyle/>
              <a:p>
                <a:pPr>
                  <a:defRPr b="0" i="0" strike="noStrike" sz="1200" u="none">
                    <a:solidFill>
                      <a:srgbClr val="3A2E31"/>
                    </a:solidFill>
                    <a:latin typeface="+mn-lt"/>
                  </a:defRPr>
                </a:pPr>
              </a:p>
            </c:txPr>
            <c:showLegendKey val="0"/>
            <c:showVal val="1"/>
            <c:showCatName val="0"/>
            <c:showSerName val="0"/>
            <c:showPercent val="0"/>
            <c:showBubbleSize val="0"/>
            <c:showLeaderLines val="0"/>
          </c:dLbls>
          <c:cat>
            <c:multiLvlStrRef>
              <c:f>Sheet1!$A$2:$A$6</c:f>
              <c:multiLvlStrCache>
                <c:ptCount val="5"/>
                <c:lvl>
                  <c:pt idx="0">
                    <c:v>20k</c:v>
                  </c:pt>
                  <c:pt idx="1">
                    <c:v>100k</c:v>
                  </c:pt>
                  <c:pt idx="2">
                    <c:v>300k</c:v>
                  </c:pt>
                  <c:pt idx="3">
                    <c:v>1M</c:v>
                  </c:pt>
                  <c:pt idx="4">
                    <c:v>1.94M</c:v>
                  </c:pt>
                </c:lvl>
              </c:multiLvlStrCache>
            </c:multiLvlStrRef>
          </c:cat>
          <c:val>
            <c:numRef>
              <c:f>Sheet1!$B$2:$B$6</c:f>
              <c:numCache>
                <c:formatCode>General</c:formatCode>
                <c:ptCount val="5"/>
                <c:pt idx="0">
                  <c:v>90.18</c:v>
                </c:pt>
                <c:pt idx="1">
                  <c:v>91.1</c:v>
                </c:pt>
                <c:pt idx="2">
                  <c:v>91.82</c:v>
                </c:pt>
                <c:pt idx="3">
                  <c:v>92.3</c:v>
                </c:pt>
                <c:pt idx="4">
                  <c:v>92.76</c:v>
                </c:pt>
              </c:numCache>
            </c:numRef>
          </c:val>
        </c:ser>
        <c:dLbls>
          <c:numFmt formatCode="0.00" sourceLinked="0"/>
          <c:txPr>
            <a:bodyPr/>
            <a:lstStyle/>
            <a:p>
              <a:pPr>
                <a:defRPr b="0" i="0" strike="noStrike" sz="1200" u="none">
                  <a:solidFill>
                    <a:srgbClr val="3A2E31"/>
                  </a:solidFill>
                  <a:latin typeface="+mn-lt"/>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title>
          <c:tx>
            <c:rich>
              <a:bodyPr/>
              <a:lstStyle/>
              <a:p>
                <a:pPr>
                  <a:defRPr sz="1200" b="0" i="0" u="none" strike="noStrike">
                    <a:solidFill>
                      <a:srgbClr val="8A7E80"/>
                    </a:solidFill>
                    <a:latin typeface="+mn-lt"/>
                  </a:defRPr>
                </a:pPr>
                <a:r>
                  <a:rPr sz="1200" b="0" i="0" u="none" strike="noStrike">
                    <a:solidFill>
                      <a:srgbClr val="8A7E80"/>
                    </a:solidFill>
                    <a:latin typeface="+mn-lt"/>
                  </a:rPr>
                  <a:t>Training reviews</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3A2E31"/>
                </a:solidFill>
                <a:latin typeface="+mn-lt"/>
              </a:defRPr>
            </a:pPr>
            <a:endParaRPr lang="en-US"/>
          </a:p>
        </c:txPr>
        <c:crossAx val="2094734552"/>
        <c:crosses val="autoZero"/>
        <c:auto val="1"/>
        <c:lblAlgn val="ctr"/>
        <c:noMultiLvlLbl val="1"/>
      </c:catAx>
      <c:valAx>
        <c:axId val="2094734552"/>
        <c:scaling>
          <c:orientation val="minMax"/>
          <c:max val="93.5"/>
          <c:min val="89"/>
        </c:scaling>
        <c:delete val="0"/>
        <c:axPos val="l"/>
        <c:majorGridlines>
          <c:spPr>
            <a:ln w="9525" cap="flat">
              <a:solidFill>
                <a:srgbClr val="E2D6D9"/>
              </a:solidFill>
              <a:prstDash val="solid"/>
              <a:round/>
            </a:ln>
          </c:spPr>
        </c:majorGridlines>
        <c:title>
          <c:tx>
            <c:rich>
              <a:bodyPr/>
              <a:lstStyle/>
              <a:p>
                <a:pPr>
                  <a:defRPr sz="1200" b="0" i="0" u="none" strike="noStrike">
                    <a:solidFill>
                      <a:srgbClr val="8A7E80"/>
                    </a:solidFill>
                    <a:latin typeface="+mn-lt"/>
                  </a:defRPr>
                </a:pPr>
                <a:r>
                  <a:rPr sz="1200" b="0" i="0" u="none" strike="noStrike">
                    <a:solidFill>
                      <a:srgbClr val="8A7E80"/>
                    </a:solidFill>
                    <a:latin typeface="+mn-lt"/>
                  </a:rPr>
                  <a:t>Validation accuracy (%)</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8A7E80"/>
                </a:solidFill>
                <a:latin typeface="+mn-lt"/>
              </a:defRPr>
            </a:pPr>
            <a:endParaRPr lang="en-US"/>
          </a:p>
        </c:txPr>
        <c:crossAx val="2094734554"/>
        <c:crosses val="autoZero"/>
        <c:crossBetween val="between"/>
        <c:majorUnit val="1"/>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Test accuracy (%)</c:v>
                </c:pt>
              </c:strCache>
            </c:strRef>
          </c:tx>
          <c:spPr>
            <a:solidFill>
              <a:srgbClr val="9C7F89"/>
            </a:solidFill>
            <a:effectLst/>
          </c:spPr>
          <c:invertIfNegative val="0"/>
          <c:dLbls>
            <c:numFmt formatCode="0.00" sourceLinked="0"/>
            <c:txPr>
              <a:bodyPr/>
              <a:lstStyle/>
              <a:p>
                <a:pPr>
                  <a:defRPr b="0" i="0" strike="noStrike" sz="1200" u="none">
                    <a:solidFill>
                      <a:srgbClr val="3A2E31"/>
                    </a:solidFill>
                    <a:latin typeface="+mn-lt"/>
                  </a:defRPr>
                </a:pPr>
              </a:p>
            </c:txPr>
            <c:showLegendKey val="0"/>
            <c:showVal val="1"/>
            <c:showCatName val="0"/>
            <c:showSerName val="0"/>
            <c:showPercent val="0"/>
            <c:showBubbleSize val="0"/>
            <c:showLeaderLines val="0"/>
          </c:dLbls>
          <c:dPt>
            <c:idx val="0"/>
            <c:invertIfNegative val="0"/>
            <c:bubble3D val="0"/>
            <c:spPr>
              <a:solidFill>
                <a:srgbClr val="9C7F89"/>
              </a:solidFill>
              <a:effectLst/>
            </c:spPr>
          </c:dPt>
          <c:dPt>
            <c:idx val="1"/>
            <c:invertIfNegative val="0"/>
            <c:bubble3D val="0"/>
            <c:spPr>
              <a:solidFill>
                <a:srgbClr val="4A5A50"/>
              </a:solidFill>
              <a:effectLst/>
            </c:spPr>
          </c:dPt>
          <c:dPt>
            <c:idx val="2"/>
            <c:invertIfNegative val="0"/>
            <c:bubble3D val="0"/>
            <c:spPr>
              <a:solidFill>
                <a:srgbClr val="9C7F89"/>
              </a:solidFill>
              <a:effectLst/>
            </c:spPr>
          </c:dPt>
          <c:dPt>
            <c:idx val="3"/>
            <c:invertIfNegative val="0"/>
            <c:bubble3D val="0"/>
            <c:spPr>
              <a:solidFill>
                <a:srgbClr val="8C4B57"/>
              </a:solidFill>
              <a:effectLst/>
            </c:spPr>
          </c:dPt>
          <c:dPt>
            <c:idx val="4"/>
            <c:invertIfNegative val="0"/>
            <c:bubble3D val="0"/>
            <c:spPr>
              <a:solidFill>
                <a:srgbClr val="8C4B57"/>
              </a:solidFill>
              <a:effectLst/>
            </c:spPr>
          </c:dPt>
          <c:dPt>
            <c:idx val="5"/>
            <c:invertIfNegative val="0"/>
            <c:bubble3D val="0"/>
            <c:spPr>
              <a:solidFill>
                <a:srgbClr val="B9AEB1"/>
              </a:solidFill>
              <a:effectLst/>
            </c:spPr>
          </c:dPt>
          <c:cat>
            <c:multiLvlStrRef>
              <c:f>Sheet1!$A$2:$A$7</c:f>
              <c:multiLvlStrCache>
                <c:ptCount val="6"/>
                <c:lvl>
                  <c:pt idx="0">
                    <c:v>TF-IDF + LR (20k)</c:v>
                  </c:pt>
                  <c:pt idx="1">
                    <c:v>Device, 256 KB</c:v>
                  </c:pt>
                  <c:pt idx="2">
                    <c:v>DistilBERT, 20k</c:v>
                  </c:pt>
                  <c:pt idx="3">
                    <c:v>DistilBERT, +1M</c:v>
                  </c:pt>
                  <c:pt idx="4">
                    <c:v>RoBERTa-base, +1M</c:v>
                  </c:pt>
                  <c:pt idx="5">
                    <c:v>Ensemble, +1M</c:v>
                  </c:pt>
                </c:lvl>
              </c:multiLvlStrCache>
            </c:multiLvlStrRef>
          </c:cat>
          <c:val>
            <c:numRef>
              <c:f>Sheet1!$B$2:$B$7</c:f>
              <c:numCache>
                <c:formatCode>General</c:formatCode>
                <c:ptCount val="6"/>
                <c:pt idx="0">
                  <c:v>90.28</c:v>
                </c:pt>
                <c:pt idx="1">
                  <c:v>92.69</c:v>
                </c:pt>
                <c:pt idx="2">
                  <c:v>93.51</c:v>
                </c:pt>
                <c:pt idx="3">
                  <c:v>95.83</c:v>
                </c:pt>
                <c:pt idx="4">
                  <c:v>96.72</c:v>
                </c:pt>
                <c:pt idx="5">
                  <c:v>97.4</c:v>
                </c:pt>
              </c:numCache>
            </c:numRef>
          </c:val>
        </c:ser>
        <c:dLbls>
          <c:numFmt formatCode="0.00" sourceLinked="0"/>
          <c:txPr>
            <a:bodyPr/>
            <a:lstStyle/>
            <a:p>
              <a:pPr>
                <a:defRPr b="0" i="0" strike="noStrike" sz="1200" u="none">
                  <a:solidFill>
                    <a:srgbClr val="3A2E31"/>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3A2E31"/>
                </a:solidFill>
                <a:latin typeface="+mn-lt"/>
              </a:defRPr>
            </a:pPr>
            <a:endParaRPr lang="en-US"/>
          </a:p>
        </c:txPr>
        <c:crossAx val="2094734552"/>
        <c:crosses val="autoZero"/>
        <c:auto val="1"/>
        <c:lblAlgn val="ctr"/>
        <c:noMultiLvlLbl val="1"/>
      </c:catAx>
      <c:valAx>
        <c:axId val="2094734552"/>
        <c:scaling>
          <c:orientation val="minMax"/>
          <c:max val="98"/>
          <c:min val="88"/>
        </c:scaling>
        <c:delete val="0"/>
        <c:axPos val="b"/>
        <c:majorGridlines>
          <c:spPr>
            <a:ln w="9525" cap="flat">
              <a:solidFill>
                <a:srgbClr val="E2D6D9"/>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8A7E80"/>
                </a:solidFill>
                <a:latin typeface="+mn-lt"/>
              </a:defRPr>
            </a:pPr>
            <a:endParaRPr lang="en-US"/>
          </a:p>
        </c:txPr>
        <c:crossAx val="2094734554"/>
        <c:crosses val="autoZero"/>
        <c:crossBetween val="between"/>
        <c:majorUnit val="2"/>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Cost (USD)</c:v>
                </c:pt>
              </c:strCache>
            </c:strRef>
          </c:tx>
          <c:spPr>
            <a:solidFill>
              <a:srgbClr val="B9AEB1"/>
            </a:solidFill>
            <a:effectLst/>
          </c:spPr>
          <c:invertIfNegative val="0"/>
          <c:dLbls>
            <c:numFmt formatCode="&quot;$&quot;0.00" sourceLinked="0"/>
            <c:txPr>
              <a:bodyPr/>
              <a:lstStyle/>
              <a:p>
                <a:pPr>
                  <a:defRPr b="0" i="0" strike="noStrike" sz="1200" u="none">
                    <a:solidFill>
                      <a:srgbClr val="3A2E31"/>
                    </a:solidFill>
                    <a:latin typeface="+mn-lt"/>
                  </a:defRPr>
                </a:pPr>
              </a:p>
            </c:txPr>
            <c:showLegendKey val="0"/>
            <c:showVal val="1"/>
            <c:showCatName val="0"/>
            <c:showSerName val="0"/>
            <c:showPercent val="0"/>
            <c:showBubbleSize val="0"/>
            <c:showLeaderLines val="0"/>
          </c:dLbls>
          <c:dPt>
            <c:idx val="0"/>
            <c:invertIfNegative val="0"/>
            <c:bubble3D val="0"/>
            <c:spPr>
              <a:solidFill>
                <a:srgbClr val="B9AEB1"/>
              </a:solidFill>
              <a:effectLst/>
            </c:spPr>
          </c:dPt>
          <c:dPt>
            <c:idx val="1"/>
            <c:invertIfNegative val="0"/>
            <c:bubble3D val="0"/>
            <c:spPr>
              <a:solidFill>
                <a:srgbClr val="B9AEB1"/>
              </a:solidFill>
              <a:effectLst/>
            </c:spPr>
          </c:dPt>
          <c:dPt>
            <c:idx val="2"/>
            <c:invertIfNegative val="0"/>
            <c:bubble3D val="0"/>
            <c:spPr>
              <a:solidFill>
                <a:srgbClr val="B9AEB1"/>
              </a:solidFill>
              <a:effectLst/>
            </c:spPr>
          </c:dPt>
          <c:dPt>
            <c:idx val="3"/>
            <c:invertIfNegative val="0"/>
            <c:bubble3D val="0"/>
            <c:spPr>
              <a:solidFill>
                <a:srgbClr val="8C4B57"/>
              </a:solidFill>
              <a:effectLst/>
            </c:spPr>
          </c:dPt>
          <c:dPt>
            <c:idx val="4"/>
            <c:invertIfNegative val="0"/>
            <c:bubble3D val="0"/>
            <c:spPr>
              <a:solidFill>
                <a:srgbClr val="8C4B57"/>
              </a:solidFill>
              <a:effectLst/>
            </c:spPr>
          </c:dPt>
          <c:dPt>
            <c:idx val="5"/>
            <c:invertIfNegative val="0"/>
            <c:bubble3D val="0"/>
            <c:spPr>
              <a:solidFill>
                <a:srgbClr val="B9AEB1"/>
              </a:solidFill>
              <a:effectLst/>
            </c:spPr>
          </c:dPt>
          <c:dPt>
            <c:idx val="6"/>
            <c:invertIfNegative val="0"/>
            <c:bubble3D val="0"/>
            <c:spPr>
              <a:solidFill>
                <a:srgbClr val="B9AEB1"/>
              </a:solidFill>
              <a:effectLst/>
            </c:spPr>
          </c:dPt>
          <c:dPt>
            <c:idx val="7"/>
            <c:invertIfNegative val="0"/>
            <c:bubble3D val="0"/>
            <c:spPr>
              <a:solidFill>
                <a:srgbClr val="B9AEB1"/>
              </a:solidFill>
              <a:effectLst/>
            </c:spPr>
          </c:dPt>
          <c:cat>
            <c:multiLvlStrRef>
              <c:f>Sheet1!$A$2:$A$9</c:f>
              <c:multiLvlStrCache>
                <c:ptCount val="8"/>
                <c:lvl>
                  <c:pt idx="0">
                    <c:v>DeBERTa-v3-large, 1M</c:v>
                  </c:pt>
                  <c:pt idx="1">
                    <c:v>RoBERTa-large, 1M</c:v>
                  </c:pt>
                  <c:pt idx="2">
                    <c:v>ELECTRA-large, 1M</c:v>
                  </c:pt>
                  <c:pt idx="3">
                    <c:v>RoBERTa-base hub, 1M</c:v>
                  </c:pt>
                  <c:pt idx="4">
                    <c:v>DistilBERT hub, 1M</c:v>
                  </c:pt>
                  <c:pt idx="5">
                    <c:v>Long-review predictions</c:v>
                  </c:pt>
                  <c:pt idx="6">
                    <c:v>RoBERTa-large, 20k</c:v>
                  </c:pt>
                  <c:pt idx="7">
                    <c:v>Tokenising, upload, other</c:v>
                  </c:pt>
                </c:lvl>
              </c:multiLvlStrCache>
            </c:multiLvlStrRef>
          </c:cat>
          <c:val>
            <c:numRef>
              <c:f>Sheet1!$B$2:$B$9</c:f>
              <c:numCache>
                <c:formatCode>General</c:formatCode>
                <c:ptCount val="8"/>
                <c:pt idx="0">
                  <c:v>9.03</c:v>
                </c:pt>
                <c:pt idx="1">
                  <c:v>3.71</c:v>
                </c:pt>
                <c:pt idx="2">
                  <c:v>3.68</c:v>
                </c:pt>
                <c:pt idx="3">
                  <c:v>1.64</c:v>
                </c:pt>
                <c:pt idx="4">
                  <c:v>0.91</c:v>
                </c:pt>
                <c:pt idx="5">
                  <c:v>0.63</c:v>
                </c:pt>
                <c:pt idx="6">
                  <c:v>0.43</c:v>
                </c:pt>
                <c:pt idx="7">
                  <c:v>0.27</c:v>
                </c:pt>
              </c:numCache>
            </c:numRef>
          </c:val>
        </c:ser>
        <c:dLbls>
          <c:numFmt formatCode="&quot;$&quot;0.00" sourceLinked="0"/>
          <c:txPr>
            <a:bodyPr/>
            <a:lstStyle/>
            <a:p>
              <a:pPr>
                <a:defRPr b="0" i="0" strike="noStrike" sz="1200" u="none">
                  <a:solidFill>
                    <a:srgbClr val="3A2E31"/>
                  </a:solidFill>
                  <a:latin typeface="+mn-lt"/>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3A2E31"/>
                </a:solidFill>
                <a:latin typeface="+mn-lt"/>
              </a:defRPr>
            </a:pPr>
            <a:endParaRPr lang="en-US"/>
          </a:p>
        </c:txPr>
        <c:crossAx val="2094734552"/>
        <c:crosses val="autoZero"/>
        <c:auto val="1"/>
        <c:lblAlgn val="ctr"/>
        <c:noMultiLvlLbl val="1"/>
      </c:catAx>
      <c:valAx>
        <c:axId val="2094734552"/>
        <c:scaling>
          <c:orientation val="minMax"/>
          <c:max val="10"/>
          <c:min val="0"/>
        </c:scaling>
        <c:delete val="0"/>
        <c:axPos val="b"/>
        <c:majorGridlines>
          <c:spPr>
            <a:ln w="9525" cap="flat">
              <a:solidFill>
                <a:srgbClr val="E2D6D9"/>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8A7E80"/>
                </a:solidFill>
                <a:latin typeface="+mn-lt"/>
              </a:defRPr>
            </a:pPr>
            <a:endParaRPr lang="en-US"/>
          </a:p>
        </c:txPr>
        <c:crossAx val="2094734554"/>
        <c:crosses val="autoZero"/>
        <c:crossBetween val="between"/>
        <c:majorUnit val="2"/>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500" b="0" i="0" u="none" strike="noStrike">
                <a:solidFill>
                  <a:srgbClr val="3A2E31"/>
                </a:solidFill>
                <a:latin typeface="+mn-lt"/>
              </a:defRPr>
            </a:pPr>
            <a:r>
              <a:rPr sz="1500" b="0" i="0" u="none" strike="noStrike">
                <a:solidFill>
                  <a:srgbClr val="3A2E31"/>
                </a:solidFill>
                <a:latin typeface="+mn-lt"/>
              </a:rPr>
              <a:t>The 2,625 reviews sent</a:t>
            </a:r>
          </a:p>
        </c:rich>
      </c:tx>
      <c:layout/>
      <c:overlay val="0"/>
    </c:title>
    <c:autoTitleDeleted val="0"/>
    <c:plotArea>
      <c:layout/>
      <c:doughnutChart>
        <c:varyColors val="1"/>
        <c:ser>
          <c:idx val="0"/>
          <c:order val="0"/>
          <c:tx>
            <c:strRef>
              <c:f>Sheet1!$B$1</c:f>
              <c:strCache>
                <c:ptCount val="1"/>
                <c:pt idx="0">
                  <c:v>The 2,625 reviews sent</c:v>
                </c:pt>
              </c:strCache>
            </c:strRef>
          </c:tx>
          <c:spPr>
            <a:solidFill>
              <a:schemeClr val="accent1"/>
            </a:solidFill>
            <a:ln w="9525" cap="flat">
              <a:solidFill>
                <a:srgbClr val="F9F9F9"/>
              </a:solidFill>
              <a:prstDash val="solid"/>
              <a:round/>
            </a:ln>
            <a:effectLst/>
          </c:spPr>
          <c:dPt>
            <c:idx val="0"/>
            <c:bubble3D val="0"/>
            <c:spPr>
              <a:solidFill>
                <a:srgbClr val="4A5A50"/>
              </a:solidFill>
              <a:effectLst/>
            </c:spPr>
          </c:dPt>
          <c:dPt>
            <c:idx val="1"/>
            <c:bubble3D val="0"/>
            <c:spPr>
              <a:solidFill>
                <a:srgbClr val="8C4B57"/>
              </a:solidFill>
              <a:effectLst/>
            </c:spPr>
          </c:dPt>
          <c:dPt>
            <c:idx val="2"/>
            <c:bubble3D val="0"/>
            <c:spPr>
              <a:solidFill>
                <a:srgbClr val="B9AEB1"/>
              </a:solidFill>
              <a:effectLst/>
            </c:spPr>
          </c:dPt>
          <c:dPt>
            <c:idx val="3"/>
            <c:bubble3D val="0"/>
            <c:spPr>
              <a:solidFill>
                <a:srgbClr val="9C7F89"/>
              </a:solidFill>
              <a:effectLst/>
            </c:spPr>
          </c:dPt>
          <c:dLbls>
            <c:dLbl>
              <c:idx val="0"/>
              <c:numFmt formatCode="General" sourceLinked="0"/>
              <c:spPr/>
              <c:txPr>
                <a:bodyPr/>
                <a:lstStyle/>
                <a:p>
                  <a:pPr>
                    <a:defRPr sz="1200" b="0" i="0" u="none" strike="noStrike">
                      <a:solidFill>
                        <a:srgbClr val="3A2E31"/>
                      </a:solidFill>
                      <a:latin typeface="+mn-lt"/>
                    </a:defRPr>
                  </a:pPr>
                </a:p>
              </c:txPr>
              <c:showLegendKey val="0"/>
              <c:showVal val="0"/>
              <c:showCatName val="0"/>
              <c:showSerName val="0"/>
              <c:showPercent val="0"/>
              <c:showBubbleSize val="0"/>
            </c:dLbl>
            <c:dLbl>
              <c:idx val="1"/>
              <c:numFmt formatCode="General" sourceLinked="0"/>
              <c:spPr/>
              <c:txPr>
                <a:bodyPr/>
                <a:lstStyle/>
                <a:p>
                  <a:pPr>
                    <a:defRPr sz="1200" b="0" i="0" u="none" strike="noStrike">
                      <a:solidFill>
                        <a:srgbClr val="3A2E31"/>
                      </a:solidFill>
                      <a:latin typeface="+mn-lt"/>
                    </a:defRPr>
                  </a:pPr>
                </a:p>
              </c:txPr>
              <c:showLegendKey val="0"/>
              <c:showVal val="0"/>
              <c:showCatName val="0"/>
              <c:showSerName val="0"/>
              <c:showPercent val="0"/>
              <c:showBubbleSize val="0"/>
            </c:dLbl>
            <c:dLbl>
              <c:idx val="2"/>
              <c:numFmt formatCode="General" sourceLinked="0"/>
              <c:spPr/>
              <c:txPr>
                <a:bodyPr/>
                <a:lstStyle/>
                <a:p>
                  <a:pPr>
                    <a:defRPr sz="1200" b="0" i="0" u="none" strike="noStrike">
                      <a:solidFill>
                        <a:srgbClr val="3A2E31"/>
                      </a:solidFill>
                      <a:latin typeface="+mn-lt"/>
                    </a:defRPr>
                  </a:pPr>
                </a:p>
              </c:txPr>
              <c:showLegendKey val="0"/>
              <c:showVal val="0"/>
              <c:showCatName val="0"/>
              <c:showSerName val="0"/>
              <c:showPercent val="0"/>
              <c:showBubbleSize val="0"/>
            </c:dLbl>
            <c:dLbl>
              <c:idx val="3"/>
              <c:numFmt formatCode="General" sourceLinked="0"/>
              <c:spPr/>
              <c:txPr>
                <a:bodyPr/>
                <a:lstStyle/>
                <a:p>
                  <a:pPr>
                    <a:defRPr sz="1200" b="0" i="0" u="none" strike="noStrike">
                      <a:solidFill>
                        <a:srgbClr val="3A2E31"/>
                      </a:solidFill>
                      <a:latin typeface="+mn-lt"/>
                    </a:defRPr>
                  </a:pPr>
                </a:p>
              </c:txPr>
              <c:showLegendKey val="0"/>
              <c:showVal val="0"/>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Sheet1!$A$2:$A$5</c:f>
              <c:strCache>
                <c:ptCount val="4"/>
                <c:pt idx="0">
                  <c:v>Hub fixes: 832</c:v>
                </c:pt>
                <c:pt idx="1">
                  <c:v>Hub breaks: 127</c:v>
                </c:pt>
                <c:pt idx="2">
                  <c:v>Already right: 1,522</c:v>
                </c:pt>
                <c:pt idx="3">
                  <c:v>Wrong either way: 144</c:v>
                </c:pt>
              </c:strCache>
            </c:strRef>
          </c:cat>
          <c:val>
            <c:numRef>
              <c:f>Sheet1!$B$2:$B$5</c:f>
              <c:numCache>
                <c:ptCount val="4"/>
                <c:pt idx="0">
                  <c:v>832</c:v>
                </c:pt>
                <c:pt idx="1">
                  <c:v>127</c:v>
                </c:pt>
                <c:pt idx="2">
                  <c:v>1522</c:v>
                </c:pt>
                <c:pt idx="3">
                  <c:v>144</c:v>
                </c:pt>
              </c:numCache>
            </c:numRef>
          </c:val>
        </c:ser>
        <c:firstSliceAng val="0"/>
        <c:holeSize val="55"/>
      </c:doughnutChart>
      <c:spPr>
        <a:noFill/>
        <a:ln>
          <a:noFill/>
        </a:ln>
        <a:effectLst/>
      </c:spPr>
    </c:plotArea>
    <c:legend>
      <c:legendPos val="r"/>
      <c:overlay val="0"/>
      <c:txPr>
        <a:bodyPr/>
        <a:lstStyle/>
        <a:p>
          <a:pPr>
            <a:defRPr sz="1300">
              <a:solidFill>
                <a:srgbClr val="3A2E31"/>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Confidence routing</c:v>
                </c:pt>
              </c:strCache>
            </c:strRef>
          </c:tx>
          <c:spPr>
            <a:solidFill>
              <a:srgbClr val="8C4B57"/>
            </a:solidFill>
            <a:ln w="34925" cap="flat">
              <a:solidFill>
                <a:srgbClr val="8C4B57"/>
              </a:solidFill>
              <a:prstDash val="solid"/>
              <a:round/>
            </a:ln>
            <a:effectLst/>
          </c:spPr>
          <c:invertIfNegative val="0"/>
          <c:dLbls>
            <c:numFmt formatCode="#,##0" sourceLinked="0"/>
            <c:txPr>
              <a:bodyPr/>
              <a:lstStyle/>
              <a:p>
                <a:pPr>
                  <a:defRPr b="0" i="0" strike="noStrike" sz="1200" u="none">
                    <a:solidFill>
                      <a:srgbClr val="3A2E31"/>
                    </a:solidFill>
                    <a:latin typeface="+mn-lt"/>
                  </a:defRPr>
                </a:pPr>
              </a:p>
            </c:txPr>
            <c:showLegendKey val="0"/>
            <c:showVal val="0"/>
            <c:showCatName val="0"/>
            <c:showSerName val="0"/>
            <c:showPercent val="0"/>
            <c:showBubbleSize val="0"/>
            <c:showLeaderLines val="0"/>
          </c:dLbls>
          <c:marker>
            <c:symbol val="none"/>
            <c:size val="6"/>
            <c:spPr>
              <a:solidFill>
                <a:srgbClr val="8C4B57"/>
              </a:solidFill>
              <a:ln w="9525" cap="flat">
                <a:solidFill>
                  <a:srgbClr val="8C4B57"/>
                </a:solidFill>
                <a:prstDash val="solid"/>
                <a:round/>
              </a:ln>
              <a:effectLst/>
            </c:spPr>
          </c:marker>
          <c:cat>
            <c:multiLvlStrRef>
              <c:f>Sheet1!$A$2:$A$62</c:f>
              <c:multiLvlStrCache>
                <c:ptCount val="61"/>
                <c:lvl>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pt idx="42">
                    <c:v>42</c:v>
                  </c:pt>
                  <c:pt idx="43">
                    <c:v>43</c:v>
                  </c:pt>
                  <c:pt idx="44">
                    <c:v>44</c:v>
                  </c:pt>
                  <c:pt idx="45">
                    <c:v>45</c:v>
                  </c:pt>
                  <c:pt idx="46">
                    <c:v>46</c:v>
                  </c:pt>
                  <c:pt idx="47">
                    <c:v>47</c:v>
                  </c:pt>
                  <c:pt idx="48">
                    <c:v>48</c:v>
                  </c:pt>
                  <c:pt idx="49">
                    <c:v>49</c:v>
                  </c:pt>
                  <c:pt idx="50">
                    <c:v>50</c:v>
                  </c:pt>
                  <c:pt idx="51">
                    <c:v>51</c:v>
                  </c:pt>
                  <c:pt idx="52">
                    <c:v>52</c:v>
                  </c:pt>
                  <c:pt idx="53">
                    <c:v>53</c:v>
                  </c:pt>
                  <c:pt idx="54">
                    <c:v>54</c:v>
                  </c:pt>
                  <c:pt idx="55">
                    <c:v>55</c:v>
                  </c:pt>
                  <c:pt idx="56">
                    <c:v>56</c:v>
                  </c:pt>
                  <c:pt idx="57">
                    <c:v>57</c:v>
                  </c:pt>
                  <c:pt idx="58">
                    <c:v>58</c:v>
                  </c:pt>
                  <c:pt idx="59">
                    <c:v>59</c:v>
                  </c:pt>
                  <c:pt idx="60">
                    <c:v>60</c:v>
                  </c:pt>
                </c:lvl>
              </c:multiLvlStrCache>
            </c:multiLvlStrRef>
          </c:cat>
          <c:val>
            <c:numRef>
              <c:f>Sheet1!$B$2:$B$62</c:f>
              <c:numCache>
                <c:formatCode>General</c:formatCode>
                <c:ptCount val="61"/>
                <c:pt idx="0">
                  <c:v>92.316</c:v>
                </c:pt>
                <c:pt idx="1">
                  <c:v>92.652</c:v>
                </c:pt>
                <c:pt idx="2">
                  <c:v>93.016</c:v>
                </c:pt>
                <c:pt idx="3">
                  <c:v>93.348</c:v>
                </c:pt>
                <c:pt idx="4">
                  <c:v>93.648</c:v>
                </c:pt>
                <c:pt idx="5">
                  <c:v>93.964</c:v>
                </c:pt>
                <c:pt idx="6">
                  <c:v>94.18</c:v>
                </c:pt>
                <c:pt idx="7">
                  <c:v>94.476</c:v>
                </c:pt>
                <c:pt idx="8">
                  <c:v>94.68</c:v>
                </c:pt>
                <c:pt idx="9">
                  <c:v>94.904</c:v>
                </c:pt>
                <c:pt idx="10">
                  <c:v>95.068</c:v>
                </c:pt>
                <c:pt idx="11">
                  <c:v>95.204</c:v>
                </c:pt>
                <c:pt idx="12">
                  <c:v>95.348</c:v>
                </c:pt>
                <c:pt idx="13">
                  <c:v>95.52</c:v>
                </c:pt>
                <c:pt idx="14">
                  <c:v>95.664</c:v>
                </c:pt>
                <c:pt idx="15">
                  <c:v>95.752</c:v>
                </c:pt>
                <c:pt idx="16">
                  <c:v>95.812</c:v>
                </c:pt>
                <c:pt idx="17">
                  <c:v>95.896</c:v>
                </c:pt>
                <c:pt idx="18">
                  <c:v>95.972</c:v>
                </c:pt>
                <c:pt idx="19">
                  <c:v>96.004</c:v>
                </c:pt>
                <c:pt idx="20">
                  <c:v>96.068</c:v>
                </c:pt>
                <c:pt idx="21">
                  <c:v>96.14</c:v>
                </c:pt>
                <c:pt idx="22">
                  <c:v>96.192</c:v>
                </c:pt>
                <c:pt idx="23">
                  <c:v>96.248</c:v>
                </c:pt>
                <c:pt idx="24">
                  <c:v>96.312</c:v>
                </c:pt>
                <c:pt idx="25">
                  <c:v>96.356</c:v>
                </c:pt>
                <c:pt idx="26">
                  <c:v>96.396</c:v>
                </c:pt>
                <c:pt idx="27">
                  <c:v>96.42</c:v>
                </c:pt>
                <c:pt idx="28">
                  <c:v>96.448</c:v>
                </c:pt>
                <c:pt idx="29">
                  <c:v>96.492</c:v>
                </c:pt>
                <c:pt idx="30">
                  <c:v>96.5</c:v>
                </c:pt>
                <c:pt idx="31">
                  <c:v>96.52</c:v>
                </c:pt>
                <c:pt idx="32">
                  <c:v>96.548</c:v>
                </c:pt>
                <c:pt idx="33">
                  <c:v>96.56</c:v>
                </c:pt>
                <c:pt idx="34">
                  <c:v>96.564</c:v>
                </c:pt>
                <c:pt idx="35">
                  <c:v>96.58</c:v>
                </c:pt>
                <c:pt idx="36">
                  <c:v>96.588</c:v>
                </c:pt>
                <c:pt idx="37">
                  <c:v>96.6</c:v>
                </c:pt>
                <c:pt idx="38">
                  <c:v>96.616</c:v>
                </c:pt>
                <c:pt idx="39">
                  <c:v>96.616</c:v>
                </c:pt>
                <c:pt idx="40">
                  <c:v>96.628</c:v>
                </c:pt>
                <c:pt idx="41">
                  <c:v>96.64</c:v>
                </c:pt>
                <c:pt idx="42">
                  <c:v>96.648</c:v>
                </c:pt>
                <c:pt idx="43">
                  <c:v>96.664</c:v>
                </c:pt>
                <c:pt idx="44">
                  <c:v>96.668</c:v>
                </c:pt>
                <c:pt idx="45">
                  <c:v>96.68</c:v>
                </c:pt>
                <c:pt idx="46">
                  <c:v>96.684</c:v>
                </c:pt>
                <c:pt idx="47">
                  <c:v>96.692</c:v>
                </c:pt>
                <c:pt idx="48">
                  <c:v>96.688</c:v>
                </c:pt>
                <c:pt idx="49">
                  <c:v>96.684</c:v>
                </c:pt>
                <c:pt idx="50">
                  <c:v>96.692</c:v>
                </c:pt>
                <c:pt idx="51">
                  <c:v>96.696</c:v>
                </c:pt>
                <c:pt idx="52">
                  <c:v>96.688</c:v>
                </c:pt>
                <c:pt idx="53">
                  <c:v>96.684</c:v>
                </c:pt>
                <c:pt idx="54">
                  <c:v>96.688</c:v>
                </c:pt>
                <c:pt idx="55">
                  <c:v>96.696</c:v>
                </c:pt>
                <c:pt idx="56">
                  <c:v>96.696</c:v>
                </c:pt>
                <c:pt idx="57">
                  <c:v>96.696</c:v>
                </c:pt>
                <c:pt idx="58">
                  <c:v>96.684</c:v>
                </c:pt>
                <c:pt idx="59">
                  <c:v>96.684</c:v>
                </c:pt>
                <c:pt idx="60">
                  <c:v>96.684</c:v>
                </c:pt>
              </c:numCache>
            </c:numRef>
          </c:val>
          <c:smooth val="0"/>
        </c:ser>
        <c:ser>
          <c:idx val="1"/>
          <c:order val="1"/>
          <c:tx>
            <c:strRef>
              <c:f>Sheet1!$C$1</c:f>
              <c:strCache>
                <c:ptCount val="1"/>
                <c:pt idx="0">
                  <c:v>Hub alone</c:v>
                </c:pt>
              </c:strCache>
            </c:strRef>
          </c:tx>
          <c:spPr>
            <a:solidFill>
              <a:srgbClr val="9C7F89"/>
            </a:solidFill>
            <a:ln w="34925" cap="flat">
              <a:solidFill>
                <a:srgbClr val="9C7F89"/>
              </a:solidFill>
              <a:prstDash val="solid"/>
              <a:round/>
            </a:ln>
            <a:effectLst/>
          </c:spPr>
          <c:invertIfNegative val="0"/>
          <c:dLbls>
            <c:numFmt formatCode="#,##0" sourceLinked="0"/>
            <c:txPr>
              <a:bodyPr/>
              <a:lstStyle/>
              <a:p>
                <a:pPr>
                  <a:defRPr b="0" i="0" strike="noStrike" sz="1200" u="none">
                    <a:solidFill>
                      <a:srgbClr val="3A2E31"/>
                    </a:solidFill>
                    <a:latin typeface="+mn-lt"/>
                  </a:defRPr>
                </a:pPr>
              </a:p>
            </c:txPr>
            <c:showLegendKey val="0"/>
            <c:showVal val="0"/>
            <c:showCatName val="0"/>
            <c:showSerName val="0"/>
            <c:showPercent val="0"/>
            <c:showBubbleSize val="0"/>
            <c:showLeaderLines val="0"/>
          </c:dLbls>
          <c:marker>
            <c:symbol val="none"/>
            <c:size val="6"/>
            <c:spPr>
              <a:solidFill>
                <a:srgbClr val="9C7F89"/>
              </a:solidFill>
              <a:ln w="9525" cap="flat">
                <a:solidFill>
                  <a:srgbClr val="9C7F89"/>
                </a:solidFill>
                <a:prstDash val="solid"/>
                <a:round/>
              </a:ln>
              <a:effectLst/>
            </c:spPr>
          </c:marker>
          <c:cat>
            <c:multiLvlStrRef>
              <c:f>Sheet1!$A$2:$A$62</c:f>
              <c:multiLvlStrCache>
                <c:ptCount val="61"/>
                <c:lvl>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pt idx="42">
                    <c:v>42</c:v>
                  </c:pt>
                  <c:pt idx="43">
                    <c:v>43</c:v>
                  </c:pt>
                  <c:pt idx="44">
                    <c:v>44</c:v>
                  </c:pt>
                  <c:pt idx="45">
                    <c:v>45</c:v>
                  </c:pt>
                  <c:pt idx="46">
                    <c:v>46</c:v>
                  </c:pt>
                  <c:pt idx="47">
                    <c:v>47</c:v>
                  </c:pt>
                  <c:pt idx="48">
                    <c:v>48</c:v>
                  </c:pt>
                  <c:pt idx="49">
                    <c:v>49</c:v>
                  </c:pt>
                  <c:pt idx="50">
                    <c:v>50</c:v>
                  </c:pt>
                  <c:pt idx="51">
                    <c:v>51</c:v>
                  </c:pt>
                  <c:pt idx="52">
                    <c:v>52</c:v>
                  </c:pt>
                  <c:pt idx="53">
                    <c:v>53</c:v>
                  </c:pt>
                  <c:pt idx="54">
                    <c:v>54</c:v>
                  </c:pt>
                  <c:pt idx="55">
                    <c:v>55</c:v>
                  </c:pt>
                  <c:pt idx="56">
                    <c:v>56</c:v>
                  </c:pt>
                  <c:pt idx="57">
                    <c:v>57</c:v>
                  </c:pt>
                  <c:pt idx="58">
                    <c:v>58</c:v>
                  </c:pt>
                  <c:pt idx="59">
                    <c:v>59</c:v>
                  </c:pt>
                  <c:pt idx="60">
                    <c:v>60</c:v>
                  </c:pt>
                </c:lvl>
              </c:multiLvlStrCache>
            </c:multiLvlStrRef>
          </c:cat>
          <c:val>
            <c:numRef>
              <c:f>Sheet1!$C$2:$C$62</c:f>
              <c:numCache>
                <c:formatCode>General</c:formatCode>
                <c:ptCount val="61"/>
                <c:pt idx="0">
                  <c:v>96.72</c:v>
                </c:pt>
                <c:pt idx="1">
                  <c:v>96.72</c:v>
                </c:pt>
                <c:pt idx="2">
                  <c:v>96.72</c:v>
                </c:pt>
                <c:pt idx="3">
                  <c:v>96.72</c:v>
                </c:pt>
                <c:pt idx="4">
                  <c:v>96.72</c:v>
                </c:pt>
                <c:pt idx="5">
                  <c:v>96.72</c:v>
                </c:pt>
                <c:pt idx="6">
                  <c:v>96.72</c:v>
                </c:pt>
                <c:pt idx="7">
                  <c:v>96.72</c:v>
                </c:pt>
                <c:pt idx="8">
                  <c:v>96.72</c:v>
                </c:pt>
                <c:pt idx="9">
                  <c:v>96.72</c:v>
                </c:pt>
                <c:pt idx="10">
                  <c:v>96.72</c:v>
                </c:pt>
                <c:pt idx="11">
                  <c:v>96.72</c:v>
                </c:pt>
                <c:pt idx="12">
                  <c:v>96.72</c:v>
                </c:pt>
                <c:pt idx="13">
                  <c:v>96.72</c:v>
                </c:pt>
                <c:pt idx="14">
                  <c:v>96.72</c:v>
                </c:pt>
                <c:pt idx="15">
                  <c:v>96.72</c:v>
                </c:pt>
                <c:pt idx="16">
                  <c:v>96.72</c:v>
                </c:pt>
                <c:pt idx="17">
                  <c:v>96.72</c:v>
                </c:pt>
                <c:pt idx="18">
                  <c:v>96.72</c:v>
                </c:pt>
                <c:pt idx="19">
                  <c:v>96.72</c:v>
                </c:pt>
                <c:pt idx="20">
                  <c:v>96.72</c:v>
                </c:pt>
                <c:pt idx="21">
                  <c:v>96.72</c:v>
                </c:pt>
                <c:pt idx="22">
                  <c:v>96.72</c:v>
                </c:pt>
                <c:pt idx="23">
                  <c:v>96.72</c:v>
                </c:pt>
                <c:pt idx="24">
                  <c:v>96.72</c:v>
                </c:pt>
                <c:pt idx="25">
                  <c:v>96.72</c:v>
                </c:pt>
                <c:pt idx="26">
                  <c:v>96.72</c:v>
                </c:pt>
                <c:pt idx="27">
                  <c:v>96.72</c:v>
                </c:pt>
                <c:pt idx="28">
                  <c:v>96.72</c:v>
                </c:pt>
                <c:pt idx="29">
                  <c:v>96.72</c:v>
                </c:pt>
                <c:pt idx="30">
                  <c:v>96.72</c:v>
                </c:pt>
                <c:pt idx="31">
                  <c:v>96.72</c:v>
                </c:pt>
                <c:pt idx="32">
                  <c:v>96.72</c:v>
                </c:pt>
                <c:pt idx="33">
                  <c:v>96.72</c:v>
                </c:pt>
                <c:pt idx="34">
                  <c:v>96.72</c:v>
                </c:pt>
                <c:pt idx="35">
                  <c:v>96.72</c:v>
                </c:pt>
                <c:pt idx="36">
                  <c:v>96.72</c:v>
                </c:pt>
                <c:pt idx="37">
                  <c:v>96.72</c:v>
                </c:pt>
                <c:pt idx="38">
                  <c:v>96.72</c:v>
                </c:pt>
                <c:pt idx="39">
                  <c:v>96.72</c:v>
                </c:pt>
                <c:pt idx="40">
                  <c:v>96.72</c:v>
                </c:pt>
                <c:pt idx="41">
                  <c:v>96.72</c:v>
                </c:pt>
                <c:pt idx="42">
                  <c:v>96.72</c:v>
                </c:pt>
                <c:pt idx="43">
                  <c:v>96.72</c:v>
                </c:pt>
                <c:pt idx="44">
                  <c:v>96.72</c:v>
                </c:pt>
                <c:pt idx="45">
                  <c:v>96.72</c:v>
                </c:pt>
                <c:pt idx="46">
                  <c:v>96.72</c:v>
                </c:pt>
                <c:pt idx="47">
                  <c:v>96.72</c:v>
                </c:pt>
                <c:pt idx="48">
                  <c:v>96.72</c:v>
                </c:pt>
                <c:pt idx="49">
                  <c:v>96.72</c:v>
                </c:pt>
                <c:pt idx="50">
                  <c:v>96.72</c:v>
                </c:pt>
                <c:pt idx="51">
                  <c:v>96.72</c:v>
                </c:pt>
                <c:pt idx="52">
                  <c:v>96.72</c:v>
                </c:pt>
                <c:pt idx="53">
                  <c:v>96.72</c:v>
                </c:pt>
                <c:pt idx="54">
                  <c:v>96.72</c:v>
                </c:pt>
                <c:pt idx="55">
                  <c:v>96.72</c:v>
                </c:pt>
                <c:pt idx="56">
                  <c:v>96.72</c:v>
                </c:pt>
                <c:pt idx="57">
                  <c:v>96.72</c:v>
                </c:pt>
                <c:pt idx="58">
                  <c:v>96.72</c:v>
                </c:pt>
                <c:pt idx="59">
                  <c:v>96.72</c:v>
                </c:pt>
                <c:pt idx="60">
                  <c:v>96.72</c:v>
                </c:pt>
              </c:numCache>
            </c:numRef>
          </c:val>
          <c:smooth val="0"/>
        </c:ser>
        <c:dLbls>
          <c:numFmt formatCode="#,##0" sourceLinked="0"/>
          <c:txPr>
            <a:bodyPr/>
            <a:lstStyle/>
            <a:p>
              <a:pPr>
                <a:defRPr b="0" i="0" strike="noStrike" sz="1200" u="none">
                  <a:solidFill>
                    <a:srgbClr val="3A2E31"/>
                  </a:solidFill>
                  <a:latin typeface="+mn-lt"/>
                </a:defRPr>
              </a:pPr>
            </a:p>
          </c:txPr>
          <c:showLegendKey val="0"/>
          <c:showVal val="0"/>
          <c:showCatName val="0"/>
          <c:showSerName val="0"/>
          <c:showPercent val="0"/>
          <c:showBubbleSize val="0"/>
          <c:showLeaderLines val="0"/>
        </c:dLbls>
        <c:marker val="1"/>
        <c:axId val="2094734554"/>
        <c:axId val="2094734552"/>
        <c:axId val="2094734556"/>
      </c:lineChart>
      <c:lineChart>
        <c:varyColors val="0"/>
        <c:ser>
          <c:idx val="2"/>
          <c:order val="2"/>
          <c:tx>
            <c:strRef>
              <c:f>Sheet1!$D$1</c:f>
              <c:strCache>
                <c:ptCount val="1"/>
                <c:pt idx="0">
                  <c:v>Learned deferral</c:v>
                </c:pt>
              </c:strCache>
            </c:strRef>
          </c:tx>
          <c:spPr>
            <a:solidFill>
              <a:srgbClr val="4A5A50"/>
            </a:solidFill>
            <a:ln w="34925" cap="flat">
              <a:solidFill>
                <a:srgbClr val="4A5A50"/>
              </a:solidFill>
              <a:prstDash val="dash"/>
              <a:round/>
            </a:ln>
            <a:effectLst/>
          </c:spPr>
          <c:invertIfNegative val="0"/>
          <c:dLbls>
            <c:numFmt formatCode="#,##0" sourceLinked="0"/>
            <c:txPr>
              <a:bodyPr/>
              <a:lstStyle/>
              <a:p>
                <a:pPr>
                  <a:defRPr b="0" i="0" strike="noStrike" sz="1200" u="none">
                    <a:solidFill>
                      <a:srgbClr val="3A2E31"/>
                    </a:solidFill>
                    <a:latin typeface="+mn-lt"/>
                  </a:defRPr>
                </a:pPr>
              </a:p>
            </c:txPr>
            <c:showLegendKey val="0"/>
            <c:showVal val="0"/>
            <c:showCatName val="0"/>
            <c:showSerName val="0"/>
            <c:showPercent val="0"/>
            <c:showBubbleSize val="0"/>
            <c:showLeaderLines val="0"/>
          </c:dLbls>
          <c:marker>
            <c:symbol val="none"/>
            <c:size val="6"/>
            <c:spPr>
              <a:solidFill>
                <a:srgbClr val="4A5A50"/>
              </a:solidFill>
              <a:ln w="9525" cap="flat">
                <a:solidFill>
                  <a:srgbClr val="4A5A50"/>
                </a:solidFill>
                <a:prstDash val="solid"/>
                <a:round/>
              </a:ln>
              <a:effectLst/>
            </c:spPr>
          </c:marker>
          <c:cat>
            <c:multiLvlStrRef>
              <c:f>Sheet1!$A$2:$A$62</c:f>
              <c:multiLvlStrCache>
                <c:ptCount val="61"/>
                <c:lvl>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pt idx="42">
                    <c:v>42</c:v>
                  </c:pt>
                  <c:pt idx="43">
                    <c:v>43</c:v>
                  </c:pt>
                  <c:pt idx="44">
                    <c:v>44</c:v>
                  </c:pt>
                  <c:pt idx="45">
                    <c:v>45</c:v>
                  </c:pt>
                  <c:pt idx="46">
                    <c:v>46</c:v>
                  </c:pt>
                  <c:pt idx="47">
                    <c:v>47</c:v>
                  </c:pt>
                  <c:pt idx="48">
                    <c:v>48</c:v>
                  </c:pt>
                  <c:pt idx="49">
                    <c:v>49</c:v>
                  </c:pt>
                  <c:pt idx="50">
                    <c:v>50</c:v>
                  </c:pt>
                  <c:pt idx="51">
                    <c:v>51</c:v>
                  </c:pt>
                  <c:pt idx="52">
                    <c:v>52</c:v>
                  </c:pt>
                  <c:pt idx="53">
                    <c:v>53</c:v>
                  </c:pt>
                  <c:pt idx="54">
                    <c:v>54</c:v>
                  </c:pt>
                  <c:pt idx="55">
                    <c:v>55</c:v>
                  </c:pt>
                  <c:pt idx="56">
                    <c:v>56</c:v>
                  </c:pt>
                  <c:pt idx="57">
                    <c:v>57</c:v>
                  </c:pt>
                  <c:pt idx="58">
                    <c:v>58</c:v>
                  </c:pt>
                  <c:pt idx="59">
                    <c:v>59</c:v>
                  </c:pt>
                  <c:pt idx="60">
                    <c:v>60</c:v>
                  </c:pt>
                </c:lvl>
              </c:multiLvlStrCache>
            </c:multiLvlStrRef>
          </c:cat>
          <c:val>
            <c:numRef>
              <c:f>Sheet1!$D$2:$D$62</c:f>
              <c:numCache>
                <c:formatCode>General</c:formatCode>
                <c:ptCount val="61"/>
                <c:pt idx="0">
                  <c:v>92.316</c:v>
                </c:pt>
                <c:pt idx="1">
                  <c:v>92.636</c:v>
                </c:pt>
                <c:pt idx="2">
                  <c:v>92.956</c:v>
                </c:pt>
                <c:pt idx="3">
                  <c:v>93.284</c:v>
                </c:pt>
                <c:pt idx="4">
                  <c:v>93.628</c:v>
                </c:pt>
                <c:pt idx="5">
                  <c:v>93.908</c:v>
                </c:pt>
                <c:pt idx="6">
                  <c:v>94.188</c:v>
                </c:pt>
                <c:pt idx="7">
                  <c:v>94.42</c:v>
                </c:pt>
                <c:pt idx="8">
                  <c:v>94.644</c:v>
                </c:pt>
                <c:pt idx="9">
                  <c:v>94.888</c:v>
                </c:pt>
                <c:pt idx="10">
                  <c:v>95.108</c:v>
                </c:pt>
                <c:pt idx="11">
                  <c:v>95.268</c:v>
                </c:pt>
                <c:pt idx="12">
                  <c:v>95.38</c:v>
                </c:pt>
                <c:pt idx="13">
                  <c:v>95.536</c:v>
                </c:pt>
                <c:pt idx="14">
                  <c:v>95.616</c:v>
                </c:pt>
                <c:pt idx="15">
                  <c:v>95.692</c:v>
                </c:pt>
                <c:pt idx="16">
                  <c:v>95.804</c:v>
                </c:pt>
                <c:pt idx="17">
                  <c:v>95.92</c:v>
                </c:pt>
                <c:pt idx="18">
                  <c:v>96.008</c:v>
                </c:pt>
                <c:pt idx="19">
                  <c:v>96.064</c:v>
                </c:pt>
                <c:pt idx="20">
                  <c:v>96.124</c:v>
                </c:pt>
                <c:pt idx="21">
                  <c:v>96.172</c:v>
                </c:pt>
                <c:pt idx="22">
                  <c:v>96.228</c:v>
                </c:pt>
                <c:pt idx="23">
                  <c:v>96.26</c:v>
                </c:pt>
                <c:pt idx="24">
                  <c:v>96.296</c:v>
                </c:pt>
                <c:pt idx="25">
                  <c:v>96.332</c:v>
                </c:pt>
                <c:pt idx="26">
                  <c:v>96.372</c:v>
                </c:pt>
                <c:pt idx="27">
                  <c:v>96.384</c:v>
                </c:pt>
                <c:pt idx="28">
                  <c:v>96.408</c:v>
                </c:pt>
                <c:pt idx="29">
                  <c:v>96.456</c:v>
                </c:pt>
                <c:pt idx="30">
                  <c:v>96.484</c:v>
                </c:pt>
                <c:pt idx="31">
                  <c:v>96.516</c:v>
                </c:pt>
                <c:pt idx="32">
                  <c:v>96.532</c:v>
                </c:pt>
                <c:pt idx="33">
                  <c:v>96.532</c:v>
                </c:pt>
                <c:pt idx="34">
                  <c:v>96.544</c:v>
                </c:pt>
                <c:pt idx="35">
                  <c:v>96.544</c:v>
                </c:pt>
                <c:pt idx="36">
                  <c:v>96.548</c:v>
                </c:pt>
                <c:pt idx="37">
                  <c:v>96.548</c:v>
                </c:pt>
                <c:pt idx="38">
                  <c:v>96.548</c:v>
                </c:pt>
                <c:pt idx="39">
                  <c:v>96.556</c:v>
                </c:pt>
                <c:pt idx="40">
                  <c:v>96.556</c:v>
                </c:pt>
                <c:pt idx="41">
                  <c:v>96.556</c:v>
                </c:pt>
                <c:pt idx="42">
                  <c:v>96.56</c:v>
                </c:pt>
                <c:pt idx="43">
                  <c:v>96.568</c:v>
                </c:pt>
                <c:pt idx="44">
                  <c:v>96.576</c:v>
                </c:pt>
                <c:pt idx="45">
                  <c:v>96.58</c:v>
                </c:pt>
                <c:pt idx="46">
                  <c:v>96.592</c:v>
                </c:pt>
                <c:pt idx="47">
                  <c:v>96.588</c:v>
                </c:pt>
                <c:pt idx="48">
                  <c:v>96.592</c:v>
                </c:pt>
                <c:pt idx="49">
                  <c:v>96.6</c:v>
                </c:pt>
                <c:pt idx="50">
                  <c:v>96.608</c:v>
                </c:pt>
                <c:pt idx="51">
                  <c:v>96.62</c:v>
                </c:pt>
                <c:pt idx="52">
                  <c:v>96.612</c:v>
                </c:pt>
                <c:pt idx="53">
                  <c:v>96.616</c:v>
                </c:pt>
                <c:pt idx="54">
                  <c:v>96.62</c:v>
                </c:pt>
                <c:pt idx="55">
                  <c:v>96.628</c:v>
                </c:pt>
                <c:pt idx="56">
                  <c:v>96.632</c:v>
                </c:pt>
                <c:pt idx="57">
                  <c:v>96.644</c:v>
                </c:pt>
                <c:pt idx="58">
                  <c:v>96.648</c:v>
                </c:pt>
                <c:pt idx="59">
                  <c:v>96.648</c:v>
                </c:pt>
                <c:pt idx="60">
                  <c:v>96.656</c:v>
                </c:pt>
              </c:numCache>
            </c:numRef>
          </c:val>
          <c:smooth val="0"/>
        </c:ser>
        <c:dLbls>
          <c:numFmt formatCode="#,##0" sourceLinked="0"/>
          <c:txPr>
            <a:bodyPr/>
            <a:lstStyle/>
            <a:p>
              <a:pPr>
                <a:defRPr b="0" i="0" strike="noStrike" sz="1200" u="none">
                  <a:solidFill>
                    <a:srgbClr val="3A2E31"/>
                  </a:solidFill>
                  <a:latin typeface="+mn-lt"/>
                </a:defRPr>
              </a:pPr>
            </a:p>
          </c:txPr>
          <c:showLegendKey val="0"/>
          <c:showVal val="0"/>
          <c:showCatName val="0"/>
          <c:showSerName val="0"/>
          <c:showPercent val="0"/>
          <c:showBubbleSize val="0"/>
          <c:showLeaderLines val="0"/>
        </c:dLbls>
        <c:marker val="1"/>
        <c:axId val="2094734554"/>
        <c:axId val="2094734552"/>
        <c:axId val="2094734556"/>
      </c:lineChart>
      <c:lineChart>
        <c:varyColors val="0"/>
        <c:ser>
          <c:idx val="3"/>
          <c:order val="3"/>
          <c:tx>
            <c:strRef>
              <c:f>Sheet1!$E$1</c:f>
              <c:strCache>
                <c:ptCount val="1"/>
                <c:pt idx="0">
                  <c:v>Perfect router</c:v>
                </c:pt>
              </c:strCache>
            </c:strRef>
          </c:tx>
          <c:spPr>
            <a:solidFill>
              <a:srgbClr val="B9AEB1"/>
            </a:solidFill>
            <a:ln w="34925" cap="flat">
              <a:solidFill>
                <a:srgbClr val="B9AEB1"/>
              </a:solidFill>
              <a:prstDash val="sysDot"/>
              <a:round/>
            </a:ln>
            <a:effectLst/>
          </c:spPr>
          <c:invertIfNegative val="0"/>
          <c:dLbls>
            <c:numFmt formatCode="#,##0" sourceLinked="0"/>
            <c:txPr>
              <a:bodyPr/>
              <a:lstStyle/>
              <a:p>
                <a:pPr>
                  <a:defRPr b="0" i="0" strike="noStrike" sz="1200" u="none">
                    <a:solidFill>
                      <a:srgbClr val="3A2E31"/>
                    </a:solidFill>
                    <a:latin typeface="+mn-lt"/>
                  </a:defRPr>
                </a:pPr>
              </a:p>
            </c:txPr>
            <c:showLegendKey val="0"/>
            <c:showVal val="0"/>
            <c:showCatName val="0"/>
            <c:showSerName val="0"/>
            <c:showPercent val="0"/>
            <c:showBubbleSize val="0"/>
            <c:showLeaderLines val="0"/>
          </c:dLbls>
          <c:marker>
            <c:symbol val="none"/>
            <c:size val="6"/>
            <c:spPr>
              <a:solidFill>
                <a:srgbClr val="B9AEB1"/>
              </a:solidFill>
              <a:ln w="9525" cap="flat">
                <a:solidFill>
                  <a:srgbClr val="B9AEB1"/>
                </a:solidFill>
                <a:prstDash val="solid"/>
                <a:round/>
              </a:ln>
              <a:effectLst/>
            </c:spPr>
          </c:marker>
          <c:cat>
            <c:multiLvlStrRef>
              <c:f>Sheet1!$A$2:$A$62</c:f>
              <c:multiLvlStrCache>
                <c:ptCount val="61"/>
                <c:lvl>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pt idx="42">
                    <c:v>42</c:v>
                  </c:pt>
                  <c:pt idx="43">
                    <c:v>43</c:v>
                  </c:pt>
                  <c:pt idx="44">
                    <c:v>44</c:v>
                  </c:pt>
                  <c:pt idx="45">
                    <c:v>45</c:v>
                  </c:pt>
                  <c:pt idx="46">
                    <c:v>46</c:v>
                  </c:pt>
                  <c:pt idx="47">
                    <c:v>47</c:v>
                  </c:pt>
                  <c:pt idx="48">
                    <c:v>48</c:v>
                  </c:pt>
                  <c:pt idx="49">
                    <c:v>49</c:v>
                  </c:pt>
                  <c:pt idx="50">
                    <c:v>50</c:v>
                  </c:pt>
                  <c:pt idx="51">
                    <c:v>51</c:v>
                  </c:pt>
                  <c:pt idx="52">
                    <c:v>52</c:v>
                  </c:pt>
                  <c:pt idx="53">
                    <c:v>53</c:v>
                  </c:pt>
                  <c:pt idx="54">
                    <c:v>54</c:v>
                  </c:pt>
                  <c:pt idx="55">
                    <c:v>55</c:v>
                  </c:pt>
                  <c:pt idx="56">
                    <c:v>56</c:v>
                  </c:pt>
                  <c:pt idx="57">
                    <c:v>57</c:v>
                  </c:pt>
                  <c:pt idx="58">
                    <c:v>58</c:v>
                  </c:pt>
                  <c:pt idx="59">
                    <c:v>59</c:v>
                  </c:pt>
                  <c:pt idx="60">
                    <c:v>60</c:v>
                  </c:pt>
                </c:lvl>
              </c:multiLvlStrCache>
            </c:multiLvlStrRef>
          </c:cat>
          <c:val>
            <c:numRef>
              <c:f>Sheet1!$E$2:$E$62</c:f>
              <c:numCache>
                <c:formatCode>General</c:formatCode>
                <c:ptCount val="61"/>
                <c:pt idx="0">
                  <c:v>92.316</c:v>
                </c:pt>
                <c:pt idx="1">
                  <c:v>93.316</c:v>
                </c:pt>
                <c:pt idx="2">
                  <c:v>94.316</c:v>
                </c:pt>
                <c:pt idx="3">
                  <c:v>95.316</c:v>
                </c:pt>
                <c:pt idx="4">
                  <c:v>96.316</c:v>
                </c:pt>
                <c:pt idx="5">
                  <c:v>97.316</c:v>
                </c:pt>
                <c:pt idx="6">
                  <c:v>97.836</c:v>
                </c:pt>
                <c:pt idx="7">
                  <c:v>97.756</c:v>
                </c:pt>
                <c:pt idx="8">
                  <c:v>97.66</c:v>
                </c:pt>
                <c:pt idx="9">
                  <c:v>97.6</c:v>
                </c:pt>
                <c:pt idx="10">
                  <c:v>97.516</c:v>
                </c:pt>
                <c:pt idx="11">
                  <c:v>97.468</c:v>
                </c:pt>
                <c:pt idx="12">
                  <c:v>97.4</c:v>
                </c:pt>
                <c:pt idx="13">
                  <c:v>97.344</c:v>
                </c:pt>
                <c:pt idx="14">
                  <c:v>97.316</c:v>
                </c:pt>
                <c:pt idx="15">
                  <c:v>97.272</c:v>
                </c:pt>
                <c:pt idx="16">
                  <c:v>97.24</c:v>
                </c:pt>
                <c:pt idx="17">
                  <c:v>97.196</c:v>
                </c:pt>
                <c:pt idx="18">
                  <c:v>97.156</c:v>
                </c:pt>
                <c:pt idx="19">
                  <c:v>97.116</c:v>
                </c:pt>
                <c:pt idx="20">
                  <c:v>97.084</c:v>
                </c:pt>
                <c:pt idx="21">
                  <c:v>97.072</c:v>
                </c:pt>
                <c:pt idx="22">
                  <c:v>97.056</c:v>
                </c:pt>
                <c:pt idx="23">
                  <c:v>97.024</c:v>
                </c:pt>
                <c:pt idx="24">
                  <c:v>97.004</c:v>
                </c:pt>
                <c:pt idx="25">
                  <c:v>96.992</c:v>
                </c:pt>
                <c:pt idx="26">
                  <c:v>96.984</c:v>
                </c:pt>
                <c:pt idx="27">
                  <c:v>96.952</c:v>
                </c:pt>
                <c:pt idx="28">
                  <c:v>96.936</c:v>
                </c:pt>
                <c:pt idx="29">
                  <c:v>96.924</c:v>
                </c:pt>
                <c:pt idx="30">
                  <c:v>96.912</c:v>
                </c:pt>
                <c:pt idx="31">
                  <c:v>96.9</c:v>
                </c:pt>
                <c:pt idx="32">
                  <c:v>96.888</c:v>
                </c:pt>
                <c:pt idx="33">
                  <c:v>96.872</c:v>
                </c:pt>
                <c:pt idx="34">
                  <c:v>96.864</c:v>
                </c:pt>
                <c:pt idx="35">
                  <c:v>96.848</c:v>
                </c:pt>
                <c:pt idx="36">
                  <c:v>96.84</c:v>
                </c:pt>
                <c:pt idx="37">
                  <c:v>96.836</c:v>
                </c:pt>
                <c:pt idx="38">
                  <c:v>96.816</c:v>
                </c:pt>
                <c:pt idx="39">
                  <c:v>96.796</c:v>
                </c:pt>
                <c:pt idx="40">
                  <c:v>96.796</c:v>
                </c:pt>
                <c:pt idx="41">
                  <c:v>96.792</c:v>
                </c:pt>
                <c:pt idx="42">
                  <c:v>96.78</c:v>
                </c:pt>
                <c:pt idx="43">
                  <c:v>96.776</c:v>
                </c:pt>
                <c:pt idx="44">
                  <c:v>96.772</c:v>
                </c:pt>
                <c:pt idx="45">
                  <c:v>96.772</c:v>
                </c:pt>
                <c:pt idx="46">
                  <c:v>96.772</c:v>
                </c:pt>
                <c:pt idx="47">
                  <c:v>96.772</c:v>
                </c:pt>
                <c:pt idx="48">
                  <c:v>96.768</c:v>
                </c:pt>
                <c:pt idx="49">
                  <c:v>96.756</c:v>
                </c:pt>
                <c:pt idx="50">
                  <c:v>96.756</c:v>
                </c:pt>
                <c:pt idx="51">
                  <c:v>96.752</c:v>
                </c:pt>
                <c:pt idx="52">
                  <c:v>96.744</c:v>
                </c:pt>
                <c:pt idx="53">
                  <c:v>96.74</c:v>
                </c:pt>
                <c:pt idx="54">
                  <c:v>96.736</c:v>
                </c:pt>
                <c:pt idx="55">
                  <c:v>96.736</c:v>
                </c:pt>
                <c:pt idx="56">
                  <c:v>96.736</c:v>
                </c:pt>
                <c:pt idx="57">
                  <c:v>96.736</c:v>
                </c:pt>
                <c:pt idx="58">
                  <c:v>96.724</c:v>
                </c:pt>
                <c:pt idx="59">
                  <c:v>96.724</c:v>
                </c:pt>
                <c:pt idx="60">
                  <c:v>96.724</c:v>
                </c:pt>
              </c:numCache>
            </c:numRef>
          </c:val>
          <c:smooth val="0"/>
        </c:ser>
        <c:dLbls>
          <c:numFmt formatCode="#,##0" sourceLinked="0"/>
          <c:txPr>
            <a:bodyPr/>
            <a:lstStyle/>
            <a:p>
              <a:pPr>
                <a:defRPr b="0" i="0" strike="noStrike" sz="1200" u="none">
                  <a:solidFill>
                    <a:srgbClr val="3A2E31"/>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200" b="0" i="0" u="none" strike="noStrike">
                    <a:solidFill>
                      <a:srgbClr val="8A7E80"/>
                    </a:solidFill>
                    <a:latin typeface="+mn-lt"/>
                  </a:defRPr>
                </a:pPr>
                <a:r>
                  <a:rPr sz="1200" b="0" i="0" u="none" strike="noStrike">
                    <a:solidFill>
                      <a:srgbClr val="8A7E80"/>
                    </a:solidFill>
                    <a:latin typeface="+mn-lt"/>
                  </a:rPr>
                  <a:t>Reviews sent to the hub (%)</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3A2E31"/>
                </a:solidFill>
                <a:latin typeface="+mn-lt"/>
              </a:defRPr>
            </a:pPr>
            <a:endParaRPr lang="en-US"/>
          </a:p>
        </c:txPr>
        <c:crossAx val="2094734552"/>
        <c:crosses val="autoZero"/>
        <c:auto val="1"/>
        <c:lblAlgn val="ctr"/>
        <c:noMultiLvlLbl val="1"/>
        <c:tickLblSkip val="10"/>
      </c:catAx>
      <c:valAx>
        <c:axId val="2094734552"/>
        <c:scaling>
          <c:orientation val="minMax"/>
          <c:max val="98"/>
          <c:min val="92"/>
        </c:scaling>
        <c:delete val="0"/>
        <c:axPos val="l"/>
        <c:majorGridlines>
          <c:spPr>
            <a:ln w="9525" cap="flat">
              <a:solidFill>
                <a:srgbClr val="E2D6D9"/>
              </a:solidFill>
              <a:prstDash val="solid"/>
              <a:round/>
            </a:ln>
          </c:spPr>
        </c:majorGridlines>
        <c:title>
          <c:tx>
            <c:rich>
              <a:bodyPr/>
              <a:lstStyle/>
              <a:p>
                <a:pPr>
                  <a:defRPr sz="1200" b="0" i="0" u="none" strike="noStrike">
                    <a:solidFill>
                      <a:srgbClr val="8A7E80"/>
                    </a:solidFill>
                    <a:latin typeface="+mn-lt"/>
                  </a:defRPr>
                </a:pPr>
                <a:r>
                  <a:rPr sz="1200" b="0" i="0" u="none" strike="noStrike">
                    <a:solidFill>
                      <a:srgbClr val="8A7E80"/>
                    </a:solidFill>
                    <a:latin typeface="+mn-lt"/>
                  </a:rPr>
                  <a:t>Test accuracy (%)</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8A7E80"/>
                </a:solidFill>
                <a:latin typeface="+mn-lt"/>
              </a:defRPr>
            </a:pPr>
            <a:endParaRPr lang="en-US"/>
          </a:p>
        </c:txPr>
        <c:crossAx val="2094734554"/>
        <c:crosses val="autoZero"/>
        <c:crossBetween val="between"/>
        <c:majorUnit val="1"/>
      </c:valAx>
      <c:spPr>
        <a:noFill/>
        <a:ln>
          <a:noFill/>
        </a:ln>
        <a:effectLst/>
      </c:spPr>
    </c:plotArea>
    <c:legend>
      <c:legendPos val="b"/>
      <c:overlay val="0"/>
      <c:txPr>
        <a:bodyPr/>
        <a:lstStyle/>
        <a:p>
          <a:pPr>
            <a:defRPr sz="1200">
              <a:solidFill>
                <a:srgbClr val="3A2E31"/>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Hub fixes the device</c:v>
                </c:pt>
              </c:strCache>
            </c:strRef>
          </c:tx>
          <c:spPr>
            <a:solidFill>
              <a:srgbClr val="4A5A50"/>
            </a:solidFill>
            <a:effectLst/>
          </c:spPr>
          <c:invertIfNegative val="0"/>
          <c:dLbls>
            <c:numFmt formatCode="0.0&quot;%&quot;" sourceLinked="0"/>
            <c:txPr>
              <a:bodyPr/>
              <a:lstStyle/>
              <a:p>
                <a:pPr>
                  <a:defRPr b="0" i="0" strike="noStrike" sz="1200" u="none">
                    <a:solidFill>
                      <a:srgbClr val="3A2E31"/>
                    </a:solidFill>
                    <a:latin typeface="+mn-lt"/>
                  </a:defRPr>
                </a:pPr>
              </a:p>
            </c:txPr>
            <c:showLegendKey val="0"/>
            <c:showVal val="1"/>
            <c:showCatName val="0"/>
            <c:showSerName val="0"/>
            <c:showPercent val="0"/>
            <c:showBubbleSize val="0"/>
            <c:showLeaderLines val="0"/>
          </c:dLbls>
          <c:cat>
            <c:multiLvlStrRef>
              <c:f>Sheet1!$A$2:$A$4</c:f>
              <c:multiLvlStrCache>
                <c:ptCount val="3"/>
                <c:lvl>
                  <c:pt idx="0">
                    <c:v>DistilBERT, 20k</c:v>
                  </c:pt>
                  <c:pt idx="1">
                    <c:v>DistilBERT, +1M</c:v>
                  </c:pt>
                  <c:pt idx="2">
                    <c:v>RoBERTa-base, +1M</c:v>
                  </c:pt>
                </c:lvl>
              </c:multiLvlStrCache>
            </c:multiLvlStrRef>
          </c:cat>
          <c:val>
            <c:numRef>
              <c:f>Sheet1!$B$2:$B$4</c:f>
              <c:numCache>
                <c:formatCode>General</c:formatCode>
                <c:ptCount val="3"/>
                <c:pt idx="0">
                  <c:v>4.1</c:v>
                </c:pt>
                <c:pt idx="1">
                  <c:v>5</c:v>
                </c:pt>
                <c:pt idx="2">
                  <c:v>5.4</c:v>
                </c:pt>
              </c:numCache>
            </c:numRef>
          </c:val>
        </c:ser>
        <c:ser>
          <c:idx val="1"/>
          <c:order val="1"/>
          <c:tx>
            <c:strRef>
              <c:f>Sheet1!$C$1</c:f>
              <c:strCache>
                <c:ptCount val="1"/>
                <c:pt idx="0">
                  <c:v>Hub breaks the device</c:v>
                </c:pt>
              </c:strCache>
            </c:strRef>
          </c:tx>
          <c:spPr>
            <a:solidFill>
              <a:srgbClr val="8C4B57"/>
            </a:solidFill>
            <a:effectLst/>
          </c:spPr>
          <c:invertIfNegative val="0"/>
          <c:dLbls>
            <c:numFmt formatCode="0.0&quot;%&quot;" sourceLinked="0"/>
            <c:txPr>
              <a:bodyPr/>
              <a:lstStyle/>
              <a:p>
                <a:pPr>
                  <a:defRPr b="0" i="0" strike="noStrike" sz="1200" u="none">
                    <a:solidFill>
                      <a:srgbClr val="3A2E31"/>
                    </a:solidFill>
                    <a:latin typeface="+mn-lt"/>
                  </a:defRPr>
                </a:pPr>
              </a:p>
            </c:txPr>
            <c:showLegendKey val="0"/>
            <c:showVal val="1"/>
            <c:showCatName val="0"/>
            <c:showSerName val="0"/>
            <c:showPercent val="0"/>
            <c:showBubbleSize val="0"/>
            <c:showLeaderLines val="0"/>
          </c:dLbls>
          <c:cat>
            <c:multiLvlStrRef>
              <c:f>Sheet1!$A$2:$A$4</c:f>
              <c:multiLvlStrCache>
                <c:ptCount val="3"/>
                <c:lvl>
                  <c:pt idx="0">
                    <c:v>DistilBERT, 20k</c:v>
                  </c:pt>
                  <c:pt idx="1">
                    <c:v>DistilBERT, +1M</c:v>
                  </c:pt>
                  <c:pt idx="2">
                    <c:v>RoBERTa-base, +1M</c:v>
                  </c:pt>
                </c:lvl>
              </c:multiLvlStrCache>
            </c:multiLvlStrRef>
          </c:cat>
          <c:val>
            <c:numRef>
              <c:f>Sheet1!$C$2:$C$4</c:f>
              <c:numCache>
                <c:formatCode>General</c:formatCode>
                <c:ptCount val="3"/>
                <c:pt idx="0">
                  <c:v>3.9</c:v>
                </c:pt>
                <c:pt idx="1">
                  <c:v>1.5</c:v>
                </c:pt>
                <c:pt idx="2">
                  <c:v>1.2</c:v>
                </c:pt>
              </c:numCache>
            </c:numRef>
          </c:val>
        </c:ser>
        <c:dLbls>
          <c:numFmt formatCode="0.0&quot;%&quot;" sourceLinked="0"/>
          <c:txPr>
            <a:bodyPr/>
            <a:lstStyle/>
            <a:p>
              <a:pPr>
                <a:defRPr b="0" i="0" strike="noStrike" sz="1200" u="none">
                  <a:solidFill>
                    <a:srgbClr val="3A2E31"/>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3A2E31"/>
                </a:solidFill>
                <a:latin typeface="+mn-lt"/>
              </a:defRPr>
            </a:pPr>
            <a:endParaRPr lang="en-US"/>
          </a:p>
        </c:txPr>
        <c:crossAx val="2094734552"/>
        <c:crosses val="autoZero"/>
        <c:auto val="1"/>
        <c:lblAlgn val="ctr"/>
        <c:noMultiLvlLbl val="1"/>
      </c:catAx>
      <c:valAx>
        <c:axId val="2094734552"/>
        <c:scaling>
          <c:orientation val="minMax"/>
          <c:max val="6"/>
          <c:min val="0"/>
        </c:scaling>
        <c:delete val="0"/>
        <c:axPos val="l"/>
        <c:majorGridlines>
          <c:spPr>
            <a:ln w="9525" cap="flat">
              <a:solidFill>
                <a:srgbClr val="E2D6D9"/>
              </a:solidFill>
              <a:prstDash val="solid"/>
              <a:round/>
            </a:ln>
          </c:spPr>
        </c:majorGridlines>
        <c:title>
          <c:tx>
            <c:rich>
              <a:bodyPr/>
              <a:lstStyle/>
              <a:p>
                <a:pPr>
                  <a:defRPr sz="1200" b="0" i="0" u="none" strike="noStrike">
                    <a:solidFill>
                      <a:srgbClr val="8A7E80"/>
                    </a:solidFill>
                    <a:latin typeface="+mn-lt"/>
                  </a:defRPr>
                </a:pPr>
                <a:r>
                  <a:rPr sz="1200" b="0" i="0" u="none" strike="noStrike">
                    <a:solidFill>
                      <a:srgbClr val="8A7E80"/>
                    </a:solidFill>
                    <a:latin typeface="+mn-lt"/>
                  </a:rPr>
                  <a:t>Share of device answers (%)</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8A7E80"/>
                </a:solidFill>
                <a:latin typeface="+mn-lt"/>
              </a:defRPr>
            </a:pPr>
            <a:endParaRPr lang="en-US"/>
          </a:p>
        </c:txPr>
        <c:crossAx val="2094734554"/>
        <c:crosses val="autoZero"/>
        <c:crossBetween val="between"/>
        <c:majorUnit val="1"/>
      </c:valAx>
      <c:spPr>
        <a:noFill/>
        <a:ln>
          <a:noFill/>
        </a:ln>
        <a:effectLst/>
      </c:spPr>
    </c:plotArea>
    <c:legend>
      <c:legendPos val="b"/>
      <c:overlay val="0"/>
      <c:txPr>
        <a:bodyPr/>
        <a:lstStyle/>
        <a:p>
          <a:pPr>
            <a:defRPr sz="1200">
              <a:solidFill>
                <a:srgbClr val="3A2E31"/>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mJ per review</c:v>
                </c:pt>
              </c:strCache>
            </c:strRef>
          </c:tx>
          <c:spPr>
            <a:solidFill>
              <a:srgbClr val="4A5A50"/>
            </a:solidFill>
            <a:effectLst/>
          </c:spPr>
          <c:invertIfNegative val="0"/>
          <c:dLbls>
            <c:numFmt formatCode="0.0" sourceLinked="0"/>
            <c:txPr>
              <a:bodyPr/>
              <a:lstStyle/>
              <a:p>
                <a:pPr>
                  <a:defRPr b="0" i="0" strike="noStrike" sz="1200" u="none">
                    <a:solidFill>
                      <a:srgbClr val="3A2E31"/>
                    </a:solidFill>
                    <a:latin typeface="+mn-lt"/>
                  </a:defRPr>
                </a:pPr>
              </a:p>
            </c:txPr>
            <c:showLegendKey val="0"/>
            <c:showVal val="1"/>
            <c:showCatName val="0"/>
            <c:showSerName val="0"/>
            <c:showPercent val="0"/>
            <c:showBubbleSize val="0"/>
            <c:showLeaderLines val="0"/>
          </c:dLbls>
          <c:dPt>
            <c:idx val="0"/>
            <c:invertIfNegative val="0"/>
            <c:bubble3D val="0"/>
            <c:spPr>
              <a:solidFill>
                <a:srgbClr val="4A5A50"/>
              </a:solidFill>
              <a:effectLst/>
            </c:spPr>
          </c:dPt>
          <c:dPt>
            <c:idx val="1"/>
            <c:invertIfNegative val="0"/>
            <c:bubble3D val="0"/>
            <c:spPr>
              <a:solidFill>
                <a:srgbClr val="9C7F89"/>
              </a:solidFill>
              <a:effectLst/>
            </c:spPr>
          </c:dPt>
          <c:dPt>
            <c:idx val="2"/>
            <c:invertIfNegative val="0"/>
            <c:bubble3D val="0"/>
            <c:spPr>
              <a:solidFill>
                <a:srgbClr val="9C7F89"/>
              </a:solidFill>
              <a:effectLst/>
            </c:spPr>
          </c:dPt>
          <c:dPt>
            <c:idx val="3"/>
            <c:invertIfNegative val="0"/>
            <c:bubble3D val="0"/>
            <c:spPr>
              <a:solidFill>
                <a:srgbClr val="9C7F89"/>
              </a:solidFill>
              <a:effectLst/>
            </c:spPr>
          </c:dPt>
          <c:dPt>
            <c:idx val="4"/>
            <c:invertIfNegative val="0"/>
            <c:bubble3D val="0"/>
            <c:spPr>
              <a:solidFill>
                <a:srgbClr val="8C4B57"/>
              </a:solidFill>
              <a:effectLst/>
            </c:spPr>
          </c:dPt>
          <c:cat>
            <c:multiLvlStrRef>
              <c:f>Sheet1!$A$2:$A$6</c:f>
              <c:multiLvlStrCache>
                <c:ptCount val="5"/>
                <c:lvl>
                  <c:pt idx="0">
                    <c:v>Device only</c:v>
                  </c:pt>
                  <c:pt idx="1">
                    <c:v>Close 50% of gap</c:v>
                  </c:pt>
                  <c:pt idx="2">
                    <c:v>Close 75% of gap</c:v>
                  </c:pt>
                  <c:pt idx="3">
                    <c:v>Close 90% of gap</c:v>
                  </c:pt>
                  <c:pt idx="4">
                    <c:v>Send everything</c:v>
                  </c:pt>
                </c:lvl>
              </c:multiLvlStrCache>
            </c:multiLvlStrRef>
          </c:cat>
          <c:val>
            <c:numRef>
              <c:f>Sheet1!$B$2:$B$6</c:f>
              <c:numCache>
                <c:formatCode>General</c:formatCode>
                <c:ptCount val="5"/>
                <c:pt idx="0">
                  <c:v>0.8</c:v>
                </c:pt>
                <c:pt idx="1">
                  <c:v>25.8</c:v>
                </c:pt>
                <c:pt idx="2">
                  <c:v>51.5</c:v>
                </c:pt>
                <c:pt idx="3">
                  <c:v>76</c:v>
                </c:pt>
                <c:pt idx="4">
                  <c:v>300.6</c:v>
                </c:pt>
              </c:numCache>
            </c:numRef>
          </c:val>
        </c:ser>
        <c:dLbls>
          <c:numFmt formatCode="0.0" sourceLinked="0"/>
          <c:txPr>
            <a:bodyPr/>
            <a:lstStyle/>
            <a:p>
              <a:pPr>
                <a:defRPr b="0" i="0" strike="noStrike" sz="1200" u="none">
                  <a:solidFill>
                    <a:srgbClr val="3A2E31"/>
                  </a:solidFill>
                  <a:latin typeface="+mn-lt"/>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3A2E31"/>
                </a:solidFill>
                <a:latin typeface="+mn-lt"/>
              </a:defRPr>
            </a:pPr>
            <a:endParaRPr lang="en-US"/>
          </a:p>
        </c:txPr>
        <c:crossAx val="2094734552"/>
        <c:crosses val="autoZero"/>
        <c:auto val="1"/>
        <c:lblAlgn val="ctr"/>
        <c:noMultiLvlLbl val="1"/>
      </c:catAx>
      <c:valAx>
        <c:axId val="2094734552"/>
        <c:scaling>
          <c:orientation val="minMax"/>
          <c:max val="350"/>
          <c:min val="0"/>
        </c:scaling>
        <c:delete val="0"/>
        <c:axPos val="l"/>
        <c:majorGridlines>
          <c:spPr>
            <a:ln w="9525" cap="flat">
              <a:solidFill>
                <a:srgbClr val="E2D6D9"/>
              </a:solidFill>
              <a:prstDash val="solid"/>
              <a:round/>
            </a:ln>
          </c:spPr>
        </c:majorGridlines>
        <c:title>
          <c:tx>
            <c:rich>
              <a:bodyPr/>
              <a:lstStyle/>
              <a:p>
                <a:pPr>
                  <a:defRPr sz="1200" b="0" i="0" u="none" strike="noStrike">
                    <a:solidFill>
                      <a:srgbClr val="8A7E80"/>
                    </a:solidFill>
                    <a:latin typeface="+mn-lt"/>
                  </a:defRPr>
                </a:pPr>
                <a:r>
                  <a:rPr sz="1200" b="0" i="0" u="none" strike="noStrike">
                    <a:solidFill>
                      <a:srgbClr val="8A7E80"/>
                    </a:solidFill>
                    <a:latin typeface="+mn-lt"/>
                  </a:rPr>
                  <a:t>Device energy per review (mJ)</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8A7E80"/>
                </a:solidFill>
                <a:latin typeface="+mn-lt"/>
              </a:defRPr>
            </a:pPr>
            <a:endParaRPr lang="en-US"/>
          </a:p>
        </c:txPr>
        <c:crossAx val="2094734554"/>
        <c:crosses val="autoZero"/>
        <c:crossBetween val="between"/>
        <c:majorUnit val="50"/>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Aditya Achar · about 0:30 min
Good morning, everyone. I'm Aditya Achar, and with me are Danyson Antony and Ehsan Abdulkhader, from the School of Computer Science and Engineering at VIT. Our paper asks a simple question with a battery attached to it: when a tiny device reads a piece of text and isn't sure what it means, when should it ask a bigger model for help? Every request costs radio energy, so which requests are actually worth sending?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Aditya Achar · about 0:30 min
We've split the talk into three parts. I'll set up the problem, the system and the question we asked, and explain the data and how we kept it free of test-set leakage. Danyson will cover how we trained the models, what that cost, and the learned deferral method with its main result. Ehsan will show the results across all hubs, the energy analysis, what it means for battery life, our limitations and the takeaways. We'll take questions at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Aditya Achar · about 1:15 min
Start with who needs this. Social and assistive robots react to what people say, and on mobile robots computing is a major battery drain: measured studies find the motors are only about 17 to 55 percent of total power. Off-grid messengers, like a Meshtastic T-Deck, have people typing straight into an ESP32-S3 microcontroller. And wearables lean on the phone in your pocket. All of these handle text, and all of them run on batteries. The problem is size. An ESP32-S3 has 512 kilobytes of on-chip memory. DistilBERT, one of the smallest common transformers, has 66 million parameters. It simply does not fit. A tiny model does fit, but it is several points less accurate. So the device needs help from somewhere.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Aditya Achar · about 1:15 min
Our work sits where three lines of research meet. First, cascades: run a cheap model first and an expensive one only when needed. That goes back to the Viola–Jones face detector, and in language processing to confidence-based cascades by Varshney and Baral. Second, selective classification and learning to defer: instead of only knowing 'I might be wrong', a model learns when an expert would actually do better, as in Madras and colleagues, and Mozannar and Sontag. Third, TinyML and energy, where systems like EdgeBERT optimise transformer inference on custom chips. What nobody had tested is learned deferral on a microcontroller, where the deferral model itself must fit in 128 kilobytes and the cost that matters is battery energy. That is the gap we target.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Aditya Achar · about 1:15 min
Here is the system. On the left is the device: an ESP32-S3 on battery. It hashes the review's words and word pairs, with no vocabulary stored, and looks up a 256-kilobyte table of 8-bit weights. That gives p of x, its probability that the review is positive, and on its own it is 92.7 percent accurate. A second, 128-kilobyte model gives g of x: how much sending this review would help. Together the two models use 384 of the chip's 512 kilobytes. On the right is the hub: a Raspberry Pi Zero 2 W, about 15 dollars with 512 megabytes of RAM, running an 8-bit transformer that is 95.8 to 96.7 percent accurate. The rule is at the bottom: send only if g of x is greater than lambda. Lambda is the price of one Wi-Fi send, measured in accuracy. Raise it and the device sends less; lower it and it sends more. Sweeping lambda traces accuracy against battery.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Aditya Achar · about 1:00 min
So the real question is how to compute g. The standard answer is confidence routing: send the reviews the device is least sure about, scored as one minus its confidence. It is free; there is no extra model. The alternative is learned deferral: train a second small model to predict whether the hub would actually fix the device's answer. Its training label is the gain: plus one if the hub fixes the answer, minus one if the hub breaks a correct answer, and zero otherwise. Our hypothesis was that learned deferral would skip reviews the hub would also get wrong, or that the device already gets right, and so reach the same accuracy with fewer sends. To test that fairly we needed clean data, so let me show you how we built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Aditya Achar · about 1:15 min
Our test set is the official IMDb benchmark: 25,000 movie reviews that we never change, so our numbers are comparable with published work. We split the official 25,000 training reviews into 20,000 for training and 5,000 for validation. To train bigger and better models we built an extra pool. We started from 5.5 million scraped IMDb reviews and 17.3 million Amazon Movies and TV reviews. We labelled them with the standard IMDb rule: 4 out of 10 or less is negative, 7 or more is positive, and the middle is dropped. For Amazon it is one or two stars against four or five. After removing duplicates we had 4.1 million IMDb and 12 million Amazon reviews. The clean IMDb pool was then split three ways: 1.53 million for training, 300,000 held out for the deferral experiments, and a 50,000-review validation pool drawn from movies no model trains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Aditya Achar · about 1:15 min
The danger with scraped data is that it contains the test set. About 2.9 percent of IMDb test labels are wrong, so honest accuracy tops out around 97 percent; a result near 99 usually means leakage. So we removed every route we could find: 23,818 exact copies of test or validation reviews; every review written by an author who also wrote a test review, which is 635,853 reviews; another 163,409 reviews of the movies in the test set; and near-duplicates, meaning edited reposts that share 30 percent or more of a test review's eight-word sequences. One more catch: when we retrained the hub, we found that 31 percent of our old deferral slice was inside the new hub's training data. Labels from it would have been too optimistic, so we drew a new slice and verified it has zero overlap. Danyson will now take you through the models we trained on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Danyson Antony · about 1:15 min
The device model is deliberately simple, because it has to run on a microcontroller. It takes every word and every pair of adjacent words, hashes each into one of 262,144 buckets, and adds up the 8-bit weight stored for each bucket. Dividing by the square root of the number of buckets evens out long and short reviews, and a sigmoid turns the sum into a probability. The whole model is those 262,144 weights, which is 256 kilobytes, plus one scale and one bias. Training uses Naive Bayes feature weighting and logistic loss, optimised with averaged stochastic gradient descent for five passes, and the weights are then rounded to 8 bits. The chart shows why the data matters: validation accuracy climbs from 90.2 percent with 20,000 reviews to 92.8 percent with 1.94 million.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Danyson Antony · about 1:15 min
For the hub we trained transformers. The original hub was DistilBERT fine-tuned on just the 20,000 official reviews: two epochs on a laptop GPU, 47 minutes, and free. For the paper we retrained the hub on 1,020,000 reviews: those 20,000 plus one million from the clean pool. We trained both DistilBERT and RoBERTa-base, each for one epoch with a batch size of 32, which is 31,875 optimiser steps. We used AdamW with a 6 percent warm-up and bfloat16 precision, and long reviews keep their first 128 and last 382 tokens. Every 2,000 steps we checked accuracy on the 50,000-review validation pool and kept the best checkpoint. Both ran on a single NVIDIA H100 in the cloud: DistilBERT at about 2,240 reviews a second, RoBERTa-base at about 1,170.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Danyson Antony · about 1:00 min
Here is what that bought us, all on the official test set, where accuracy is simply the number right out of 25,000. TF-IDF with logistic regression gets 90.3 percent. Our 256-kilobyte device model gets 92.7. DistilBERT on 20,000 reviews gets 93.5; with the extra million it gets 95.8, a gain of 2.3 points. RoBERTa-base reaches 96.7 percent, which is 24,180 reviews out of 25,000. For reference, an ensemble of two large models plus our n-gram model reaches 97.4 percent, above the best peer-reviewed result of 97.1, in the extra-training-data setting. It is far too big for the hub; it simply shows the ceiling.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Danyson Antony · about 1:00 min
And here is what it cost. We itemised every cloud run from Modal's billing report. Retraining the two hubs for this paper cost 2 dollars 56: RoBERTa-base 1 dollar 64, DistilBERT 91 cents and tokenising 2 cents. RoBERTa-base reused RoBERTa-large's cached tokens, because the two split text identically, which saved a run. The large record-attempt models cost 17 dollars 71, most of it DeBERTa-v3-large at 9 dollars. Every run had a hard time limit, so none could overrun its budget, and everything was paid from free credits, so nothing was billed. The device model, the deferral models and all the analysis ran free on a laptop. Next, the router that decides what to send.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Danyson Antony · about 1:15 min
To train the learned router we need labels, and that is what the held-out 300,000 reviews are for: both the device and the hub have answered every one of them, and neither was trained on them. For each review, the gain is the hub being right minus the device being right. With the RoBERTa-base hub, 16,276 reviews are fixes, plus one; 3,732 are breaks, minus one; and 279,992 do not change. The router only sees what the device can compute: 65,536 hashed word buckets, plus the device's confidence in ten bins and the review length in nine. On the device that is two 8-bit weight tables, 128 kilobytes in all. It is a three-class logistic regression trained on 250,000 reviews, with its regularisation chosen on the other 50,000. Its score, g of x, is the probability of a fix minus the probability of a break.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Danyson Antony · about 1:30 min
Every threshold is chosen on validation data and applied to the test set exactly once. Here is one operating point worked through: the RoBERTa-base hub, confidence routing, aiming to send 10 percent. Step one: take the 90th percentile of the scores on the 5,000 validation reviews. That is 0.255, which means: send a review when the device's confidence is below 0.745. Step two: apply that threshold to the 25,000 test reviews. It sends 2,625 of them, 10.5 percent. Of those, the hub fixes 832 and breaks 127; 1,522 were already right and 144 are wrong either way. Step three: the device alone gets 23,079 right, so the accuracy is 23,079 plus 832 minus 127, divided by 25,000, which is 95.14 percent. Every number in our tables is computed exactly this 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Danyson Antony · about 1:15 min
Now the main result. This chart sweeps the share of reviews sent, from 0 to 60 percent, with the RoBERTa-base hub. The solid red line is confidence routing and the dashed green line is learned deferral. They lie on top of each other across the whole range. The dotted grey line is a perfect router that sends exactly the reviews the hub fixes. It reaches 97.3 percent at just 5 percent sent, so there is real room to improve; learned deferral just does not find it. Across all three hubs, the largest gap at any tested operating point is 0.14 points, and after correcting for running 15 tests, not one difference is significant. Ehsan will show you that this holds for every hub.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Ehsan Abdulkhader · about 1:15 min
Thank you, Danyson. Here are the operating points for all three hubs at 10 and 20 percent sent. Read across each row: confidence and learned land within about a tenth of a point. To test that properly we use the exact McNemar test on the paired predictions. Take RoBERTa-base at 10 percent: 68 reviews are right only with learned deferral and 44 only with confidence routing. If the two routers were equal, those would split 50-50; getting 44 or fewer out of 112 has a two-sided probability of 0.029. That looks significant, but we ran 15 such tests, so the Bonferroni threshold is 0.05 divided by 15, which is 0.0033, and 0.029 does not pass. Part of that gap also comes from learned deferral sending 10.7 percent of reviews instead of 10.5.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Ehsan Abdulkhader · about 1:15 min
So why doesn't it help? Learned deferral can win in two ways: by not sending reviews the hub would break, or by finding the reviews the hub would fix. Look at the chart. The weak 20,000-review hub breaks almost as many answers as it fixes: 3.9 percent against 4.1. The retrained hubs break only 1.2 to 1.5 percent, so the first kind of win has nearly disappeared. At 10 percent sent with RoBERTa-base, 58 percent of what either router sends was already right, and learned deferral does not reduce that. The second kind of win needs to know where the hub is right, and 128 kilobytes of word buckets carry little information about that beyond the device's own confidence. Next, what this means for energy.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Ehsan Abdulkhader · about 1:15 min
To turn send rates into battery use, we model the device's energy per review. Every review costs the device's own computation: 3.3 volts times 51.2 milliamps for 5 milliseconds, which is 0.84 millijoules. Each review it sends adds the radio: 283 milliamps for 10 milliseconds to transmit, plus 88 milliamps for about one second of listening while the hub answers. That is 299.7 millijoules per send. So the energy per review is 0.84 plus the share sent times 299.7, and sending everything costs 300.6 millijoules. The currents come from the ESP32-S3 datasheet; the three timings are placeholders until we measure them on the 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Ehsan Abdulkhader · about 1:15 min
Here is what that gives with the RoBERTa-base hub, with every target chosen on validation data. To close half the gap between the device and the hub, we send about 8 percent of reviews, at 25.8 millijoules: about 12 times less than sending everything. For three quarters of the gap, the target on validation is 92.56 plus three quarters of the 3.9-point gap, which is about 95.5 percent. That needs 16 percent sent on validation, which on test sends 16.9 percent and scores 95.89. The energy is 0.84 plus 0.169 times 299.7, which is 51.5 millijoules, 5.8 times less than sending everything. Matching the hub exactly needs most reviews sent, so the savings are in the middle of the curve.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Ehsan Abdulkhader · about 1:00 min
What does that mean for a battery? Take an illustrative 2,000 milliamp-hour cell at 3.7 volts, which holds 26,640 joules, and divide by the energy per review. Answering everything on the device gives about 31.5 million reviews per charge. Sending everything gives about 89,000. Closing three quarters of the gap gives about 517,000: almost six times more than sending everything, for most of the accuracy gain. This counts only the energy per review, not idle or sleep power, so it is a comparison between routing choices rather than a battery-life prediction.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Ehsan Abdulkhader · about 1:00 min
We want to be upfront about the limits. The energy is modelled, not measured: datasheet currents with placeholder timings, and we have not yet measured the hub's latency or the 8-bit model sizes on the Pi. We used one dataset, long English movie reviews. And a 0.1-point difference is only 25 of 25,000 test reviews, so small improvements are hard to prove. The next steps are the hardware: ESP32 firmware that tokenises, hashes and routes; a Pi hub serving an 8-bit model; and INA219 current measurements for real energy figures. And a better router needs new signals, such as disagreement between two small device models.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Ehsan Abdulkhader · about 0:45 min
To wrap up, three takeaways. One: confidence routing is enough. Learned deferral stayed within 0.14 points of it at every tested send rate, across three hubs. Two: stronger hubs change the game. They rarely break a correct device answer, which removes learned deferral's easiest win. Three: small sends, big savings. Sending one review in six closes three quarters of the gap at about six times less energy. Thank you. We are happy to take your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accent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097280"/>
            <a:ext cx="11064240" cy="228600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
        <p:nvSpPr>
          <p:cNvPr id="3" name="Text 0"/>
          <p:cNvSpPr/>
          <p:nvPr>
            <p:ph idx="101" type="body" hasCustomPrompt="1"/>
          </p:nvPr>
        </p:nvSpPr>
        <p:spPr>
          <a:xfrm>
            <a:off x="548640" y="3566160"/>
            <a:ext cx="10607040" cy="548640"/>
          </a:xfrm>
          <a:prstGeom prst="rect">
            <a:avLst/>
          </a:prstGeom>
          <a:noFill/>
          <a:ln/>
        </p:spPr>
        <p:txBody>
          <a:bodyPr wrap="square" rtlCol="0"/>
          <a:lstStyle>
            <a:lvl1pPr indent="0" marL="0">
              <a:buNone/>
              <a:defRPr lang="en-US" sz="2000" i="1" dirty="0">
                <a:solidFill>
                  <a:schemeClr val="bg2"/>
                </a:solidFill>
              </a:defRPr>
            </a:lvl1pPr>
          </a:lstStyle>
          <a:p>
            <a:pPr indent="0" marL="0">
              <a:buNone/>
            </a:pPr>
            <a:endParaRPr lang="en-US" sz="2000" dirty="0"/>
          </a:p>
        </p:txBody>
      </p:sp>
      <p:sp>
        <p:nvSpPr>
          <p:cNvPr id="4" name="Text 0"/>
          <p:cNvSpPr/>
          <p:nvPr>
            <p:ph idx="102" type="body" hasCustomPrompt="1"/>
          </p:nvPr>
        </p:nvSpPr>
        <p:spPr>
          <a:xfrm>
            <a:off x="548640" y="4846320"/>
            <a:ext cx="11064240" cy="411480"/>
          </a:xfrm>
          <a:prstGeom prst="rect">
            <a:avLst/>
          </a:prstGeom>
          <a:noFill/>
          <a:ln/>
        </p:spPr>
        <p:txBody>
          <a:bodyPr wrap="square" rtlCol="0"/>
          <a:lstStyle>
            <a:lvl1pPr indent="0" marL="0">
              <a:buNone/>
              <a:defRPr lang="en-US" sz="1600" b="1" dirty="0">
                <a:solidFill>
                  <a:schemeClr val="bg1"/>
                </a:solidFill>
              </a:defRPr>
            </a:lvl1pPr>
          </a:lstStyle>
          <a:p>
            <a:pPr indent="0" marL="0">
              <a:buNone/>
            </a:pPr>
            <a:endParaRPr lang="en-US" sz="1600" dirty="0"/>
          </a:p>
        </p:txBody>
      </p:sp>
      <p:sp>
        <p:nvSpPr>
          <p:cNvPr id="5" name="Text 0"/>
          <p:cNvSpPr/>
          <p:nvPr>
            <p:ph idx="103" type="body" hasCustomPrompt="1"/>
          </p:nvPr>
        </p:nvSpPr>
        <p:spPr>
          <a:xfrm>
            <a:off x="548640" y="5303520"/>
            <a:ext cx="11064240" cy="365760"/>
          </a:xfrm>
          <a:prstGeom prst="rect">
            <a:avLst/>
          </a:prstGeom>
          <a:noFill/>
          <a:ln/>
        </p:spPr>
        <p:txBody>
          <a:bodyPr wrap="square" rtlCol="0"/>
          <a:lstStyle>
            <a:lvl1pPr indent="0" marL="0">
              <a:buNone/>
              <a:defRPr lang="en-US" sz="1400" dirty="0">
                <a:solidFill>
                  <a:schemeClr val="bg2"/>
                </a:solidFill>
              </a:defRPr>
            </a:lvl1pPr>
          </a:lstStyle>
          <a:p>
            <a:pPr indent="0" marL="0">
              <a:buNone/>
            </a:pPr>
            <a:endParaRPr lang="en-US" sz="1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11274552" y="347472"/>
            <a:ext cx="384048" cy="384048"/>
          </a:xfrm>
          <a:prstGeom prst="rect">
            <a:avLst/>
          </a:prstGeom>
        </p:spPr>
      </p:pic>
      <p:sp>
        <p:nvSpPr>
          <p:cNvPr id="3" name="Text 0"/>
          <p:cNvSpPr/>
          <p:nvPr>
            <p:ph idx="101" type="body" hasCustomPrompt="1"/>
          </p:nvPr>
        </p:nvSpPr>
        <p:spPr>
          <a:xfrm>
            <a:off x="548640" y="365760"/>
            <a:ext cx="9601200" cy="292608"/>
          </a:xfrm>
          <a:prstGeom prst="rect">
            <a:avLst/>
          </a:prstGeom>
          <a:noFill/>
          <a:ln/>
        </p:spPr>
        <p:txBody>
          <a:bodyPr wrap="square" rtlCol="0"/>
          <a:lstStyle>
            <a:lvl1pPr indent="0" marL="0">
              <a:buNone/>
              <a:defRPr lang="en-US" sz="1200" b="1" dirty="0">
                <a:solidFill>
                  <a:schemeClr val="accent6"/>
                </a:solidFill>
              </a:defRPr>
            </a:lvl1pPr>
          </a:lstStyle>
          <a:p>
            <a:pPr indent="0" marL="0">
              <a:buNone/>
            </a:pPr>
            <a:endParaRPr lang="en-US" sz="1200" dirty="0"/>
          </a:p>
        </p:txBody>
      </p:sp>
      <p:sp>
        <p:nvSpPr>
          <p:cNvPr id="4" name="Text 0"/>
          <p:cNvSpPr/>
          <p:nvPr>
            <p:ph idx="102" type="title" hasCustomPrompt="1"/>
          </p:nvPr>
        </p:nvSpPr>
        <p:spPr>
          <a:xfrm>
            <a:off x="548640" y="676656"/>
            <a:ext cx="10424160" cy="822960"/>
          </a:xfrm>
          <a:prstGeom prst="rect">
            <a:avLst/>
          </a:prstGeom>
          <a:noFill/>
          <a:ln/>
        </p:spPr>
        <p:txBody>
          <a:bodyPr wrap="square" rtlCol="0"/>
          <a:lstStyle>
            <a:lvl1pPr algn="l" indent="0" marL="0">
              <a:buNone/>
              <a:defRPr lang="en-US" sz="3000" b="1" dirty="0">
                <a:solidFill>
                  <a:schemeClr val="tx2"/>
                </a:solidFill>
              </a:defRPr>
            </a:lvl1pPr>
          </a:lstStyle>
          <a:p>
            <a:pPr algn="l" indent="0" marL="0">
              <a:buNone/>
            </a:pPr>
            <a:endParaRPr lang="en-US" sz="3000" dirty="0"/>
          </a:p>
        </p:txBody>
      </p:sp>
      <p:sp>
        <p:nvSpPr>
          <p:cNvPr id="5" name="Text 0"/>
          <p:cNvSpPr/>
          <p:nvPr>
            <p:ph idx="103" type="body" hasCustomPrompt="1"/>
          </p:nvPr>
        </p:nvSpPr>
        <p:spPr>
          <a:xfrm>
            <a:off x="548640" y="6355080"/>
            <a:ext cx="10515600" cy="310896"/>
          </a:xfrm>
          <a:prstGeom prst="rect">
            <a:avLst/>
          </a:prstGeom>
          <a:noFill/>
          <a:ln/>
        </p:spPr>
        <p:txBody>
          <a:bodyPr wrap="square" rtlCol="0"/>
          <a:lstStyle>
            <a:lvl1pPr indent="0" marL="0">
              <a:buNone/>
              <a:defRPr lang="en-US" sz="1100" i="1" dirty="0">
                <a:solidFill>
                  <a:schemeClr val="accent6"/>
                </a:solidFill>
              </a:defRPr>
            </a:lvl1pPr>
          </a:lstStyle>
          <a:p>
            <a:pPr indent="0" marL="0">
              <a:buNone/>
            </a:pPr>
            <a:endParaRPr lang="en-US" sz="1100" dirty="0"/>
          </a:p>
        </p:txBody>
      </p:sp>
      <p:sp>
        <p:nvSpPr>
          <p:cNvPr id="25" name="Slide Number Placeholder 0"/>
          <p:cNvSpPr>
            <a:spLocks noGrp="1"/>
          </p:cNvSpPr>
          <p:nvPr>
            <p:ph type="sldNum" sz="quarter" idx="4294967295"/>
          </p:nvPr>
        </p:nvSpPr>
        <p:spPr>
          <a:xfrm>
            <a:off x="11274552" y="347472"/>
            <a:ext cx="384048" cy="384048"/>
          </a:xfrm>
          <a:prstGeom prst="rect">
            <a:avLst/>
          </a:prstGeom>
          <a:extLst>
            <a:ext uri="{C572A759-6A51-4108-AA02-DFA0A04FC94B}">
              <ma14:wrappingTextBoxFlag xmlns:ma14="http://schemas.microsoft.com/office/mac/drawingml/2011/main" val="0"/>
            </a:ext>
          </a:extLst>
        </p:spPr>
        <p:txBody>
          <a:bodyPr anchor="ctr"/>
          <a:lstStyle>
            <a:lvl1pPr>
              <a:defRPr sz="1200">
                <a:solidFill>
                  <a:srgbClr val="3A2E31"/>
                </a:solidFill>
              </a:defRPr>
            </a:lvl1pPr>
          </a:lstStyle>
          <a:p>
            <a:pPr algn="ct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_DARK">
    <p:bg>
      <p:bgPr>
        <a:solidFill>
          <a:schemeClr val="accent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502920"/>
            <a:ext cx="7315200" cy="320040"/>
          </a:xfrm>
          <a:prstGeom prst="rect">
            <a:avLst/>
          </a:prstGeom>
          <a:noFill/>
          <a:ln/>
        </p:spPr>
        <p:txBody>
          <a:bodyPr wrap="square" rtlCol="0"/>
          <a:lstStyle>
            <a:lvl1pPr indent="0" marL="0">
              <a:buNone/>
              <a:defRPr lang="en-US" sz="1200" b="1" dirty="0">
                <a:solidFill>
                  <a:schemeClr val="bg2"/>
                </a:solidFill>
              </a:defRPr>
            </a:lvl1pPr>
          </a:lstStyle>
          <a:p>
            <a:pPr indent="0" marL="0">
              <a:buNone/>
            </a:pPr>
            <a:endParaRPr lang="en-US" sz="1200" dirty="0"/>
          </a:p>
        </p:txBody>
      </p:sp>
      <p:sp>
        <p:nvSpPr>
          <p:cNvPr id="3" name="Text 0"/>
          <p:cNvSpPr/>
          <p:nvPr>
            <p:ph idx="101" type="title" hasCustomPrompt="1"/>
          </p:nvPr>
        </p:nvSpPr>
        <p:spPr>
          <a:xfrm>
            <a:off x="548640" y="868680"/>
            <a:ext cx="10607040" cy="822960"/>
          </a:xfrm>
          <a:prstGeom prst="rect">
            <a:avLst/>
          </a:prstGeom>
          <a:noFill/>
          <a:ln/>
        </p:spPr>
        <p:txBody>
          <a:bodyPr wrap="square" rtlCol="0"/>
          <a:lstStyle>
            <a:lvl1pPr algn="l" indent="0" marL="0">
              <a:buNone/>
              <a:defRPr lang="en-US" sz="3400" b="1" dirty="0">
                <a:solidFill>
                  <a:schemeClr val="bg1"/>
                </a:solidFill>
              </a:defRPr>
            </a:lvl1pPr>
          </a:lstStyle>
          <a:p>
            <a:pPr algn="l" indent="0" marL="0">
              <a:buNone/>
            </a:pPr>
            <a:endParaRPr lang="en-US" sz="34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74552" y="347472"/>
            <a:ext cx="384048" cy="384048"/>
          </a:xfrm>
          <a:prstGeom prst="rect">
            <a:avLst/>
          </a:prstGeom>
          <a:extLst>
            <a:ext uri="{C572A759-6A51-4108-AA02-DFA0A04FC94B}">
              <ma14:wrappingTextBoxFlag xmlns:ma14="http://schemas.microsoft.com/office/mac/drawingml/2011/main" val="0"/>
            </a:ext>
          </a:extLst>
        </p:spPr>
        <p:txBody>
          <a:bodyPr anchor="ctr"/>
          <a:lstStyle>
            <a:lvl1pPr>
              <a:defRPr sz="1200">
                <a:solidFill>
                  <a:srgbClr val="3A2E31"/>
                </a:solidFill>
              </a:defRPr>
            </a:lvl1pPr>
          </a:lstStyle>
          <a:p>
            <a:pPr algn="ct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3.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3.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3.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3.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3.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3.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image" Target="../media/image-17-1.png"/><Relationship Id="rId3" Type="http://schemas.openxmlformats.org/officeDocument/2006/relationships/image" Target="../media/image-17-2.png"/><Relationship Id="rId4" Type="http://schemas.openxmlformats.org/officeDocument/2006/relationships/image" Target="../media/image-17-3.png"/><Relationship Id="rId5" Type="http://schemas.openxmlformats.org/officeDocument/2006/relationships/slideLayout" Target="../slideLayouts/slideLayout3.xml"/><Relationship Id="rId6"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chart" Target="/ppt/charts/chart7.xml"/><Relationship Id="rId2" Type="http://schemas.openxmlformats.org/officeDocument/2006/relationships/slideLayout" Target="../slideLayouts/slideLayout3.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slideLayout" Target="../slideLayouts/slideLayout3.xml"/><Relationship Id="rId6"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097280"/>
            <a:ext cx="11064240" cy="2286000"/>
          </a:xfrm>
          <a:prstGeom prst="rect">
            <a:avLst/>
          </a:prstGeom>
          <a:noFill/>
          <a:ln/>
        </p:spPr>
        <p:txBody>
          <a:bodyPr wrap="square" lIns="0" tIns="0" rIns="0" bIns="0" rtlCol="0" anchor="b"/>
          <a:lstStyle/>
          <a:p>
            <a:pPr algn="l" indent="0" marL="0">
              <a:buNone/>
            </a:pPr>
            <a:r>
              <a:rPr lang="en-US" sz="3600" b="1" dirty="0">
                <a:solidFill>
                  <a:schemeClr val="bg1"/>
                </a:solidFill>
              </a:rPr>
              <a:t>Energy-Aware Routing of Sentiment Analysis</a:t>
            </a:r>
            <a:endParaRPr lang="en-US" sz="3600" dirty="0"/>
          </a:p>
          <a:p>
            <a:pPr algn="l" indent="0" marL="0">
              <a:buNone/>
            </a:pPr>
            <a:r>
              <a:rPr lang="en-US" sz="3600" b="1" dirty="0">
                <a:solidFill>
                  <a:schemeClr val="bg1"/>
                </a:solidFill>
              </a:rPr>
              <a:t>Between a Microcontroller and a Transformer Hub</a:t>
            </a:r>
            <a:endParaRPr lang="en-US" sz="3600" dirty="0"/>
          </a:p>
        </p:txBody>
      </p:sp>
      <p:sp>
        <p:nvSpPr>
          <p:cNvPr id="3" name="Text 0"/>
          <p:cNvSpPr/>
          <p:nvPr>
            <p:ph idx="101" type="body" hasCustomPrompt="1"/>
          </p:nvPr>
        </p:nvSpPr>
        <p:spPr>
          <a:xfrm>
            <a:off x="548640" y="3566160"/>
            <a:ext cx="10607040" cy="548640"/>
          </a:xfrm>
          <a:prstGeom prst="rect">
            <a:avLst/>
          </a:prstGeom>
          <a:noFill/>
          <a:ln/>
        </p:spPr>
        <p:txBody>
          <a:bodyPr wrap="square" lIns="0" tIns="0" rIns="0" bIns="0" rtlCol="0"/>
          <a:lstStyle/>
          <a:p>
            <a:pPr indent="0" marL="0">
              <a:buNone/>
            </a:pPr>
            <a:r>
              <a:rPr lang="en-US" sz="2000" i="1" dirty="0">
                <a:solidFill>
                  <a:schemeClr val="bg2"/>
                </a:solidFill>
              </a:rPr>
              <a:t>Does learning to defer beat confidence routing on a battery-powered device?</a:t>
            </a:r>
            <a:endParaRPr lang="en-US" sz="2000" dirty="0"/>
          </a:p>
        </p:txBody>
      </p:sp>
      <p:sp>
        <p:nvSpPr>
          <p:cNvPr id="4" name="Text 0"/>
          <p:cNvSpPr/>
          <p:nvPr>
            <p:ph idx="102" type="body" hasCustomPrompt="1"/>
          </p:nvPr>
        </p:nvSpPr>
        <p:spPr>
          <a:xfrm>
            <a:off x="548640" y="4846320"/>
            <a:ext cx="11064240" cy="411480"/>
          </a:xfrm>
          <a:prstGeom prst="rect">
            <a:avLst/>
          </a:prstGeom>
          <a:noFill/>
          <a:ln/>
        </p:spPr>
        <p:txBody>
          <a:bodyPr wrap="square" lIns="0" tIns="0" rIns="0" bIns="0" rtlCol="0"/>
          <a:lstStyle/>
          <a:p>
            <a:pPr indent="0" marL="0">
              <a:buNone/>
            </a:pPr>
            <a:r>
              <a:rPr lang="en-US" sz="1600" b="1" dirty="0">
                <a:solidFill>
                  <a:schemeClr val="bg1"/>
                </a:solidFill>
              </a:rPr>
              <a:t>Ehsan Abdulkhader 24BCT0089  ·  Danyson Antony 24BAI0196  ·  Aditya Achar 24BCI0250</a:t>
            </a:r>
            <a:endParaRPr lang="en-US" sz="1600" dirty="0"/>
          </a:p>
        </p:txBody>
      </p:sp>
      <p:sp>
        <p:nvSpPr>
          <p:cNvPr id="5" name="Text 0"/>
          <p:cNvSpPr/>
          <p:nvPr>
            <p:ph idx="103" type="body" hasCustomPrompt="1"/>
          </p:nvPr>
        </p:nvSpPr>
        <p:spPr>
          <a:xfrm>
            <a:off x="548640" y="5303520"/>
            <a:ext cx="11064240" cy="365760"/>
          </a:xfrm>
          <a:prstGeom prst="rect">
            <a:avLst/>
          </a:prstGeom>
          <a:noFill/>
          <a:ln/>
        </p:spPr>
        <p:txBody>
          <a:bodyPr wrap="square" lIns="0" tIns="0" rIns="0" bIns="0" rtlCol="0"/>
          <a:lstStyle/>
          <a:p>
            <a:pPr indent="0" marL="0">
              <a:buNone/>
            </a:pPr>
            <a:r>
              <a:rPr lang="en-US" sz="1400" dirty="0">
                <a:solidFill>
                  <a:schemeClr val="bg2"/>
                </a:solidFill>
              </a:rPr>
              <a:t>School of Computer Science and Engineering, Vellore Institute of Technology, Vellore</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1" type="body" hasCustomPrompt="1"/>
          </p:nvPr>
        </p:nvSpPr>
        <p:spPr>
          <a:xfrm>
            <a:off x="548640" y="365760"/>
            <a:ext cx="9601200" cy="292608"/>
          </a:xfrm>
          <a:prstGeom prst="rect">
            <a:avLst/>
          </a:prstGeom>
          <a:noFill/>
          <a:ln/>
        </p:spPr>
        <p:txBody>
          <a:bodyPr wrap="square" lIns="0" tIns="0" rIns="0" bIns="0" rtlCol="0"/>
          <a:lstStyle/>
          <a:p>
            <a:pPr indent="0" marL="0">
              <a:buNone/>
            </a:pPr>
            <a:r>
              <a:rPr lang="en-US" sz="1200" b="1" spc="200" kern="0" dirty="0">
                <a:solidFill>
                  <a:schemeClr val="accent6"/>
                </a:solidFill>
              </a:rPr>
              <a:t>AGENDA  ·  ADITYA ACHAR</a:t>
            </a:r>
            <a:endParaRPr lang="en-US" sz="1200" dirty="0"/>
          </a:p>
        </p:txBody>
      </p:sp>
      <p:sp>
        <p:nvSpPr>
          <p:cNvPr id="3" name="Text 0"/>
          <p:cNvSpPr/>
          <p:nvPr>
            <p:ph idx="102" type="title" hasCustomPrompt="1"/>
          </p:nvPr>
        </p:nvSpPr>
        <p:spPr>
          <a:xfrm>
            <a:off x="548640" y="676656"/>
            <a:ext cx="10424160" cy="822960"/>
          </a:xfrm>
          <a:prstGeom prst="rect">
            <a:avLst/>
          </a:prstGeom>
          <a:noFill/>
          <a:ln/>
        </p:spPr>
        <p:txBody>
          <a:bodyPr wrap="square" lIns="0" tIns="0" rIns="0" bIns="0" rtlCol="0" anchor="t"/>
          <a:lstStyle/>
          <a:p>
            <a:pPr algn="l" indent="0" marL="0">
              <a:buNone/>
            </a:pPr>
            <a:r>
              <a:rPr lang="en-US" sz="3000" b="1" dirty="0">
                <a:solidFill>
                  <a:schemeClr val="tx2"/>
                </a:solidFill>
              </a:rPr>
              <a:t>Three parts, three presenters, about 25 minutes</a:t>
            </a:r>
            <a:endParaRPr lang="en-US" sz="3000" dirty="0"/>
          </a:p>
        </p:txBody>
      </p:sp>
      <p:sp>
        <p:nvSpPr>
          <p:cNvPr id="4" name="Part 1"/>
          <p:cNvSpPr/>
          <p:nvPr/>
        </p:nvSpPr>
        <p:spPr>
          <a:xfrm>
            <a:off x="548640" y="1783080"/>
            <a:ext cx="3474720" cy="4023360"/>
          </a:xfrm>
          <a:prstGeom prst="roundRect">
            <a:avLst>
              <a:gd name="adj" fmla="val 2105"/>
            </a:avLst>
          </a:prstGeom>
          <a:solidFill>
            <a:schemeClr val="bg2"/>
          </a:solidFill>
          <a:ln/>
          <a:effectLst>
            <a:outerShdw sx="100000" sy="100000" kx="0" ky="0" algn="bl" rotWithShape="0" blurRad="76200" dist="25400" dir="5400000">
              <a:srgbClr val="9C8189">
                <a:alpha val="16000"/>
              </a:srgbClr>
            </a:outerShdw>
          </a:effectLst>
        </p:spPr>
      </p:sp>
      <p:sp>
        <p:nvSpPr>
          <p:cNvPr id="5" name="Shape 3"/>
          <p:cNvSpPr/>
          <p:nvPr/>
        </p:nvSpPr>
        <p:spPr>
          <a:xfrm>
            <a:off x="822960" y="2057400"/>
            <a:ext cx="685800" cy="685800"/>
          </a:xfrm>
          <a:prstGeom prst="ellipse">
            <a:avLst/>
          </a:prstGeom>
          <a:solidFill>
            <a:schemeClr val="accent2"/>
          </a:solidFill>
          <a:ln/>
        </p:spPr>
      </p:sp>
      <p:pic>
        <p:nvPicPr>
          <p:cNvPr id="6" name="Image 0" descr="preencoded.png">    </p:cNvPr>
          <p:cNvPicPr>
            <a:picLocks noChangeAspect="1"/>
          </p:cNvPicPr>
          <p:nvPr/>
        </p:nvPicPr>
        <p:blipFill>
          <a:blip r:embed="rId1"/>
          <a:stretch>
            <a:fillRect/>
          </a:stretch>
        </p:blipFill>
        <p:spPr>
          <a:xfrm>
            <a:off x="994410" y="2228850"/>
            <a:ext cx="342900" cy="342900"/>
          </a:xfrm>
          <a:prstGeom prst="rect">
            <a:avLst/>
          </a:prstGeom>
        </p:spPr>
      </p:pic>
      <p:sp>
        <p:nvSpPr>
          <p:cNvPr id="7" name="Text 4"/>
          <p:cNvSpPr txBox="1"/>
          <p:nvPr/>
        </p:nvSpPr>
        <p:spPr>
          <a:xfrm>
            <a:off x="822960" y="2971800"/>
            <a:ext cx="2926080" cy="274320"/>
          </a:xfrm>
          <a:prstGeom prst="rect">
            <a:avLst/>
          </a:prstGeom>
          <a:noFill/>
          <a:ln/>
        </p:spPr>
        <p:txBody>
          <a:bodyPr wrap="square" lIns="0" tIns="0" rIns="0" bIns="0" rtlCol="0" anchor="ctr"/>
          <a:lstStyle/>
          <a:p>
            <a:pPr indent="0" marL="0">
              <a:buNone/>
            </a:pPr>
            <a:r>
              <a:rPr lang="en-US" sz="1200" b="1" spc="200" kern="0" dirty="0">
                <a:solidFill>
                  <a:schemeClr val="accent6"/>
                </a:solidFill>
              </a:rPr>
              <a:t>PART 1</a:t>
            </a:r>
            <a:endParaRPr lang="en-US" sz="1200" dirty="0"/>
          </a:p>
        </p:txBody>
      </p:sp>
      <p:sp>
        <p:nvSpPr>
          <p:cNvPr id="8" name="Text 5"/>
          <p:cNvSpPr txBox="1"/>
          <p:nvPr/>
        </p:nvSpPr>
        <p:spPr>
          <a:xfrm>
            <a:off x="822960" y="3291840"/>
            <a:ext cx="2926080" cy="731520"/>
          </a:xfrm>
          <a:prstGeom prst="rect">
            <a:avLst/>
          </a:prstGeom>
          <a:noFill/>
          <a:ln/>
        </p:spPr>
        <p:txBody>
          <a:bodyPr wrap="square" lIns="0" tIns="0" rIns="0" bIns="0" rtlCol="0" anchor="t"/>
          <a:lstStyle/>
          <a:p>
            <a:pPr indent="0" marL="0">
              <a:buNone/>
            </a:pPr>
            <a:r>
              <a:rPr lang="en-US" sz="2000" b="1" dirty="0">
                <a:solidFill>
                  <a:schemeClr val="tx2"/>
                </a:solidFill>
                <a:latin typeface="Cambria" pitchFamily="34" charset="0"/>
                <a:ea typeface="Cambria" pitchFamily="34" charset="-122"/>
                <a:cs typeface="Cambria" pitchFamily="34" charset="-120"/>
              </a:rPr>
              <a:t>The problem, the idea and the data</a:t>
            </a:r>
            <a:endParaRPr lang="en-US" sz="2000" dirty="0"/>
          </a:p>
        </p:txBody>
      </p:sp>
      <p:sp>
        <p:nvSpPr>
          <p:cNvPr id="9" name="Text 6"/>
          <p:cNvSpPr txBox="1"/>
          <p:nvPr/>
        </p:nvSpPr>
        <p:spPr>
          <a:xfrm>
            <a:off x="822960" y="4206240"/>
            <a:ext cx="2926080" cy="365760"/>
          </a:xfrm>
          <a:prstGeom prst="rect">
            <a:avLst/>
          </a:prstGeom>
          <a:noFill/>
          <a:ln/>
        </p:spPr>
        <p:txBody>
          <a:bodyPr wrap="square" lIns="0" tIns="0" rIns="0" bIns="0" rtlCol="0" anchor="ctr"/>
          <a:lstStyle/>
          <a:p>
            <a:pPr indent="0" marL="0">
              <a:buNone/>
            </a:pPr>
            <a:r>
              <a:rPr lang="en-US" sz="1600" b="1" dirty="0">
                <a:solidFill>
                  <a:schemeClr val="accent2"/>
                </a:solidFill>
              </a:rPr>
              <a:t>Aditya Achar</a:t>
            </a:r>
            <a:endParaRPr lang="en-US" sz="1600" dirty="0"/>
          </a:p>
        </p:txBody>
      </p:sp>
      <p:sp>
        <p:nvSpPr>
          <p:cNvPr id="10" name="Text 7"/>
          <p:cNvSpPr txBox="1"/>
          <p:nvPr/>
        </p:nvSpPr>
        <p:spPr>
          <a:xfrm>
            <a:off x="822960" y="4617720"/>
            <a:ext cx="2926080" cy="320040"/>
          </a:xfrm>
          <a:prstGeom prst="rect">
            <a:avLst/>
          </a:prstGeom>
          <a:noFill/>
          <a:ln/>
        </p:spPr>
        <p:txBody>
          <a:bodyPr wrap="square" lIns="0" tIns="0" rIns="0" bIns="0" rtlCol="0" anchor="ctr"/>
          <a:lstStyle/>
          <a:p>
            <a:pPr indent="0" marL="0">
              <a:buNone/>
            </a:pPr>
            <a:r>
              <a:rPr lang="en-US" sz="1400" dirty="0">
                <a:solidFill>
                  <a:schemeClr val="accent6"/>
                </a:solidFill>
              </a:rPr>
              <a:t>Slides 1–8</a:t>
            </a:r>
            <a:endParaRPr lang="en-US" sz="1400" dirty="0"/>
          </a:p>
        </p:txBody>
      </p:sp>
      <p:sp>
        <p:nvSpPr>
          <p:cNvPr id="11" name="Part 2"/>
          <p:cNvSpPr/>
          <p:nvPr/>
        </p:nvSpPr>
        <p:spPr>
          <a:xfrm>
            <a:off x="4297680" y="1783080"/>
            <a:ext cx="3474720" cy="4023360"/>
          </a:xfrm>
          <a:prstGeom prst="roundRect">
            <a:avLst>
              <a:gd name="adj" fmla="val 2105"/>
            </a:avLst>
          </a:prstGeom>
          <a:solidFill>
            <a:schemeClr val="bg2"/>
          </a:solidFill>
          <a:ln/>
          <a:effectLst>
            <a:outerShdw sx="100000" sy="100000" kx="0" ky="0" algn="bl" rotWithShape="0" blurRad="76200" dist="25400" dir="5400000">
              <a:srgbClr val="9C8189">
                <a:alpha val="16000"/>
              </a:srgbClr>
            </a:outerShdw>
          </a:effectLst>
        </p:spPr>
      </p:sp>
      <p:sp>
        <p:nvSpPr>
          <p:cNvPr id="12" name="Shape 9"/>
          <p:cNvSpPr/>
          <p:nvPr/>
        </p:nvSpPr>
        <p:spPr>
          <a:xfrm>
            <a:off x="4572000" y="2057400"/>
            <a:ext cx="685800" cy="685800"/>
          </a:xfrm>
          <a:prstGeom prst="ellipse">
            <a:avLst/>
          </a:prstGeom>
          <a:solidFill>
            <a:schemeClr val="accent3"/>
          </a:solidFill>
          <a:ln/>
        </p:spPr>
      </p:sp>
      <p:pic>
        <p:nvPicPr>
          <p:cNvPr id="13" name="Image 1" descr="preencoded.png">    </p:cNvPr>
          <p:cNvPicPr>
            <a:picLocks noChangeAspect="1"/>
          </p:cNvPicPr>
          <p:nvPr/>
        </p:nvPicPr>
        <p:blipFill>
          <a:blip r:embed="rId2"/>
          <a:stretch>
            <a:fillRect/>
          </a:stretch>
        </p:blipFill>
        <p:spPr>
          <a:xfrm>
            <a:off x="4743450" y="2228850"/>
            <a:ext cx="342900" cy="342900"/>
          </a:xfrm>
          <a:prstGeom prst="rect">
            <a:avLst/>
          </a:prstGeom>
        </p:spPr>
      </p:pic>
      <p:sp>
        <p:nvSpPr>
          <p:cNvPr id="14" name="Text 10"/>
          <p:cNvSpPr txBox="1"/>
          <p:nvPr/>
        </p:nvSpPr>
        <p:spPr>
          <a:xfrm>
            <a:off x="4572000" y="2971800"/>
            <a:ext cx="2926080" cy="274320"/>
          </a:xfrm>
          <a:prstGeom prst="rect">
            <a:avLst/>
          </a:prstGeom>
          <a:noFill/>
          <a:ln/>
        </p:spPr>
        <p:txBody>
          <a:bodyPr wrap="square" lIns="0" tIns="0" rIns="0" bIns="0" rtlCol="0" anchor="ctr"/>
          <a:lstStyle/>
          <a:p>
            <a:pPr indent="0" marL="0">
              <a:buNone/>
            </a:pPr>
            <a:r>
              <a:rPr lang="en-US" sz="1200" b="1" spc="200" kern="0" dirty="0">
                <a:solidFill>
                  <a:schemeClr val="accent6"/>
                </a:solidFill>
              </a:rPr>
              <a:t>PART 2</a:t>
            </a:r>
            <a:endParaRPr lang="en-US" sz="1200" dirty="0"/>
          </a:p>
        </p:txBody>
      </p:sp>
      <p:sp>
        <p:nvSpPr>
          <p:cNvPr id="15" name="Text 11"/>
          <p:cNvSpPr txBox="1"/>
          <p:nvPr/>
        </p:nvSpPr>
        <p:spPr>
          <a:xfrm>
            <a:off x="4572000" y="3291840"/>
            <a:ext cx="2926080" cy="731520"/>
          </a:xfrm>
          <a:prstGeom prst="rect">
            <a:avLst/>
          </a:prstGeom>
          <a:noFill/>
          <a:ln/>
        </p:spPr>
        <p:txBody>
          <a:bodyPr wrap="square" lIns="0" tIns="0" rIns="0" bIns="0" rtlCol="0" anchor="t"/>
          <a:lstStyle/>
          <a:p>
            <a:pPr indent="0" marL="0">
              <a:buNone/>
            </a:pPr>
            <a:r>
              <a:rPr lang="en-US" sz="2000" b="1" dirty="0">
                <a:solidFill>
                  <a:schemeClr val="tx2"/>
                </a:solidFill>
                <a:latin typeface="Cambria" pitchFamily="34" charset="0"/>
                <a:ea typeface="Cambria" pitchFamily="34" charset="-122"/>
                <a:cs typeface="Cambria" pitchFamily="34" charset="-120"/>
              </a:rPr>
              <a:t>Models, cost and learned deferral</a:t>
            </a:r>
            <a:endParaRPr lang="en-US" sz="2000" dirty="0"/>
          </a:p>
        </p:txBody>
      </p:sp>
      <p:sp>
        <p:nvSpPr>
          <p:cNvPr id="16" name="Text 12"/>
          <p:cNvSpPr txBox="1"/>
          <p:nvPr/>
        </p:nvSpPr>
        <p:spPr>
          <a:xfrm>
            <a:off x="4572000" y="4206240"/>
            <a:ext cx="2926080" cy="365760"/>
          </a:xfrm>
          <a:prstGeom prst="rect">
            <a:avLst/>
          </a:prstGeom>
          <a:noFill/>
          <a:ln/>
        </p:spPr>
        <p:txBody>
          <a:bodyPr wrap="square" lIns="0" tIns="0" rIns="0" bIns="0" rtlCol="0" anchor="ctr"/>
          <a:lstStyle/>
          <a:p>
            <a:pPr indent="0" marL="0">
              <a:buNone/>
            </a:pPr>
            <a:r>
              <a:rPr lang="en-US" sz="1600" b="1" dirty="0">
                <a:solidFill>
                  <a:schemeClr val="accent3"/>
                </a:solidFill>
              </a:rPr>
              <a:t>Danyson Antony</a:t>
            </a:r>
            <a:endParaRPr lang="en-US" sz="1600" dirty="0"/>
          </a:p>
        </p:txBody>
      </p:sp>
      <p:sp>
        <p:nvSpPr>
          <p:cNvPr id="17" name="Text 13"/>
          <p:cNvSpPr txBox="1"/>
          <p:nvPr/>
        </p:nvSpPr>
        <p:spPr>
          <a:xfrm>
            <a:off x="4572000" y="4617720"/>
            <a:ext cx="2926080" cy="320040"/>
          </a:xfrm>
          <a:prstGeom prst="rect">
            <a:avLst/>
          </a:prstGeom>
          <a:noFill/>
          <a:ln/>
        </p:spPr>
        <p:txBody>
          <a:bodyPr wrap="square" lIns="0" tIns="0" rIns="0" bIns="0" rtlCol="0" anchor="ctr"/>
          <a:lstStyle/>
          <a:p>
            <a:pPr indent="0" marL="0">
              <a:buNone/>
            </a:pPr>
            <a:r>
              <a:rPr lang="en-US" sz="1400" dirty="0">
                <a:solidFill>
                  <a:schemeClr val="accent6"/>
                </a:solidFill>
              </a:rPr>
              <a:t>Slides 9–15</a:t>
            </a:r>
            <a:endParaRPr lang="en-US" sz="1400" dirty="0"/>
          </a:p>
        </p:txBody>
      </p:sp>
      <p:sp>
        <p:nvSpPr>
          <p:cNvPr id="18" name="Part 3"/>
          <p:cNvSpPr/>
          <p:nvPr/>
        </p:nvSpPr>
        <p:spPr>
          <a:xfrm>
            <a:off x="8046720" y="1783080"/>
            <a:ext cx="3474720" cy="4023360"/>
          </a:xfrm>
          <a:prstGeom prst="roundRect">
            <a:avLst>
              <a:gd name="adj" fmla="val 2105"/>
            </a:avLst>
          </a:prstGeom>
          <a:solidFill>
            <a:schemeClr val="bg2"/>
          </a:solidFill>
          <a:ln/>
          <a:effectLst>
            <a:outerShdw sx="100000" sy="100000" kx="0" ky="0" algn="bl" rotWithShape="0" blurRad="76200" dist="25400" dir="5400000">
              <a:srgbClr val="9C8189">
                <a:alpha val="16000"/>
              </a:srgbClr>
            </a:outerShdw>
          </a:effectLst>
        </p:spPr>
      </p:sp>
      <p:sp>
        <p:nvSpPr>
          <p:cNvPr id="19" name="Shape 15"/>
          <p:cNvSpPr/>
          <p:nvPr/>
        </p:nvSpPr>
        <p:spPr>
          <a:xfrm>
            <a:off x="8321040" y="2057400"/>
            <a:ext cx="685800" cy="685800"/>
          </a:xfrm>
          <a:prstGeom prst="ellipse">
            <a:avLst/>
          </a:prstGeom>
          <a:solidFill>
            <a:schemeClr val="accent2"/>
          </a:solidFill>
          <a:ln/>
        </p:spPr>
      </p:sp>
      <p:pic>
        <p:nvPicPr>
          <p:cNvPr id="20" name="Image 2" descr="preencoded.png">    </p:cNvPr>
          <p:cNvPicPr>
            <a:picLocks noChangeAspect="1"/>
          </p:cNvPicPr>
          <p:nvPr/>
        </p:nvPicPr>
        <p:blipFill>
          <a:blip r:embed="rId3"/>
          <a:stretch>
            <a:fillRect/>
          </a:stretch>
        </p:blipFill>
        <p:spPr>
          <a:xfrm>
            <a:off x="8492490" y="2228850"/>
            <a:ext cx="342900" cy="342900"/>
          </a:xfrm>
          <a:prstGeom prst="rect">
            <a:avLst/>
          </a:prstGeom>
        </p:spPr>
      </p:pic>
      <p:sp>
        <p:nvSpPr>
          <p:cNvPr id="21" name="Text 16"/>
          <p:cNvSpPr txBox="1"/>
          <p:nvPr/>
        </p:nvSpPr>
        <p:spPr>
          <a:xfrm>
            <a:off x="8321040" y="2971800"/>
            <a:ext cx="2926080" cy="274320"/>
          </a:xfrm>
          <a:prstGeom prst="rect">
            <a:avLst/>
          </a:prstGeom>
          <a:noFill/>
          <a:ln/>
        </p:spPr>
        <p:txBody>
          <a:bodyPr wrap="square" lIns="0" tIns="0" rIns="0" bIns="0" rtlCol="0" anchor="ctr"/>
          <a:lstStyle/>
          <a:p>
            <a:pPr indent="0" marL="0">
              <a:buNone/>
            </a:pPr>
            <a:r>
              <a:rPr lang="en-US" sz="1200" b="1" spc="200" kern="0" dirty="0">
                <a:solidFill>
                  <a:schemeClr val="accent6"/>
                </a:solidFill>
              </a:rPr>
              <a:t>PART 3</a:t>
            </a:r>
            <a:endParaRPr lang="en-US" sz="1200" dirty="0"/>
          </a:p>
        </p:txBody>
      </p:sp>
      <p:sp>
        <p:nvSpPr>
          <p:cNvPr id="22" name="Text 17"/>
          <p:cNvSpPr txBox="1"/>
          <p:nvPr/>
        </p:nvSpPr>
        <p:spPr>
          <a:xfrm>
            <a:off x="8321040" y="3291840"/>
            <a:ext cx="2926080" cy="731520"/>
          </a:xfrm>
          <a:prstGeom prst="rect">
            <a:avLst/>
          </a:prstGeom>
          <a:noFill/>
          <a:ln/>
        </p:spPr>
        <p:txBody>
          <a:bodyPr wrap="square" lIns="0" tIns="0" rIns="0" bIns="0" rtlCol="0" anchor="t"/>
          <a:lstStyle/>
          <a:p>
            <a:pPr indent="0" marL="0">
              <a:buNone/>
            </a:pPr>
            <a:r>
              <a:rPr lang="en-US" sz="2000" b="1" dirty="0">
                <a:solidFill>
                  <a:schemeClr val="tx2"/>
                </a:solidFill>
                <a:latin typeface="Cambria" pitchFamily="34" charset="0"/>
                <a:ea typeface="Cambria" pitchFamily="34" charset="-122"/>
                <a:cs typeface="Cambria" pitchFamily="34" charset="-120"/>
              </a:rPr>
              <a:t>Results, energy and conclusions</a:t>
            </a:r>
            <a:endParaRPr lang="en-US" sz="2000" dirty="0"/>
          </a:p>
        </p:txBody>
      </p:sp>
      <p:sp>
        <p:nvSpPr>
          <p:cNvPr id="23" name="Text 18"/>
          <p:cNvSpPr txBox="1"/>
          <p:nvPr/>
        </p:nvSpPr>
        <p:spPr>
          <a:xfrm>
            <a:off x="8321040" y="4206240"/>
            <a:ext cx="2926080" cy="365760"/>
          </a:xfrm>
          <a:prstGeom prst="rect">
            <a:avLst/>
          </a:prstGeom>
          <a:noFill/>
          <a:ln/>
        </p:spPr>
        <p:txBody>
          <a:bodyPr wrap="square" lIns="0" tIns="0" rIns="0" bIns="0" rtlCol="0" anchor="ctr"/>
          <a:lstStyle/>
          <a:p>
            <a:pPr indent="0" marL="0">
              <a:buNone/>
            </a:pPr>
            <a:r>
              <a:rPr lang="en-US" sz="1600" b="1" dirty="0">
                <a:solidFill>
                  <a:schemeClr val="accent2"/>
                </a:solidFill>
              </a:rPr>
              <a:t>Ehsan Abdulkhader</a:t>
            </a:r>
            <a:endParaRPr lang="en-US" sz="1600" dirty="0"/>
          </a:p>
        </p:txBody>
      </p:sp>
      <p:sp>
        <p:nvSpPr>
          <p:cNvPr id="24" name="Text 19"/>
          <p:cNvSpPr txBox="1"/>
          <p:nvPr/>
        </p:nvSpPr>
        <p:spPr>
          <a:xfrm>
            <a:off x="8321040" y="4617720"/>
            <a:ext cx="2926080" cy="320040"/>
          </a:xfrm>
          <a:prstGeom prst="rect">
            <a:avLst/>
          </a:prstGeom>
          <a:noFill/>
          <a:ln/>
        </p:spPr>
        <p:txBody>
          <a:bodyPr wrap="square" lIns="0" tIns="0" rIns="0" bIns="0" rtlCol="0" anchor="ctr"/>
          <a:lstStyle/>
          <a:p>
            <a:pPr indent="0" marL="0">
              <a:buNone/>
            </a:pPr>
            <a:r>
              <a:rPr lang="en-US" sz="1400" dirty="0">
                <a:solidFill>
                  <a:schemeClr val="accent6"/>
                </a:solidFill>
              </a:rPr>
              <a:t>Slides 16–22</a:t>
            </a:r>
            <a:endParaRPr lang="en-US" sz="1400" dirty="0"/>
          </a:p>
        </p:txBody>
      </p:sp>
      <p:sp>
        <p:nvSpPr>
          <p:cNvPr id="26" name="Text 0"/>
          <p:cNvSpPr/>
          <p:nvPr>
            <p:ph idx="103" type="body" hasCustomPrompt="1"/>
          </p:nvPr>
        </p:nvSpPr>
        <p:spPr>
          <a:xfrm>
            <a:off x="548640" y="6355080"/>
            <a:ext cx="10515600" cy="310896"/>
          </a:xfrm>
          <a:prstGeom prst="rect">
            <a:avLst/>
          </a:prstGeom>
          <a:noFill/>
          <a:ln/>
        </p:spPr>
        <p:txBody>
          <a:bodyPr wrap="square" lIns="0" tIns="0" rIns="0" bIns="0" rtlCol="0"/>
          <a:lstStyle/>
          <a:p>
            <a:pPr indent="0" marL="0">
              <a:buNone/>
            </a:pPr>
            <a:endParaRPr lang="en-US" sz="1100" dirty="0"/>
          </a:p>
        </p:txBody>
      </p:sp>
      <p:sp>
        <p:nvSpPr>
          <p:cNvPr id="25" name="Slide Number Placeholder 0"/>
          <p:cNvSpPr>
            <a:spLocks noGrp="1"/>
          </p:cNvSpPr>
          <p:nvPr>
            <p:ph type="sldNum" sz="quarter" idx="4294967295"/>
          </p:nvPr>
        </p:nvSpPr>
        <p:spPr>
          <a:xfrm>
            <a:off x="11274552" y="347472"/>
            <a:ext cx="384048" cy="384048"/>
          </a:xfrm>
          <a:prstGeom prst="rect">
            <a:avLst/>
          </a:prstGeom>
          <a:extLst>
            <a:ext uri="{C572A759-6A51-4108-AA02-DFA0A04FC94B}">
              <ma14:wrappingTextBoxFlag xmlns:ma14="http://schemas.microsoft.com/office/mac/drawingml/2011/main" val="0"/>
            </a:ext>
          </a:extLst>
        </p:spPr>
        <p:txBody>
          <a:bodyPr anchor="ctr"/>
          <a:lstStyle>
            <a:lvl1pPr>
              <a:defRPr sz="1200">
                <a:solidFill>
                  <a:srgbClr val="3A2E31"/>
                </a:solidFill>
              </a:defRPr>
            </a:lvl1pPr>
          </a:lstStyle>
          <a:p>
            <a:pPr algn="ct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1" type="body" hasCustomPrompt="1"/>
          </p:nvPr>
        </p:nvSpPr>
        <p:spPr>
          <a:xfrm>
            <a:off x="548640" y="365760"/>
            <a:ext cx="9601200" cy="292608"/>
          </a:xfrm>
          <a:prstGeom prst="rect">
            <a:avLst/>
          </a:prstGeom>
          <a:noFill/>
          <a:ln/>
        </p:spPr>
        <p:txBody>
          <a:bodyPr wrap="square" lIns="0" tIns="0" rIns="0" bIns="0" rtlCol="0"/>
          <a:lstStyle/>
          <a:p>
            <a:pPr indent="0" marL="0">
              <a:buNone/>
            </a:pPr>
            <a:r>
              <a:rPr lang="en-US" sz="1200" b="1" spc="200" kern="0" dirty="0">
                <a:solidFill>
                  <a:schemeClr val="accent6"/>
                </a:solidFill>
              </a:rPr>
              <a:t>MOTIVATION  ·  ADITYA ACHAR</a:t>
            </a:r>
            <a:endParaRPr lang="en-US" sz="1200" dirty="0"/>
          </a:p>
        </p:txBody>
      </p:sp>
      <p:sp>
        <p:nvSpPr>
          <p:cNvPr id="3" name="Text 0"/>
          <p:cNvSpPr/>
          <p:nvPr>
            <p:ph idx="102" type="title" hasCustomPrompt="1"/>
          </p:nvPr>
        </p:nvSpPr>
        <p:spPr>
          <a:xfrm>
            <a:off x="548640" y="676656"/>
            <a:ext cx="10424160" cy="822960"/>
          </a:xfrm>
          <a:prstGeom prst="rect">
            <a:avLst/>
          </a:prstGeom>
          <a:noFill/>
          <a:ln/>
        </p:spPr>
        <p:txBody>
          <a:bodyPr wrap="square" lIns="0" tIns="0" rIns="0" bIns="0" rtlCol="0" anchor="t"/>
          <a:lstStyle/>
          <a:p>
            <a:pPr algn="l" indent="0" marL="0">
              <a:buNone/>
            </a:pPr>
            <a:r>
              <a:rPr lang="en-US" sz="3000" b="1" dirty="0">
                <a:solidFill>
                  <a:schemeClr val="tx2"/>
                </a:solidFill>
              </a:rPr>
              <a:t>Battery devices need to understand text, but transformers don't fit on them</a:t>
            </a:r>
            <a:endParaRPr lang="en-US" sz="3000" dirty="0"/>
          </a:p>
        </p:txBody>
      </p:sp>
      <p:sp>
        <p:nvSpPr>
          <p:cNvPr id="4" name="Text 0"/>
          <p:cNvSpPr/>
          <p:nvPr>
            <p:ph idx="103" type="body" hasCustomPrompt="1"/>
          </p:nvPr>
        </p:nvSpPr>
        <p:spPr>
          <a:xfrm>
            <a:off x="548640" y="6355080"/>
            <a:ext cx="10515600" cy="310896"/>
          </a:xfrm>
          <a:prstGeom prst="rect">
            <a:avLst/>
          </a:prstGeom>
          <a:noFill/>
          <a:ln/>
        </p:spPr>
        <p:txBody>
          <a:bodyPr wrap="square" lIns="0" tIns="0" rIns="0" bIns="0" rtlCol="0"/>
          <a:lstStyle/>
          <a:p>
            <a:pPr indent="0" marL="0">
              <a:buNone/>
            </a:pPr>
            <a:r>
              <a:rPr lang="en-US" sz="1100" i="1" dirty="0">
                <a:solidFill>
                  <a:schemeClr val="accent6"/>
                </a:solidFill>
              </a:rPr>
              <a:t>Robot power: Liu et al. 2025; ESP32-S3 datasheet v2.2; DistilBERT: Sanh et al. 2019</a:t>
            </a:r>
            <a:endParaRPr lang="en-US" sz="1100" dirty="0"/>
          </a:p>
        </p:txBody>
      </p:sp>
      <p:sp>
        <p:nvSpPr>
          <p:cNvPr id="5" name="Social and assistive robots"/>
          <p:cNvSpPr/>
          <p:nvPr/>
        </p:nvSpPr>
        <p:spPr>
          <a:xfrm>
            <a:off x="548640" y="1783080"/>
            <a:ext cx="3474720" cy="2423160"/>
          </a:xfrm>
          <a:prstGeom prst="roundRect">
            <a:avLst>
              <a:gd name="adj" fmla="val 3019"/>
            </a:avLst>
          </a:prstGeom>
          <a:solidFill>
            <a:schemeClr val="bg2"/>
          </a:solidFill>
          <a:ln/>
          <a:effectLst>
            <a:outerShdw sx="100000" sy="100000" kx="0" ky="0" algn="bl" rotWithShape="0" blurRad="76200" dist="25400" dir="5400000">
              <a:srgbClr val="9C8189">
                <a:alpha val="16000"/>
              </a:srgbClr>
            </a:outerShdw>
          </a:effectLst>
        </p:spPr>
      </p:sp>
      <p:sp>
        <p:nvSpPr>
          <p:cNvPr id="6" name="Shape 4"/>
          <p:cNvSpPr/>
          <p:nvPr/>
        </p:nvSpPr>
        <p:spPr>
          <a:xfrm>
            <a:off x="822960" y="2057400"/>
            <a:ext cx="685800" cy="685800"/>
          </a:xfrm>
          <a:prstGeom prst="ellipse">
            <a:avLst/>
          </a:prstGeom>
          <a:solidFill>
            <a:schemeClr val="accent3"/>
          </a:solidFill>
          <a:ln/>
        </p:spPr>
      </p:sp>
      <p:pic>
        <p:nvPicPr>
          <p:cNvPr id="7" name="Image 0" descr="preencoded.png">    </p:cNvPr>
          <p:cNvPicPr>
            <a:picLocks noChangeAspect="1"/>
          </p:cNvPicPr>
          <p:nvPr/>
        </p:nvPicPr>
        <p:blipFill>
          <a:blip r:embed="rId1"/>
          <a:stretch>
            <a:fillRect/>
          </a:stretch>
        </p:blipFill>
        <p:spPr>
          <a:xfrm>
            <a:off x="994410" y="2228850"/>
            <a:ext cx="342900" cy="342900"/>
          </a:xfrm>
          <a:prstGeom prst="rect">
            <a:avLst/>
          </a:prstGeom>
        </p:spPr>
      </p:pic>
      <p:sp>
        <p:nvSpPr>
          <p:cNvPr id="8" name="Text 5"/>
          <p:cNvSpPr txBox="1"/>
          <p:nvPr/>
        </p:nvSpPr>
        <p:spPr>
          <a:xfrm>
            <a:off x="822960" y="2880360"/>
            <a:ext cx="2926080" cy="411480"/>
          </a:xfrm>
          <a:prstGeom prst="rect">
            <a:avLst/>
          </a:prstGeom>
          <a:noFill/>
          <a:ln/>
        </p:spPr>
        <p:txBody>
          <a:bodyPr wrap="square" lIns="0" tIns="0" rIns="0" bIns="0" rtlCol="0" anchor="ctr"/>
          <a:lstStyle/>
          <a:p>
            <a:pPr indent="0" marL="0">
              <a:buNone/>
            </a:pPr>
            <a:r>
              <a:rPr lang="en-US" sz="1800" b="1" dirty="0">
                <a:solidFill>
                  <a:schemeClr val="tx2"/>
                </a:solidFill>
              </a:rPr>
              <a:t>Social and assistive robots</a:t>
            </a:r>
            <a:endParaRPr lang="en-US" sz="1800" dirty="0"/>
          </a:p>
        </p:txBody>
      </p:sp>
      <p:sp>
        <p:nvSpPr>
          <p:cNvPr id="9" name="Text 6"/>
          <p:cNvSpPr txBox="1"/>
          <p:nvPr/>
        </p:nvSpPr>
        <p:spPr>
          <a:xfrm>
            <a:off x="822960" y="3310128"/>
            <a:ext cx="2926080" cy="822960"/>
          </a:xfrm>
          <a:prstGeom prst="rect">
            <a:avLst/>
          </a:prstGeom>
          <a:noFill/>
          <a:ln/>
        </p:spPr>
        <p:txBody>
          <a:bodyPr wrap="square" lIns="0" tIns="0" rIns="0" bIns="0" rtlCol="0" anchor="t"/>
          <a:lstStyle/>
          <a:p>
            <a:pPr indent="0" marL="0">
              <a:buNone/>
            </a:pPr>
            <a:r>
              <a:rPr lang="en-US" sz="1400" dirty="0">
                <a:solidFill>
                  <a:schemeClr val="tx1"/>
                </a:solidFill>
              </a:rPr>
              <a:t>Computing is a major battery drain: motors are only 16.6–54.6% of a robot's power</a:t>
            </a:r>
            <a:endParaRPr lang="en-US" sz="1400" dirty="0"/>
          </a:p>
        </p:txBody>
      </p:sp>
      <p:sp>
        <p:nvSpPr>
          <p:cNvPr id="10" name="Off-grid messengers"/>
          <p:cNvSpPr/>
          <p:nvPr/>
        </p:nvSpPr>
        <p:spPr>
          <a:xfrm>
            <a:off x="4297680" y="1783080"/>
            <a:ext cx="3474720" cy="2423160"/>
          </a:xfrm>
          <a:prstGeom prst="roundRect">
            <a:avLst>
              <a:gd name="adj" fmla="val 3019"/>
            </a:avLst>
          </a:prstGeom>
          <a:solidFill>
            <a:schemeClr val="bg2"/>
          </a:solidFill>
          <a:ln/>
          <a:effectLst>
            <a:outerShdw sx="100000" sy="100000" kx="0" ky="0" algn="bl" rotWithShape="0" blurRad="76200" dist="25400" dir="5400000">
              <a:srgbClr val="9C8189">
                <a:alpha val="16000"/>
              </a:srgbClr>
            </a:outerShdw>
          </a:effectLst>
        </p:spPr>
      </p:sp>
      <p:sp>
        <p:nvSpPr>
          <p:cNvPr id="11" name="Shape 8"/>
          <p:cNvSpPr/>
          <p:nvPr/>
        </p:nvSpPr>
        <p:spPr>
          <a:xfrm>
            <a:off x="4572000" y="2057400"/>
            <a:ext cx="685800" cy="685800"/>
          </a:xfrm>
          <a:prstGeom prst="ellipse">
            <a:avLst/>
          </a:prstGeom>
          <a:solidFill>
            <a:schemeClr val="accent3"/>
          </a:solidFill>
          <a:ln/>
        </p:spPr>
      </p:sp>
      <p:pic>
        <p:nvPicPr>
          <p:cNvPr id="12" name="Image 1" descr="preencoded.png">    </p:cNvPr>
          <p:cNvPicPr>
            <a:picLocks noChangeAspect="1"/>
          </p:cNvPicPr>
          <p:nvPr/>
        </p:nvPicPr>
        <p:blipFill>
          <a:blip r:embed="rId2"/>
          <a:stretch>
            <a:fillRect/>
          </a:stretch>
        </p:blipFill>
        <p:spPr>
          <a:xfrm>
            <a:off x="4743450" y="2228850"/>
            <a:ext cx="342900" cy="342900"/>
          </a:xfrm>
          <a:prstGeom prst="rect">
            <a:avLst/>
          </a:prstGeom>
        </p:spPr>
      </p:pic>
      <p:sp>
        <p:nvSpPr>
          <p:cNvPr id="13" name="Text 9"/>
          <p:cNvSpPr txBox="1"/>
          <p:nvPr/>
        </p:nvSpPr>
        <p:spPr>
          <a:xfrm>
            <a:off x="4572000" y="2880360"/>
            <a:ext cx="2926080" cy="411480"/>
          </a:xfrm>
          <a:prstGeom prst="rect">
            <a:avLst/>
          </a:prstGeom>
          <a:noFill/>
          <a:ln/>
        </p:spPr>
        <p:txBody>
          <a:bodyPr wrap="square" lIns="0" tIns="0" rIns="0" bIns="0" rtlCol="0" anchor="ctr"/>
          <a:lstStyle/>
          <a:p>
            <a:pPr indent="0" marL="0">
              <a:buNone/>
            </a:pPr>
            <a:r>
              <a:rPr lang="en-US" sz="1800" b="1" dirty="0">
                <a:solidFill>
                  <a:schemeClr val="tx2"/>
                </a:solidFill>
              </a:rPr>
              <a:t>Off-grid messengers</a:t>
            </a:r>
            <a:endParaRPr lang="en-US" sz="1800" dirty="0"/>
          </a:p>
        </p:txBody>
      </p:sp>
      <p:sp>
        <p:nvSpPr>
          <p:cNvPr id="14" name="Text 10"/>
          <p:cNvSpPr txBox="1"/>
          <p:nvPr/>
        </p:nvSpPr>
        <p:spPr>
          <a:xfrm>
            <a:off x="4572000" y="3310128"/>
            <a:ext cx="2926080" cy="822960"/>
          </a:xfrm>
          <a:prstGeom prst="rect">
            <a:avLst/>
          </a:prstGeom>
          <a:noFill/>
          <a:ln/>
        </p:spPr>
        <p:txBody>
          <a:bodyPr wrap="square" lIns="0" tIns="0" rIns="0" bIns="0" rtlCol="0" anchor="t"/>
          <a:lstStyle/>
          <a:p>
            <a:pPr indent="0" marL="0">
              <a:buNone/>
            </a:pPr>
            <a:r>
              <a:rPr lang="en-US" sz="1400" dirty="0">
                <a:solidFill>
                  <a:schemeClr val="tx1"/>
                </a:solidFill>
              </a:rPr>
              <a:t>People type straight into an ESP32-S3, e.g. Meshtastic on a LILYGO T-Deck</a:t>
            </a:r>
            <a:endParaRPr lang="en-US" sz="1400" dirty="0"/>
          </a:p>
        </p:txBody>
      </p:sp>
      <p:sp>
        <p:nvSpPr>
          <p:cNvPr id="15" name="Wearables"/>
          <p:cNvSpPr/>
          <p:nvPr/>
        </p:nvSpPr>
        <p:spPr>
          <a:xfrm>
            <a:off x="8046720" y="1783080"/>
            <a:ext cx="3474720" cy="2423160"/>
          </a:xfrm>
          <a:prstGeom prst="roundRect">
            <a:avLst>
              <a:gd name="adj" fmla="val 3019"/>
            </a:avLst>
          </a:prstGeom>
          <a:solidFill>
            <a:schemeClr val="bg2"/>
          </a:solidFill>
          <a:ln/>
          <a:effectLst>
            <a:outerShdw sx="100000" sy="100000" kx="0" ky="0" algn="bl" rotWithShape="0" blurRad="76200" dist="25400" dir="5400000">
              <a:srgbClr val="9C8189">
                <a:alpha val="16000"/>
              </a:srgbClr>
            </a:outerShdw>
          </a:effectLst>
        </p:spPr>
      </p:sp>
      <p:sp>
        <p:nvSpPr>
          <p:cNvPr id="16" name="Shape 12"/>
          <p:cNvSpPr/>
          <p:nvPr/>
        </p:nvSpPr>
        <p:spPr>
          <a:xfrm>
            <a:off x="8321040" y="2057400"/>
            <a:ext cx="685800" cy="685800"/>
          </a:xfrm>
          <a:prstGeom prst="ellipse">
            <a:avLst/>
          </a:prstGeom>
          <a:solidFill>
            <a:schemeClr val="accent3"/>
          </a:solidFill>
          <a:ln/>
        </p:spPr>
      </p:sp>
      <p:pic>
        <p:nvPicPr>
          <p:cNvPr id="17" name="Image 2" descr="preencoded.png">    </p:cNvPr>
          <p:cNvPicPr>
            <a:picLocks noChangeAspect="1"/>
          </p:cNvPicPr>
          <p:nvPr/>
        </p:nvPicPr>
        <p:blipFill>
          <a:blip r:embed="rId3"/>
          <a:stretch>
            <a:fillRect/>
          </a:stretch>
        </p:blipFill>
        <p:spPr>
          <a:xfrm>
            <a:off x="8492490" y="2228850"/>
            <a:ext cx="342900" cy="342900"/>
          </a:xfrm>
          <a:prstGeom prst="rect">
            <a:avLst/>
          </a:prstGeom>
        </p:spPr>
      </p:pic>
      <p:sp>
        <p:nvSpPr>
          <p:cNvPr id="18" name="Text 13"/>
          <p:cNvSpPr txBox="1"/>
          <p:nvPr/>
        </p:nvSpPr>
        <p:spPr>
          <a:xfrm>
            <a:off x="8321040" y="2880360"/>
            <a:ext cx="2926080" cy="411480"/>
          </a:xfrm>
          <a:prstGeom prst="rect">
            <a:avLst/>
          </a:prstGeom>
          <a:noFill/>
          <a:ln/>
        </p:spPr>
        <p:txBody>
          <a:bodyPr wrap="square" lIns="0" tIns="0" rIns="0" bIns="0" rtlCol="0" anchor="ctr"/>
          <a:lstStyle/>
          <a:p>
            <a:pPr indent="0" marL="0">
              <a:buNone/>
            </a:pPr>
            <a:r>
              <a:rPr lang="en-US" sz="1800" b="1" dirty="0">
                <a:solidFill>
                  <a:schemeClr val="tx2"/>
                </a:solidFill>
              </a:rPr>
              <a:t>Wearables</a:t>
            </a:r>
            <a:endParaRPr lang="en-US" sz="1800" dirty="0"/>
          </a:p>
        </p:txBody>
      </p:sp>
      <p:sp>
        <p:nvSpPr>
          <p:cNvPr id="19" name="Text 14"/>
          <p:cNvSpPr txBox="1"/>
          <p:nvPr/>
        </p:nvSpPr>
        <p:spPr>
          <a:xfrm>
            <a:off x="8321040" y="3310128"/>
            <a:ext cx="2926080" cy="822960"/>
          </a:xfrm>
          <a:prstGeom prst="rect">
            <a:avLst/>
          </a:prstGeom>
          <a:noFill/>
          <a:ln/>
        </p:spPr>
        <p:txBody>
          <a:bodyPr wrap="square" lIns="0" tIns="0" rIns="0" bIns="0" rtlCol="0" anchor="t"/>
          <a:lstStyle/>
          <a:p>
            <a:pPr indent="0" marL="0">
              <a:buNone/>
            </a:pPr>
            <a:r>
              <a:rPr lang="en-US" sz="1400" dirty="0">
                <a:solidFill>
                  <a:schemeClr val="tx1"/>
                </a:solidFill>
              </a:rPr>
              <a:t>A smartwatch that leans on the phone in your pocket as its hub</a:t>
            </a:r>
            <a:endParaRPr lang="en-US" sz="1400" dirty="0"/>
          </a:p>
        </p:txBody>
      </p:sp>
      <p:sp>
        <p:nvSpPr>
          <p:cNvPr id="20" name="Text 15"/>
          <p:cNvSpPr txBox="1"/>
          <p:nvPr/>
        </p:nvSpPr>
        <p:spPr>
          <a:xfrm>
            <a:off x="822960" y="4572000"/>
            <a:ext cx="4206240" cy="1188720"/>
          </a:xfrm>
          <a:prstGeom prst="rect">
            <a:avLst/>
          </a:prstGeom>
          <a:noFill/>
          <a:ln/>
        </p:spPr>
        <p:txBody>
          <a:bodyPr wrap="square" lIns="0" tIns="0" rIns="0" bIns="0" rtlCol="0" anchor="ctr"/>
          <a:lstStyle/>
          <a:p>
            <a:pPr indent="0" marL="0">
              <a:buNone/>
            </a:pPr>
            <a:r>
              <a:rPr lang="en-US" sz="3600" b="1" dirty="0">
                <a:solidFill>
                  <a:schemeClr val="accent2"/>
                </a:solidFill>
                <a:latin typeface="Cambria" pitchFamily="34" charset="0"/>
                <a:ea typeface="Cambria" pitchFamily="34" charset="-122"/>
                <a:cs typeface="Cambria" pitchFamily="34" charset="-120"/>
              </a:rPr>
              <a:t>512 KB</a:t>
            </a:r>
            <a:endParaRPr lang="en-US" sz="3600" dirty="0"/>
          </a:p>
          <a:p>
            <a:pPr indent="0" marL="0">
              <a:buNone/>
            </a:pPr>
            <a:r>
              <a:rPr lang="en-US" sz="1500" dirty="0">
                <a:solidFill>
                  <a:schemeClr val="tx1"/>
                </a:solidFill>
              </a:rPr>
              <a:t>of on-chip SRAM on an ESP32-S3</a:t>
            </a:r>
            <a:endParaRPr lang="en-US" sz="3600" dirty="0"/>
          </a:p>
        </p:txBody>
      </p:sp>
      <p:sp>
        <p:nvSpPr>
          <p:cNvPr id="21" name="Text 16"/>
          <p:cNvSpPr txBox="1"/>
          <p:nvPr/>
        </p:nvSpPr>
        <p:spPr>
          <a:xfrm>
            <a:off x="5120640" y="4572000"/>
            <a:ext cx="914400" cy="1188720"/>
          </a:xfrm>
          <a:prstGeom prst="rect">
            <a:avLst/>
          </a:prstGeom>
          <a:noFill/>
          <a:ln/>
        </p:spPr>
        <p:txBody>
          <a:bodyPr wrap="square" lIns="0" tIns="0" rIns="0" bIns="0" rtlCol="0" anchor="ctr"/>
          <a:lstStyle/>
          <a:p>
            <a:pPr algn="ctr" indent="0" marL="0">
              <a:buNone/>
            </a:pPr>
            <a:r>
              <a:rPr lang="en-US" sz="2600" i="1" dirty="0">
                <a:solidFill>
                  <a:schemeClr val="accent6"/>
                </a:solidFill>
                <a:latin typeface="Cambria" pitchFamily="34" charset="0"/>
                <a:ea typeface="Cambria" pitchFamily="34" charset="-122"/>
                <a:cs typeface="Cambria" pitchFamily="34" charset="-120"/>
              </a:rPr>
              <a:t>vs</a:t>
            </a:r>
            <a:endParaRPr lang="en-US" sz="2600" dirty="0"/>
          </a:p>
        </p:txBody>
      </p:sp>
      <p:sp>
        <p:nvSpPr>
          <p:cNvPr id="22" name="Text 17"/>
          <p:cNvSpPr txBox="1"/>
          <p:nvPr/>
        </p:nvSpPr>
        <p:spPr>
          <a:xfrm>
            <a:off x="6217920" y="4572000"/>
            <a:ext cx="5120640" cy="1188720"/>
          </a:xfrm>
          <a:prstGeom prst="rect">
            <a:avLst/>
          </a:prstGeom>
          <a:noFill/>
          <a:ln/>
        </p:spPr>
        <p:txBody>
          <a:bodyPr wrap="square" lIns="0" tIns="0" rIns="0" bIns="0" rtlCol="0" anchor="ctr"/>
          <a:lstStyle/>
          <a:p>
            <a:pPr indent="0" marL="0">
              <a:buNone/>
            </a:pPr>
            <a:r>
              <a:rPr lang="en-US" sz="3600" b="1" dirty="0">
                <a:solidFill>
                  <a:schemeClr val="accent2"/>
                </a:solidFill>
                <a:latin typeface="Cambria" pitchFamily="34" charset="0"/>
                <a:ea typeface="Cambria" pitchFamily="34" charset="-122"/>
                <a:cs typeface="Cambria" pitchFamily="34" charset="-120"/>
              </a:rPr>
              <a:t>66 million</a:t>
            </a:r>
            <a:endParaRPr lang="en-US" sz="3600" dirty="0"/>
          </a:p>
          <a:p>
            <a:pPr indent="0" marL="0">
              <a:buNone/>
            </a:pPr>
            <a:r>
              <a:rPr lang="en-US" sz="1500" dirty="0">
                <a:solidFill>
                  <a:schemeClr val="tx1"/>
                </a:solidFill>
              </a:rPr>
              <a:t>parameters in DistilBERT, the smallest common transformer</a:t>
            </a:r>
            <a:endParaRPr lang="en-US" sz="3600" dirty="0"/>
          </a:p>
        </p:txBody>
      </p:sp>
      <p:sp>
        <p:nvSpPr>
          <p:cNvPr id="25" name="Slide Number Placeholder 0"/>
          <p:cNvSpPr>
            <a:spLocks noGrp="1"/>
          </p:cNvSpPr>
          <p:nvPr>
            <p:ph type="sldNum" sz="quarter" idx="4294967295"/>
          </p:nvPr>
        </p:nvSpPr>
        <p:spPr>
          <a:xfrm>
            <a:off x="11274552" y="347472"/>
            <a:ext cx="384048" cy="384048"/>
          </a:xfrm>
          <a:prstGeom prst="rect">
            <a:avLst/>
          </a:prstGeom>
          <a:extLst>
            <a:ext uri="{C572A759-6A51-4108-AA02-DFA0A04FC94B}">
              <ma14:wrappingTextBoxFlag xmlns:ma14="http://schemas.microsoft.com/office/mac/drawingml/2011/main" val="0"/>
            </a:ext>
          </a:extLst>
        </p:spPr>
        <p:txBody>
          <a:bodyPr anchor="ctr"/>
          <a:lstStyle>
            <a:lvl1pPr>
              <a:defRPr sz="1200">
                <a:solidFill>
                  <a:srgbClr val="3A2E31"/>
                </a:solidFill>
              </a:defRPr>
            </a:lvl1pPr>
          </a:lstStyle>
          <a:p>
            <a:pPr algn="ct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1" type="body" hasCustomPrompt="1"/>
          </p:nvPr>
        </p:nvSpPr>
        <p:spPr>
          <a:xfrm>
            <a:off x="548640" y="365760"/>
            <a:ext cx="9601200" cy="292608"/>
          </a:xfrm>
          <a:prstGeom prst="rect">
            <a:avLst/>
          </a:prstGeom>
          <a:noFill/>
          <a:ln/>
        </p:spPr>
        <p:txBody>
          <a:bodyPr wrap="square" lIns="0" tIns="0" rIns="0" bIns="0" rtlCol="0"/>
          <a:lstStyle/>
          <a:p>
            <a:pPr indent="0" marL="0">
              <a:buNone/>
            </a:pPr>
            <a:r>
              <a:rPr lang="en-US" sz="1200" b="1" spc="200" kern="0" dirty="0">
                <a:solidFill>
                  <a:schemeClr val="accent6"/>
                </a:solidFill>
              </a:rPr>
              <a:t>RELATED WORK  ·  ADITYA ACHAR</a:t>
            </a:r>
            <a:endParaRPr lang="en-US" sz="1200" dirty="0"/>
          </a:p>
        </p:txBody>
      </p:sp>
      <p:sp>
        <p:nvSpPr>
          <p:cNvPr id="3" name="Text 0"/>
          <p:cNvSpPr/>
          <p:nvPr>
            <p:ph idx="102" type="title" hasCustomPrompt="1"/>
          </p:nvPr>
        </p:nvSpPr>
        <p:spPr>
          <a:xfrm>
            <a:off x="548640" y="676656"/>
            <a:ext cx="10424160" cy="822960"/>
          </a:xfrm>
          <a:prstGeom prst="rect">
            <a:avLst/>
          </a:prstGeom>
          <a:noFill/>
          <a:ln/>
        </p:spPr>
        <p:txBody>
          <a:bodyPr wrap="square" lIns="0" tIns="0" rIns="0" bIns="0" rtlCol="0" anchor="t"/>
          <a:lstStyle/>
          <a:p>
            <a:pPr algn="l" indent="0" marL="0">
              <a:buNone/>
            </a:pPr>
            <a:r>
              <a:rPr lang="en-US" sz="3000" b="1" dirty="0">
                <a:solidFill>
                  <a:schemeClr val="tx2"/>
                </a:solidFill>
              </a:rPr>
              <a:t>Three lines of work meet here, and one gap is untested</a:t>
            </a:r>
            <a:endParaRPr lang="en-US" sz="3000" dirty="0"/>
          </a:p>
        </p:txBody>
      </p:sp>
      <p:sp>
        <p:nvSpPr>
          <p:cNvPr id="4" name="Text 0"/>
          <p:cNvSpPr/>
          <p:nvPr>
            <p:ph idx="103" type="body" hasCustomPrompt="1"/>
          </p:nvPr>
        </p:nvSpPr>
        <p:spPr>
          <a:xfrm>
            <a:off x="548640" y="6355080"/>
            <a:ext cx="10515600" cy="310896"/>
          </a:xfrm>
          <a:prstGeom prst="rect">
            <a:avLst/>
          </a:prstGeom>
          <a:noFill/>
          <a:ln/>
        </p:spPr>
        <p:txBody>
          <a:bodyPr wrap="square" lIns="0" tIns="0" rIns="0" bIns="0" rtlCol="0"/>
          <a:lstStyle/>
          <a:p>
            <a:pPr indent="0" marL="0">
              <a:buNone/>
            </a:pPr>
            <a:r>
              <a:rPr lang="en-US" sz="1100" i="1" dirty="0">
                <a:solidFill>
                  <a:schemeClr val="accent6"/>
                </a:solidFill>
              </a:rPr>
              <a:t>Full references in the paper (IEEE format, 36 sources)</a:t>
            </a:r>
            <a:endParaRPr lang="en-US" sz="1100" dirty="0"/>
          </a:p>
        </p:txBody>
      </p:sp>
      <p:sp>
        <p:nvSpPr>
          <p:cNvPr id="5" name="Cascades"/>
          <p:cNvSpPr/>
          <p:nvPr/>
        </p:nvSpPr>
        <p:spPr>
          <a:xfrm>
            <a:off x="548640" y="1783080"/>
            <a:ext cx="3474720" cy="3017520"/>
          </a:xfrm>
          <a:prstGeom prst="roundRect">
            <a:avLst>
              <a:gd name="adj" fmla="val 2424"/>
            </a:avLst>
          </a:prstGeom>
          <a:solidFill>
            <a:schemeClr val="bg2"/>
          </a:solidFill>
          <a:ln/>
          <a:effectLst>
            <a:outerShdw sx="100000" sy="100000" kx="0" ky="0" algn="bl" rotWithShape="0" blurRad="76200" dist="25400" dir="5400000">
              <a:srgbClr val="9C8189">
                <a:alpha val="16000"/>
              </a:srgbClr>
            </a:outerShdw>
          </a:effectLst>
        </p:spPr>
      </p:sp>
      <p:sp>
        <p:nvSpPr>
          <p:cNvPr id="6" name="Shape 4"/>
          <p:cNvSpPr/>
          <p:nvPr/>
        </p:nvSpPr>
        <p:spPr>
          <a:xfrm>
            <a:off x="822960" y="2011680"/>
            <a:ext cx="594360" cy="594360"/>
          </a:xfrm>
          <a:prstGeom prst="ellipse">
            <a:avLst/>
          </a:prstGeom>
          <a:solidFill>
            <a:schemeClr val="accent2"/>
          </a:solidFill>
          <a:ln/>
        </p:spPr>
      </p:sp>
      <p:pic>
        <p:nvPicPr>
          <p:cNvPr id="7" name="Image 0" descr="preencoded.png">    </p:cNvPr>
          <p:cNvPicPr>
            <a:picLocks noChangeAspect="1"/>
          </p:cNvPicPr>
          <p:nvPr/>
        </p:nvPicPr>
        <p:blipFill>
          <a:blip r:embed="rId1"/>
          <a:stretch>
            <a:fillRect/>
          </a:stretch>
        </p:blipFill>
        <p:spPr>
          <a:xfrm>
            <a:off x="971550" y="2160270"/>
            <a:ext cx="297180" cy="297180"/>
          </a:xfrm>
          <a:prstGeom prst="rect">
            <a:avLst/>
          </a:prstGeom>
        </p:spPr>
      </p:pic>
      <p:sp>
        <p:nvSpPr>
          <p:cNvPr id="8" name="Text 5"/>
          <p:cNvSpPr txBox="1"/>
          <p:nvPr/>
        </p:nvSpPr>
        <p:spPr>
          <a:xfrm>
            <a:off x="1554480" y="2103120"/>
            <a:ext cx="2286000" cy="411480"/>
          </a:xfrm>
          <a:prstGeom prst="rect">
            <a:avLst/>
          </a:prstGeom>
          <a:noFill/>
          <a:ln/>
        </p:spPr>
        <p:txBody>
          <a:bodyPr wrap="square" lIns="0" tIns="0" rIns="0" bIns="0" rtlCol="0" anchor="ctr"/>
          <a:lstStyle/>
          <a:p>
            <a:pPr indent="0" marL="0">
              <a:buNone/>
            </a:pPr>
            <a:r>
              <a:rPr lang="en-US" sz="1900" b="1" dirty="0">
                <a:solidFill>
                  <a:schemeClr val="accent2"/>
                </a:solidFill>
              </a:rPr>
              <a:t>Cascades</a:t>
            </a:r>
            <a:endParaRPr lang="en-US" sz="1900" dirty="0"/>
          </a:p>
        </p:txBody>
      </p:sp>
      <p:sp>
        <p:nvSpPr>
          <p:cNvPr id="9" name="Text 6"/>
          <p:cNvSpPr txBox="1"/>
          <p:nvPr/>
        </p:nvSpPr>
        <p:spPr>
          <a:xfrm>
            <a:off x="868680" y="2788920"/>
            <a:ext cx="2971800" cy="1920240"/>
          </a:xfrm>
          <a:prstGeom prst="rect">
            <a:avLst/>
          </a:prstGeom>
          <a:noFill/>
          <a:ln/>
        </p:spPr>
        <p:txBody>
          <a:bodyPr wrap="square" lIns="0" tIns="0" rIns="0" bIns="0" rtlCol="0" anchor="t"/>
          <a:lstStyle/>
          <a:p>
            <a:pPr marL="228600" indent="-228600">
              <a:spcAft>
                <a:spcPts val="500"/>
              </a:spcAft>
              <a:buSzPct val="100000"/>
              <a:buChar char="•"/>
            </a:pPr>
            <a:r>
              <a:rPr lang="en-US" sz="1400" dirty="0">
                <a:solidFill>
                  <a:schemeClr val="tx1"/>
                </a:solidFill>
              </a:rPr>
              <a:t>Viola–Jones detector, 2001</a:t>
            </a:r>
            <a:endParaRPr lang="en-US" sz="1400" dirty="0"/>
          </a:p>
          <a:p>
            <a:pPr marL="228600" indent="-228600">
              <a:spcAft>
                <a:spcPts val="500"/>
              </a:spcAft>
              <a:buSzPct val="100000"/>
              <a:buChar char="•"/>
            </a:pPr>
            <a:r>
              <a:rPr lang="en-US" sz="1400" dirty="0">
                <a:solidFill>
                  <a:schemeClr val="tx1"/>
                </a:solidFill>
              </a:rPr>
              <a:t>BranchyNet early exits, 2017</a:t>
            </a:r>
            <a:endParaRPr lang="en-US" sz="1400" dirty="0"/>
          </a:p>
          <a:p>
            <a:pPr marL="228600" indent="-228600">
              <a:spcAft>
                <a:spcPts val="500"/>
              </a:spcAft>
              <a:buSzPct val="100000"/>
              <a:buChar char="•"/>
            </a:pPr>
            <a:r>
              <a:rPr lang="en-US" sz="1400" dirty="0">
                <a:solidFill>
                  <a:schemeClr val="tx1"/>
                </a:solidFill>
              </a:rPr>
              <a:t>Confidence cascades for NLP: Varshney &amp; Baral, 2022</a:t>
            </a:r>
            <a:endParaRPr lang="en-US" sz="1400" dirty="0"/>
          </a:p>
          <a:p>
            <a:pPr marL="228600" indent="-228600">
              <a:spcAft>
                <a:spcPts val="500"/>
              </a:spcAft>
              <a:buSzPct val="100000"/>
              <a:buChar char="•"/>
            </a:pPr>
            <a:r>
              <a:rPr lang="en-US" sz="1400" dirty="0">
                <a:solidFill>
                  <a:schemeClr val="tx1"/>
                </a:solidFill>
              </a:rPr>
              <a:t>Edge-cloud cascades: Huang et al., 2025</a:t>
            </a:r>
            <a:endParaRPr lang="en-US" sz="1400" dirty="0"/>
          </a:p>
        </p:txBody>
      </p:sp>
      <p:sp>
        <p:nvSpPr>
          <p:cNvPr id="10" name="Learning to defer"/>
          <p:cNvSpPr/>
          <p:nvPr/>
        </p:nvSpPr>
        <p:spPr>
          <a:xfrm>
            <a:off x="4297680" y="1783080"/>
            <a:ext cx="3474720" cy="3017520"/>
          </a:xfrm>
          <a:prstGeom prst="roundRect">
            <a:avLst>
              <a:gd name="adj" fmla="val 2424"/>
            </a:avLst>
          </a:prstGeom>
          <a:solidFill>
            <a:schemeClr val="bg2"/>
          </a:solidFill>
          <a:ln/>
          <a:effectLst>
            <a:outerShdw sx="100000" sy="100000" kx="0" ky="0" algn="bl" rotWithShape="0" blurRad="76200" dist="25400" dir="5400000">
              <a:srgbClr val="9C8189">
                <a:alpha val="16000"/>
              </a:srgbClr>
            </a:outerShdw>
          </a:effectLst>
        </p:spPr>
      </p:sp>
      <p:sp>
        <p:nvSpPr>
          <p:cNvPr id="11" name="Shape 8"/>
          <p:cNvSpPr/>
          <p:nvPr/>
        </p:nvSpPr>
        <p:spPr>
          <a:xfrm>
            <a:off x="4572000" y="2011680"/>
            <a:ext cx="594360" cy="594360"/>
          </a:xfrm>
          <a:prstGeom prst="ellipse">
            <a:avLst/>
          </a:prstGeom>
          <a:solidFill>
            <a:schemeClr val="accent3"/>
          </a:solidFill>
          <a:ln/>
        </p:spPr>
      </p:sp>
      <p:pic>
        <p:nvPicPr>
          <p:cNvPr id="12" name="Image 1" descr="preencoded.png">    </p:cNvPr>
          <p:cNvPicPr>
            <a:picLocks noChangeAspect="1"/>
          </p:cNvPicPr>
          <p:nvPr/>
        </p:nvPicPr>
        <p:blipFill>
          <a:blip r:embed="rId2"/>
          <a:stretch>
            <a:fillRect/>
          </a:stretch>
        </p:blipFill>
        <p:spPr>
          <a:xfrm>
            <a:off x="4720590" y="2160270"/>
            <a:ext cx="297180" cy="297180"/>
          </a:xfrm>
          <a:prstGeom prst="rect">
            <a:avLst/>
          </a:prstGeom>
        </p:spPr>
      </p:pic>
      <p:sp>
        <p:nvSpPr>
          <p:cNvPr id="13" name="Text 9"/>
          <p:cNvSpPr txBox="1"/>
          <p:nvPr/>
        </p:nvSpPr>
        <p:spPr>
          <a:xfrm>
            <a:off x="5303520" y="2103120"/>
            <a:ext cx="2286000" cy="411480"/>
          </a:xfrm>
          <a:prstGeom prst="rect">
            <a:avLst/>
          </a:prstGeom>
          <a:noFill/>
          <a:ln/>
        </p:spPr>
        <p:txBody>
          <a:bodyPr wrap="square" lIns="0" tIns="0" rIns="0" bIns="0" rtlCol="0" anchor="ctr"/>
          <a:lstStyle/>
          <a:p>
            <a:pPr indent="0" marL="0">
              <a:buNone/>
            </a:pPr>
            <a:r>
              <a:rPr lang="en-US" sz="1900" b="1" dirty="0">
                <a:solidFill>
                  <a:schemeClr val="accent3"/>
                </a:solidFill>
              </a:rPr>
              <a:t>Learning to defer</a:t>
            </a:r>
            <a:endParaRPr lang="en-US" sz="1900" dirty="0"/>
          </a:p>
        </p:txBody>
      </p:sp>
      <p:sp>
        <p:nvSpPr>
          <p:cNvPr id="14" name="Text 10"/>
          <p:cNvSpPr txBox="1"/>
          <p:nvPr/>
        </p:nvSpPr>
        <p:spPr>
          <a:xfrm>
            <a:off x="4617720" y="2788920"/>
            <a:ext cx="2971800" cy="1920240"/>
          </a:xfrm>
          <a:prstGeom prst="rect">
            <a:avLst/>
          </a:prstGeom>
          <a:noFill/>
          <a:ln/>
        </p:spPr>
        <p:txBody>
          <a:bodyPr wrap="square" lIns="0" tIns="0" rIns="0" bIns="0" rtlCol="0" anchor="t"/>
          <a:lstStyle/>
          <a:p>
            <a:pPr marL="228600" indent="-228600">
              <a:spcAft>
                <a:spcPts val="500"/>
              </a:spcAft>
              <a:buSzPct val="100000"/>
              <a:buChar char="•"/>
            </a:pPr>
            <a:r>
              <a:rPr lang="en-US" sz="1400" dirty="0">
                <a:solidFill>
                  <a:schemeClr val="tx1"/>
                </a:solidFill>
              </a:rPr>
              <a:t>Selective classification: Geifman &amp; El-Yaniv, 2017</a:t>
            </a:r>
            <a:endParaRPr lang="en-US" sz="1400" dirty="0"/>
          </a:p>
          <a:p>
            <a:pPr marL="228600" indent="-228600">
              <a:spcAft>
                <a:spcPts val="500"/>
              </a:spcAft>
              <a:buSzPct val="100000"/>
              <a:buChar char="•"/>
            </a:pPr>
            <a:r>
              <a:rPr lang="en-US" sz="1400" dirty="0">
                <a:solidFill>
                  <a:schemeClr val="tx1"/>
                </a:solidFill>
              </a:rPr>
              <a:t>Calibration: Guo et al., 2017</a:t>
            </a:r>
            <a:endParaRPr lang="en-US" sz="1400" dirty="0"/>
          </a:p>
          <a:p>
            <a:pPr marL="228600" indent="-228600">
              <a:spcAft>
                <a:spcPts val="500"/>
              </a:spcAft>
              <a:buSzPct val="100000"/>
              <a:buChar char="•"/>
            </a:pPr>
            <a:r>
              <a:rPr lang="en-US" sz="1400" dirty="0">
                <a:solidFill>
                  <a:schemeClr val="tx1"/>
                </a:solidFill>
              </a:rPr>
              <a:t>Learning to defer: Madras et al., 2018</a:t>
            </a:r>
            <a:endParaRPr lang="en-US" sz="1400" dirty="0"/>
          </a:p>
          <a:p>
            <a:pPr marL="228600" indent="-228600">
              <a:spcAft>
                <a:spcPts val="500"/>
              </a:spcAft>
              <a:buSzPct val="100000"/>
              <a:buChar char="•"/>
            </a:pPr>
            <a:r>
              <a:rPr lang="en-US" sz="1400" dirty="0">
                <a:solidFill>
                  <a:schemeClr val="tx1"/>
                </a:solidFill>
              </a:rPr>
              <a:t>Consistent losses: Mozannar &amp; Sontag, 2020</a:t>
            </a:r>
            <a:endParaRPr lang="en-US" sz="1400" dirty="0"/>
          </a:p>
        </p:txBody>
      </p:sp>
      <p:sp>
        <p:nvSpPr>
          <p:cNvPr id="15" name="TinyML and energy"/>
          <p:cNvSpPr/>
          <p:nvPr/>
        </p:nvSpPr>
        <p:spPr>
          <a:xfrm>
            <a:off x="8046720" y="1783080"/>
            <a:ext cx="3474720" cy="3017520"/>
          </a:xfrm>
          <a:prstGeom prst="roundRect">
            <a:avLst>
              <a:gd name="adj" fmla="val 2424"/>
            </a:avLst>
          </a:prstGeom>
          <a:solidFill>
            <a:schemeClr val="bg2"/>
          </a:solidFill>
          <a:ln/>
          <a:effectLst>
            <a:outerShdw sx="100000" sy="100000" kx="0" ky="0" algn="bl" rotWithShape="0" blurRad="76200" dist="25400" dir="5400000">
              <a:srgbClr val="9C8189">
                <a:alpha val="16000"/>
              </a:srgbClr>
            </a:outerShdw>
          </a:effectLst>
        </p:spPr>
      </p:sp>
      <p:sp>
        <p:nvSpPr>
          <p:cNvPr id="16" name="Shape 12"/>
          <p:cNvSpPr/>
          <p:nvPr/>
        </p:nvSpPr>
        <p:spPr>
          <a:xfrm>
            <a:off x="8321040" y="2011680"/>
            <a:ext cx="594360" cy="594360"/>
          </a:xfrm>
          <a:prstGeom prst="ellipse">
            <a:avLst/>
          </a:prstGeom>
          <a:solidFill>
            <a:schemeClr val="accent1"/>
          </a:solidFill>
          <a:ln/>
        </p:spPr>
      </p:sp>
      <p:pic>
        <p:nvPicPr>
          <p:cNvPr id="17" name="Image 2" descr="preencoded.png">    </p:cNvPr>
          <p:cNvPicPr>
            <a:picLocks noChangeAspect="1"/>
          </p:cNvPicPr>
          <p:nvPr/>
        </p:nvPicPr>
        <p:blipFill>
          <a:blip r:embed="rId3"/>
          <a:stretch>
            <a:fillRect/>
          </a:stretch>
        </p:blipFill>
        <p:spPr>
          <a:xfrm>
            <a:off x="8469630" y="2160270"/>
            <a:ext cx="297180" cy="297180"/>
          </a:xfrm>
          <a:prstGeom prst="rect">
            <a:avLst/>
          </a:prstGeom>
        </p:spPr>
      </p:pic>
      <p:sp>
        <p:nvSpPr>
          <p:cNvPr id="18" name="Text 13"/>
          <p:cNvSpPr txBox="1"/>
          <p:nvPr/>
        </p:nvSpPr>
        <p:spPr>
          <a:xfrm>
            <a:off x="9052560" y="2103120"/>
            <a:ext cx="2286000" cy="411480"/>
          </a:xfrm>
          <a:prstGeom prst="rect">
            <a:avLst/>
          </a:prstGeom>
          <a:noFill/>
          <a:ln/>
        </p:spPr>
        <p:txBody>
          <a:bodyPr wrap="square" lIns="0" tIns="0" rIns="0" bIns="0" rtlCol="0" anchor="ctr"/>
          <a:lstStyle/>
          <a:p>
            <a:pPr indent="0" marL="0">
              <a:buNone/>
            </a:pPr>
            <a:r>
              <a:rPr lang="en-US" sz="1900" b="1" dirty="0">
                <a:solidFill>
                  <a:schemeClr val="accent1"/>
                </a:solidFill>
              </a:rPr>
              <a:t>TinyML and energy</a:t>
            </a:r>
            <a:endParaRPr lang="en-US" sz="1900" dirty="0"/>
          </a:p>
        </p:txBody>
      </p:sp>
      <p:sp>
        <p:nvSpPr>
          <p:cNvPr id="19" name="Text 14"/>
          <p:cNvSpPr txBox="1"/>
          <p:nvPr/>
        </p:nvSpPr>
        <p:spPr>
          <a:xfrm>
            <a:off x="8366760" y="2788920"/>
            <a:ext cx="2971800" cy="1920240"/>
          </a:xfrm>
          <a:prstGeom prst="rect">
            <a:avLst/>
          </a:prstGeom>
          <a:noFill/>
          <a:ln/>
        </p:spPr>
        <p:txBody>
          <a:bodyPr wrap="square" lIns="0" tIns="0" rIns="0" bIns="0" rtlCol="0" anchor="t"/>
          <a:lstStyle/>
          <a:p>
            <a:pPr marL="228600" indent="-228600">
              <a:spcAft>
                <a:spcPts val="500"/>
              </a:spcAft>
              <a:buSzPct val="100000"/>
              <a:buChar char="•"/>
            </a:pPr>
            <a:r>
              <a:rPr lang="en-US" sz="1400" dirty="0">
                <a:solidFill>
                  <a:schemeClr val="tx1"/>
                </a:solidFill>
              </a:rPr>
              <a:t>EdgeBERT on custom accelerators, 2021</a:t>
            </a:r>
            <a:endParaRPr lang="en-US" sz="1400" dirty="0"/>
          </a:p>
          <a:p>
            <a:pPr marL="228600" indent="-228600">
              <a:spcAft>
                <a:spcPts val="500"/>
              </a:spcAft>
              <a:buSzPct val="100000"/>
              <a:buChar char="•"/>
            </a:pPr>
            <a:r>
              <a:rPr lang="en-US" sz="1400" dirty="0">
                <a:solidFill>
                  <a:schemeClr val="tx1"/>
                </a:solidFill>
              </a:rPr>
              <a:t>Energy-aware multi-exit TinyML, 2026</a:t>
            </a:r>
            <a:endParaRPr lang="en-US" sz="1400" dirty="0"/>
          </a:p>
          <a:p>
            <a:pPr marL="228600" indent="-228600">
              <a:spcAft>
                <a:spcPts val="500"/>
              </a:spcAft>
              <a:buSzPct val="100000"/>
              <a:buChar char="•"/>
            </a:pPr>
            <a:r>
              <a:rPr lang="en-US" sz="1400" dirty="0">
                <a:solidFill>
                  <a:schemeClr val="tx1"/>
                </a:solidFill>
              </a:rPr>
              <a:t>Small transformers lose accuracy: Turc et al., 2019</a:t>
            </a:r>
            <a:endParaRPr lang="en-US" sz="1400" dirty="0"/>
          </a:p>
          <a:p>
            <a:pPr marL="228600" indent="-228600">
              <a:spcAft>
                <a:spcPts val="500"/>
              </a:spcAft>
              <a:buSzPct val="100000"/>
              <a:buChar char="•"/>
            </a:pPr>
            <a:r>
              <a:rPr lang="en-US" sz="1400" dirty="0">
                <a:solidFill>
                  <a:schemeClr val="tx1"/>
                </a:solidFill>
              </a:rPr>
              <a:t>NLP's energy cost: Strubell et al., 2019</a:t>
            </a:r>
            <a:endParaRPr lang="en-US" sz="1400" dirty="0"/>
          </a:p>
        </p:txBody>
      </p:sp>
      <p:sp>
        <p:nvSpPr>
          <p:cNvPr id="20" name="gap"/>
          <p:cNvSpPr/>
          <p:nvPr/>
        </p:nvSpPr>
        <p:spPr>
          <a:xfrm>
            <a:off x="548640" y="5029200"/>
            <a:ext cx="11064240" cy="1005840"/>
          </a:xfrm>
          <a:prstGeom prst="roundRect">
            <a:avLst>
              <a:gd name="adj" fmla="val 7273"/>
            </a:avLst>
          </a:prstGeom>
          <a:solidFill>
            <a:schemeClr val="accent4"/>
          </a:solidFill>
          <a:ln/>
          <a:effectLst>
            <a:outerShdw sx="100000" sy="100000" kx="0" ky="0" algn="bl" rotWithShape="0" blurRad="76200" dist="25400" dir="5400000">
              <a:srgbClr val="9C8189">
                <a:alpha val="16000"/>
              </a:srgbClr>
            </a:outerShdw>
          </a:effectLst>
        </p:spPr>
      </p:sp>
      <p:sp>
        <p:nvSpPr>
          <p:cNvPr id="21" name="Text 16"/>
          <p:cNvSpPr txBox="1"/>
          <p:nvPr/>
        </p:nvSpPr>
        <p:spPr>
          <a:xfrm>
            <a:off x="822960" y="5029200"/>
            <a:ext cx="10515600" cy="1005840"/>
          </a:xfrm>
          <a:prstGeom prst="rect">
            <a:avLst/>
          </a:prstGeom>
          <a:noFill/>
          <a:ln/>
        </p:spPr>
        <p:txBody>
          <a:bodyPr wrap="square" lIns="0" tIns="0" rIns="0" bIns="0" rtlCol="0" anchor="ctr"/>
          <a:lstStyle/>
          <a:p>
            <a:pPr indent="0" marL="0">
              <a:buNone/>
            </a:pPr>
            <a:r>
              <a:rPr lang="en-US" sz="1600" b="1" dirty="0">
                <a:solidFill>
                  <a:schemeClr val="accent3"/>
                </a:solidFill>
              </a:rPr>
              <a:t>The gap: </a:t>
            </a:r>
            <a:pPr indent="0" marL="0">
              <a:buNone/>
            </a:pPr>
            <a:r>
              <a:rPr lang="en-US" sz="1600" dirty="0">
                <a:solidFill>
                  <a:schemeClr val="tx1"/>
                </a:solidFill>
              </a:rPr>
              <a:t>learned deferral has not been tested from a microcontroller, where the deferral model itself must fit in 128 KB and the cost that matters is battery energy.</a:t>
            </a:r>
            <a:endParaRPr lang="en-US" sz="1600" dirty="0"/>
          </a:p>
        </p:txBody>
      </p:sp>
      <p:sp>
        <p:nvSpPr>
          <p:cNvPr id="25" name="Slide Number Placeholder 0"/>
          <p:cNvSpPr>
            <a:spLocks noGrp="1"/>
          </p:cNvSpPr>
          <p:nvPr>
            <p:ph type="sldNum" sz="quarter" idx="4294967295"/>
          </p:nvPr>
        </p:nvSpPr>
        <p:spPr>
          <a:xfrm>
            <a:off x="11274552" y="347472"/>
            <a:ext cx="384048" cy="384048"/>
          </a:xfrm>
          <a:prstGeom prst="rect">
            <a:avLst/>
          </a:prstGeom>
          <a:extLst>
            <a:ext uri="{C572A759-6A51-4108-AA02-DFA0A04FC94B}">
              <ma14:wrappingTextBoxFlag xmlns:ma14="http://schemas.microsoft.com/office/mac/drawingml/2011/main" val="0"/>
            </a:ext>
          </a:extLst>
        </p:spPr>
        <p:txBody>
          <a:bodyPr anchor="ctr"/>
          <a:lstStyle>
            <a:lvl1pPr>
              <a:defRPr sz="1200">
                <a:solidFill>
                  <a:srgbClr val="3A2E31"/>
                </a:solidFill>
              </a:defRPr>
            </a:lvl1pPr>
          </a:lstStyle>
          <a:p>
            <a:pPr algn="ct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1" type="body" hasCustomPrompt="1"/>
          </p:nvPr>
        </p:nvSpPr>
        <p:spPr>
          <a:xfrm>
            <a:off x="548640" y="365760"/>
            <a:ext cx="9601200" cy="292608"/>
          </a:xfrm>
          <a:prstGeom prst="rect">
            <a:avLst/>
          </a:prstGeom>
          <a:noFill/>
          <a:ln/>
        </p:spPr>
        <p:txBody>
          <a:bodyPr wrap="square" lIns="0" tIns="0" rIns="0" bIns="0" rtlCol="0"/>
          <a:lstStyle/>
          <a:p>
            <a:pPr indent="0" marL="0">
              <a:buNone/>
            </a:pPr>
            <a:r>
              <a:rPr lang="en-US" sz="1200" b="1" spc="200" kern="0" dirty="0">
                <a:solidFill>
                  <a:schemeClr val="accent6"/>
                </a:solidFill>
              </a:rPr>
              <a:t>THE SYSTEM  ·  ADITYA ACHAR</a:t>
            </a:r>
            <a:endParaRPr lang="en-US" sz="1200" dirty="0"/>
          </a:p>
        </p:txBody>
      </p:sp>
      <p:sp>
        <p:nvSpPr>
          <p:cNvPr id="3" name="Text 0"/>
          <p:cNvSpPr/>
          <p:nvPr>
            <p:ph idx="102" type="title" hasCustomPrompt="1"/>
          </p:nvPr>
        </p:nvSpPr>
        <p:spPr>
          <a:xfrm>
            <a:off x="548640" y="676656"/>
            <a:ext cx="10424160" cy="822960"/>
          </a:xfrm>
          <a:prstGeom prst="rect">
            <a:avLst/>
          </a:prstGeom>
          <a:noFill/>
          <a:ln/>
        </p:spPr>
        <p:txBody>
          <a:bodyPr wrap="square" lIns="0" tIns="0" rIns="0" bIns="0" rtlCol="0" anchor="t"/>
          <a:lstStyle/>
          <a:p>
            <a:pPr algn="l" indent="0" marL="0">
              <a:buNone/>
            </a:pPr>
            <a:r>
              <a:rPr lang="en-US" sz="3000" b="1" dirty="0">
                <a:solidFill>
                  <a:schemeClr val="tx2"/>
                </a:solidFill>
              </a:rPr>
              <a:t>A tiny model on the device, a transformer on the hub, and a rule for when to ask</a:t>
            </a:r>
            <a:endParaRPr lang="en-US" sz="3000" dirty="0"/>
          </a:p>
        </p:txBody>
      </p:sp>
      <p:sp>
        <p:nvSpPr>
          <p:cNvPr id="4" name="device card"/>
          <p:cNvSpPr/>
          <p:nvPr/>
        </p:nvSpPr>
        <p:spPr>
          <a:xfrm>
            <a:off x="548640" y="1783080"/>
            <a:ext cx="4846320" cy="3246120"/>
          </a:xfrm>
          <a:prstGeom prst="roundRect">
            <a:avLst>
              <a:gd name="adj" fmla="val 2254"/>
            </a:avLst>
          </a:prstGeom>
          <a:solidFill>
            <a:schemeClr val="bg2"/>
          </a:solidFill>
          <a:ln/>
          <a:effectLst>
            <a:outerShdw sx="100000" sy="100000" kx="0" ky="0" algn="bl" rotWithShape="0" blurRad="76200" dist="25400" dir="5400000">
              <a:srgbClr val="9C8189">
                <a:alpha val="16000"/>
              </a:srgbClr>
            </a:outerShdw>
          </a:effectLst>
        </p:spPr>
      </p:sp>
      <p:sp>
        <p:nvSpPr>
          <p:cNvPr id="5" name="Shape 3"/>
          <p:cNvSpPr/>
          <p:nvPr/>
        </p:nvSpPr>
        <p:spPr>
          <a:xfrm>
            <a:off x="822960" y="2011680"/>
            <a:ext cx="640080" cy="640080"/>
          </a:xfrm>
          <a:prstGeom prst="ellipse">
            <a:avLst/>
          </a:prstGeom>
          <a:solidFill>
            <a:schemeClr val="accent2"/>
          </a:solidFill>
          <a:ln/>
        </p:spPr>
      </p:sp>
      <p:pic>
        <p:nvPicPr>
          <p:cNvPr id="6" name="Image 0" descr="preencoded.png">    </p:cNvPr>
          <p:cNvPicPr>
            <a:picLocks noChangeAspect="1"/>
          </p:cNvPicPr>
          <p:nvPr/>
        </p:nvPicPr>
        <p:blipFill>
          <a:blip r:embed="rId1"/>
          <a:stretch>
            <a:fillRect/>
          </a:stretch>
        </p:blipFill>
        <p:spPr>
          <a:xfrm>
            <a:off x="982980" y="2171700"/>
            <a:ext cx="320040" cy="320040"/>
          </a:xfrm>
          <a:prstGeom prst="rect">
            <a:avLst/>
          </a:prstGeom>
        </p:spPr>
      </p:pic>
      <p:sp>
        <p:nvSpPr>
          <p:cNvPr id="7" name="Text 4"/>
          <p:cNvSpPr txBox="1"/>
          <p:nvPr/>
        </p:nvSpPr>
        <p:spPr>
          <a:xfrm>
            <a:off x="1600200" y="2103120"/>
            <a:ext cx="3657600" cy="457200"/>
          </a:xfrm>
          <a:prstGeom prst="rect">
            <a:avLst/>
          </a:prstGeom>
          <a:noFill/>
          <a:ln/>
        </p:spPr>
        <p:txBody>
          <a:bodyPr wrap="square" lIns="0" tIns="0" rIns="0" bIns="0" rtlCol="0" anchor="ctr"/>
          <a:lstStyle/>
          <a:p>
            <a:pPr indent="0" marL="0">
              <a:buNone/>
            </a:pPr>
            <a:r>
              <a:rPr lang="en-US" sz="1900" b="1" dirty="0">
                <a:solidFill>
                  <a:schemeClr val="tx2"/>
                </a:solidFill>
              </a:rPr>
              <a:t>Device: ESP32-S3, on battery</a:t>
            </a:r>
            <a:endParaRPr lang="en-US" sz="1900" dirty="0"/>
          </a:p>
        </p:txBody>
      </p:sp>
      <p:sp>
        <p:nvSpPr>
          <p:cNvPr id="8" name="Text 5"/>
          <p:cNvSpPr txBox="1"/>
          <p:nvPr/>
        </p:nvSpPr>
        <p:spPr>
          <a:xfrm>
            <a:off x="868680" y="2880360"/>
            <a:ext cx="4343400" cy="2011680"/>
          </a:xfrm>
          <a:prstGeom prst="rect">
            <a:avLst/>
          </a:prstGeom>
          <a:noFill/>
          <a:ln/>
        </p:spPr>
        <p:txBody>
          <a:bodyPr wrap="square" lIns="0" tIns="0" rIns="0" bIns="0" rtlCol="0" anchor="t"/>
          <a:lstStyle/>
          <a:p>
            <a:pPr marL="228600" indent="-228600">
              <a:spcAft>
                <a:spcPts val="800"/>
              </a:spcAft>
              <a:buSzPct val="100000"/>
              <a:buChar char="•"/>
            </a:pPr>
            <a:r>
              <a:rPr lang="en-US" sz="1600" dirty="0">
                <a:solidFill>
                  <a:schemeClr val="tx1"/>
                </a:solidFill>
              </a:rPr>
              <a:t>Hash word 1–2-grams (no vocabulary stored)</a:t>
            </a:r>
            <a:endParaRPr lang="en-US" sz="1600" dirty="0"/>
          </a:p>
          <a:p>
            <a:pPr marL="228600" indent="-228600">
              <a:spcAft>
                <a:spcPts val="800"/>
              </a:spcAft>
              <a:buSzPct val="100000"/>
              <a:buChar char="•"/>
            </a:pPr>
            <a:r>
              <a:rPr lang="en-US" sz="1600" dirty="0">
                <a:solidFill>
                  <a:schemeClr val="tx1"/>
                </a:solidFill>
              </a:rPr>
              <a:t>Chip model, 256 KB int8: p(x), 92.7% accurate</a:t>
            </a:r>
            <a:endParaRPr lang="en-US" sz="1600" dirty="0"/>
          </a:p>
          <a:p>
            <a:pPr marL="228600" indent="-228600">
              <a:spcAft>
                <a:spcPts val="800"/>
              </a:spcAft>
              <a:buSzPct val="100000"/>
              <a:buChar char="•"/>
            </a:pPr>
            <a:r>
              <a:rPr lang="en-US" sz="1600" dirty="0">
                <a:solidFill>
                  <a:schemeClr val="tx1"/>
                </a:solidFill>
              </a:rPr>
              <a:t>Deferral model, 128 KB: g(x)</a:t>
            </a:r>
            <a:endParaRPr lang="en-US" sz="1600" dirty="0"/>
          </a:p>
          <a:p>
            <a:pPr marL="228600" indent="-228600">
              <a:spcAft>
                <a:spcPts val="800"/>
              </a:spcAft>
              <a:buSzPct val="100000"/>
              <a:buChar char="•"/>
            </a:pPr>
            <a:r>
              <a:rPr lang="en-US" sz="1600" dirty="0">
                <a:solidFill>
                  <a:schemeClr val="tx1"/>
                </a:solidFill>
              </a:rPr>
              <a:t>Answer locally for about 0.8 mJ</a:t>
            </a:r>
            <a:endParaRPr lang="en-US" sz="1600" dirty="0"/>
          </a:p>
        </p:txBody>
      </p:sp>
      <p:sp>
        <p:nvSpPr>
          <p:cNvPr id="9" name="hub card"/>
          <p:cNvSpPr/>
          <p:nvPr/>
        </p:nvSpPr>
        <p:spPr>
          <a:xfrm>
            <a:off x="6766560" y="1783080"/>
            <a:ext cx="4846320" cy="3246120"/>
          </a:xfrm>
          <a:prstGeom prst="roundRect">
            <a:avLst>
              <a:gd name="adj" fmla="val 2254"/>
            </a:avLst>
          </a:prstGeom>
          <a:solidFill>
            <a:schemeClr val="bg2"/>
          </a:solidFill>
          <a:ln/>
          <a:effectLst>
            <a:outerShdw sx="100000" sy="100000" kx="0" ky="0" algn="bl" rotWithShape="0" blurRad="76200" dist="25400" dir="5400000">
              <a:srgbClr val="9C8189">
                <a:alpha val="16000"/>
              </a:srgbClr>
            </a:outerShdw>
          </a:effectLst>
        </p:spPr>
      </p:sp>
      <p:sp>
        <p:nvSpPr>
          <p:cNvPr id="10" name="Shape 7"/>
          <p:cNvSpPr/>
          <p:nvPr/>
        </p:nvSpPr>
        <p:spPr>
          <a:xfrm>
            <a:off x="7040880" y="2011680"/>
            <a:ext cx="640080" cy="640080"/>
          </a:xfrm>
          <a:prstGeom prst="ellipse">
            <a:avLst/>
          </a:prstGeom>
          <a:solidFill>
            <a:schemeClr val="accent3"/>
          </a:solidFill>
          <a:ln/>
        </p:spPr>
      </p:sp>
      <p:pic>
        <p:nvPicPr>
          <p:cNvPr id="11" name="Image 1" descr="preencoded.png">    </p:cNvPr>
          <p:cNvPicPr>
            <a:picLocks noChangeAspect="1"/>
          </p:cNvPicPr>
          <p:nvPr/>
        </p:nvPicPr>
        <p:blipFill>
          <a:blip r:embed="rId2"/>
          <a:stretch>
            <a:fillRect/>
          </a:stretch>
        </p:blipFill>
        <p:spPr>
          <a:xfrm>
            <a:off x="7200900" y="2171700"/>
            <a:ext cx="320040" cy="320040"/>
          </a:xfrm>
          <a:prstGeom prst="rect">
            <a:avLst/>
          </a:prstGeom>
        </p:spPr>
      </p:pic>
      <p:sp>
        <p:nvSpPr>
          <p:cNvPr id="12" name="Text 8"/>
          <p:cNvSpPr txBox="1"/>
          <p:nvPr/>
        </p:nvSpPr>
        <p:spPr>
          <a:xfrm>
            <a:off x="7818120" y="2103120"/>
            <a:ext cx="3657600" cy="457200"/>
          </a:xfrm>
          <a:prstGeom prst="rect">
            <a:avLst/>
          </a:prstGeom>
          <a:noFill/>
          <a:ln/>
        </p:spPr>
        <p:txBody>
          <a:bodyPr wrap="square" lIns="0" tIns="0" rIns="0" bIns="0" rtlCol="0" anchor="ctr"/>
          <a:lstStyle/>
          <a:p>
            <a:pPr indent="0" marL="0">
              <a:buNone/>
            </a:pPr>
            <a:r>
              <a:rPr lang="en-US" sz="1900" b="1" dirty="0">
                <a:solidFill>
                  <a:schemeClr val="tx2"/>
                </a:solidFill>
              </a:rPr>
              <a:t>Hub: Raspberry Pi Zero 2 W</a:t>
            </a:r>
            <a:endParaRPr lang="en-US" sz="1900" dirty="0"/>
          </a:p>
        </p:txBody>
      </p:sp>
      <p:sp>
        <p:nvSpPr>
          <p:cNvPr id="13" name="Text 9"/>
          <p:cNvSpPr txBox="1"/>
          <p:nvPr/>
        </p:nvSpPr>
        <p:spPr>
          <a:xfrm>
            <a:off x="7086600" y="2880360"/>
            <a:ext cx="4343400" cy="2011680"/>
          </a:xfrm>
          <a:prstGeom prst="rect">
            <a:avLst/>
          </a:prstGeom>
          <a:noFill/>
          <a:ln/>
        </p:spPr>
        <p:txBody>
          <a:bodyPr wrap="square" lIns="0" tIns="0" rIns="0" bIns="0" rtlCol="0" anchor="t"/>
          <a:lstStyle/>
          <a:p>
            <a:pPr marL="228600" indent="-228600">
              <a:spcAft>
                <a:spcPts val="800"/>
              </a:spcAft>
              <a:buSzPct val="100000"/>
              <a:buChar char="•"/>
            </a:pPr>
            <a:r>
              <a:rPr lang="en-US" sz="1600" dirty="0">
                <a:solidFill>
                  <a:schemeClr val="tx1"/>
                </a:solidFill>
              </a:rPr>
              <a:t>512 MB of RAM, about USD 15</a:t>
            </a:r>
            <a:endParaRPr lang="en-US" sz="1600" dirty="0"/>
          </a:p>
          <a:p>
            <a:pPr marL="228600" indent="-228600">
              <a:spcAft>
                <a:spcPts val="800"/>
              </a:spcAft>
              <a:buSzPct val="100000"/>
              <a:buChar char="•"/>
            </a:pPr>
            <a:r>
              <a:rPr lang="en-US" sz="1600" dirty="0">
                <a:solidFill>
                  <a:schemeClr val="tx1"/>
                </a:solidFill>
              </a:rPr>
              <a:t>Int8 transformer: DistilBERT or RoBERTa-base</a:t>
            </a:r>
            <a:endParaRPr lang="en-US" sz="1600" dirty="0"/>
          </a:p>
          <a:p>
            <a:pPr marL="228600" indent="-228600">
              <a:spcAft>
                <a:spcPts val="800"/>
              </a:spcAft>
              <a:buSzPct val="100000"/>
              <a:buChar char="•"/>
            </a:pPr>
            <a:r>
              <a:rPr lang="en-US" sz="1600" dirty="0">
                <a:solidFill>
                  <a:schemeClr val="tx1"/>
                </a:solidFill>
              </a:rPr>
              <a:t>95.8–96.7% accurate</a:t>
            </a:r>
            <a:endParaRPr lang="en-US" sz="1600" dirty="0"/>
          </a:p>
          <a:p>
            <a:pPr marL="228600" indent="-228600">
              <a:spcAft>
                <a:spcPts val="800"/>
              </a:spcAft>
              <a:buSzPct val="100000"/>
              <a:buChar char="•"/>
            </a:pPr>
            <a:r>
              <a:rPr lang="en-US" sz="1600" dirty="0">
                <a:solidFill>
                  <a:schemeClr val="tx1"/>
                </a:solidFill>
              </a:rPr>
              <a:t>Sends the label back</a:t>
            </a:r>
            <a:endParaRPr lang="en-US" sz="1600" dirty="0"/>
          </a:p>
        </p:txBody>
      </p:sp>
      <p:sp>
        <p:nvSpPr>
          <p:cNvPr id="14" name="Shape 10"/>
          <p:cNvSpPr/>
          <p:nvPr/>
        </p:nvSpPr>
        <p:spPr>
          <a:xfrm>
            <a:off x="5532120" y="2971800"/>
            <a:ext cx="1097280" cy="0"/>
          </a:xfrm>
          <a:prstGeom prst="line">
            <a:avLst/>
          </a:prstGeom>
          <a:noFill/>
          <a:ln w="25400">
            <a:solidFill>
              <a:srgbClr val="3A2E31"/>
            </a:solidFill>
            <a:prstDash val="solid"/>
            <a:tailEnd type="triangle"/>
          </a:ln>
        </p:spPr>
      </p:sp>
      <p:sp>
        <p:nvSpPr>
          <p:cNvPr id="15" name="Shape 11"/>
          <p:cNvSpPr/>
          <p:nvPr/>
        </p:nvSpPr>
        <p:spPr>
          <a:xfrm>
            <a:off x="5532120" y="3794760"/>
            <a:ext cx="1097280" cy="0"/>
          </a:xfrm>
          <a:prstGeom prst="line">
            <a:avLst/>
          </a:prstGeom>
          <a:noFill/>
          <a:ln w="25400">
            <a:solidFill>
              <a:srgbClr val="3A2E31"/>
            </a:solidFill>
            <a:prstDash val="solid"/>
            <a:headEnd type="triangle"/>
          </a:ln>
        </p:spPr>
      </p:sp>
      <p:sp>
        <p:nvSpPr>
          <p:cNvPr id="16" name="Text 12"/>
          <p:cNvSpPr txBox="1"/>
          <p:nvPr/>
        </p:nvSpPr>
        <p:spPr>
          <a:xfrm>
            <a:off x="5440680" y="2560320"/>
            <a:ext cx="1280160" cy="320040"/>
          </a:xfrm>
          <a:prstGeom prst="rect">
            <a:avLst/>
          </a:prstGeom>
          <a:noFill/>
          <a:ln/>
        </p:spPr>
        <p:txBody>
          <a:bodyPr wrap="square" lIns="0" tIns="0" rIns="0" bIns="0" rtlCol="0" anchor="ctr"/>
          <a:lstStyle/>
          <a:p>
            <a:pPr algn="ctr" indent="0" marL="0">
              <a:buNone/>
            </a:pPr>
            <a:r>
              <a:rPr lang="en-US" sz="1200" dirty="0">
                <a:solidFill>
                  <a:schemeClr val="accent6"/>
                </a:solidFill>
              </a:rPr>
              <a:t>review (Wi-Fi)</a:t>
            </a:r>
            <a:endParaRPr lang="en-US" sz="1200" dirty="0"/>
          </a:p>
        </p:txBody>
      </p:sp>
      <p:sp>
        <p:nvSpPr>
          <p:cNvPr id="17" name="Text 13"/>
          <p:cNvSpPr txBox="1"/>
          <p:nvPr/>
        </p:nvSpPr>
        <p:spPr>
          <a:xfrm>
            <a:off x="5440680" y="3886200"/>
            <a:ext cx="1280160" cy="320040"/>
          </a:xfrm>
          <a:prstGeom prst="rect">
            <a:avLst/>
          </a:prstGeom>
          <a:noFill/>
          <a:ln/>
        </p:spPr>
        <p:txBody>
          <a:bodyPr wrap="square" lIns="0" tIns="0" rIns="0" bIns="0" rtlCol="0" anchor="ctr"/>
          <a:lstStyle/>
          <a:p>
            <a:pPr algn="ctr" indent="0" marL="0">
              <a:buNone/>
            </a:pPr>
            <a:r>
              <a:rPr lang="en-US" sz="1200" dirty="0">
                <a:solidFill>
                  <a:schemeClr val="accent6"/>
                </a:solidFill>
              </a:rPr>
              <a:t>label</a:t>
            </a:r>
            <a:endParaRPr lang="en-US" sz="1200" dirty="0"/>
          </a:p>
        </p:txBody>
      </p:sp>
      <p:sp>
        <p:nvSpPr>
          <p:cNvPr id="18" name="decision rule"/>
          <p:cNvSpPr/>
          <p:nvPr/>
        </p:nvSpPr>
        <p:spPr>
          <a:xfrm>
            <a:off x="548640" y="5303520"/>
            <a:ext cx="11064240" cy="868680"/>
          </a:xfrm>
          <a:prstGeom prst="roundRect">
            <a:avLst>
              <a:gd name="adj" fmla="val 8421"/>
            </a:avLst>
          </a:prstGeom>
          <a:solidFill>
            <a:schemeClr val="accent4"/>
          </a:solidFill>
          <a:ln/>
          <a:effectLst>
            <a:outerShdw sx="100000" sy="100000" kx="0" ky="0" algn="bl" rotWithShape="0" blurRad="76200" dist="25400" dir="5400000">
              <a:srgbClr val="9C8189">
                <a:alpha val="16000"/>
              </a:srgbClr>
            </a:outerShdw>
          </a:effectLst>
        </p:spPr>
      </p:sp>
      <p:sp>
        <p:nvSpPr>
          <p:cNvPr id="19" name="Text 15"/>
          <p:cNvSpPr txBox="1"/>
          <p:nvPr/>
        </p:nvSpPr>
        <p:spPr>
          <a:xfrm>
            <a:off x="822960" y="5303520"/>
            <a:ext cx="10607040" cy="868680"/>
          </a:xfrm>
          <a:prstGeom prst="rect">
            <a:avLst/>
          </a:prstGeom>
          <a:noFill/>
          <a:ln/>
        </p:spPr>
        <p:txBody>
          <a:bodyPr wrap="square" lIns="0" tIns="0" rIns="0" bIns="0" rtlCol="0" anchor="ctr"/>
          <a:lstStyle/>
          <a:p>
            <a:pPr indent="0" marL="0">
              <a:buNone/>
            </a:pPr>
            <a:r>
              <a:rPr lang="en-US" sz="2200" b="1" dirty="0">
                <a:solidFill>
                  <a:schemeClr val="accent3"/>
                </a:solidFill>
                <a:latin typeface="Cambria" pitchFamily="34" charset="0"/>
                <a:ea typeface="Cambria" pitchFamily="34" charset="-122"/>
                <a:cs typeface="Cambria" pitchFamily="34" charset="-120"/>
              </a:rPr>
              <a:t>Send only if  g(x) &gt; λ</a:t>
            </a:r>
            <a:pPr indent="0" marL="0">
              <a:buNone/>
            </a:pPr>
            <a:r>
              <a:rPr lang="en-US" sz="1500" dirty="0">
                <a:solidFill>
                  <a:schemeClr val="tx1"/>
                </a:solidFill>
              </a:rPr>
              <a:t>     λ = what one Wi-Fi send costs, in accuracy; sweeping it traces accuracy vs. battery</a:t>
            </a:r>
            <a:endParaRPr lang="en-US" sz="2200" dirty="0"/>
          </a:p>
        </p:txBody>
      </p:sp>
      <p:sp>
        <p:nvSpPr>
          <p:cNvPr id="21" name="Text 0"/>
          <p:cNvSpPr/>
          <p:nvPr>
            <p:ph idx="103" type="body" hasCustomPrompt="1"/>
          </p:nvPr>
        </p:nvSpPr>
        <p:spPr>
          <a:xfrm>
            <a:off x="548640" y="6355080"/>
            <a:ext cx="10515600" cy="310896"/>
          </a:xfrm>
          <a:prstGeom prst="rect">
            <a:avLst/>
          </a:prstGeom>
          <a:noFill/>
          <a:ln/>
        </p:spPr>
        <p:txBody>
          <a:bodyPr wrap="square" lIns="0" tIns="0" rIns="0" bIns="0" rtlCol="0"/>
          <a:lstStyle/>
          <a:p>
            <a:pPr indent="0" marL="0">
              <a:buNone/>
            </a:pPr>
            <a:endParaRPr lang="en-US" sz="1100" dirty="0"/>
          </a:p>
        </p:txBody>
      </p:sp>
      <p:sp>
        <p:nvSpPr>
          <p:cNvPr id="25" name="Slide Number Placeholder 0"/>
          <p:cNvSpPr>
            <a:spLocks noGrp="1"/>
          </p:cNvSpPr>
          <p:nvPr>
            <p:ph type="sldNum" sz="quarter" idx="4294967295"/>
          </p:nvPr>
        </p:nvSpPr>
        <p:spPr>
          <a:xfrm>
            <a:off x="11274552" y="347472"/>
            <a:ext cx="384048" cy="384048"/>
          </a:xfrm>
          <a:prstGeom prst="rect">
            <a:avLst/>
          </a:prstGeom>
          <a:extLst>
            <a:ext uri="{C572A759-6A51-4108-AA02-DFA0A04FC94B}">
              <ma14:wrappingTextBoxFlag xmlns:ma14="http://schemas.microsoft.com/office/mac/drawingml/2011/main" val="0"/>
            </a:ext>
          </a:extLst>
        </p:spPr>
        <p:txBody>
          <a:bodyPr anchor="ctr"/>
          <a:lstStyle>
            <a:lvl1pPr>
              <a:defRPr sz="1200">
                <a:solidFill>
                  <a:srgbClr val="3A2E31"/>
                </a:solidFill>
              </a:defRPr>
            </a:lvl1pPr>
          </a:lstStyle>
          <a:p>
            <a:pPr algn="ct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1" type="body" hasCustomPrompt="1"/>
          </p:nvPr>
        </p:nvSpPr>
        <p:spPr>
          <a:xfrm>
            <a:off x="548640" y="365760"/>
            <a:ext cx="9601200" cy="292608"/>
          </a:xfrm>
          <a:prstGeom prst="rect">
            <a:avLst/>
          </a:prstGeom>
          <a:noFill/>
          <a:ln/>
        </p:spPr>
        <p:txBody>
          <a:bodyPr wrap="square" lIns="0" tIns="0" rIns="0" bIns="0" rtlCol="0"/>
          <a:lstStyle/>
          <a:p>
            <a:pPr indent="0" marL="0">
              <a:buNone/>
            </a:pPr>
            <a:r>
              <a:rPr lang="en-US" sz="1200" b="1" spc="200" kern="0" dirty="0">
                <a:solidFill>
                  <a:schemeClr val="accent6"/>
                </a:solidFill>
              </a:rPr>
              <a:t>THE QUESTION  ·  ADITYA ACHAR</a:t>
            </a:r>
            <a:endParaRPr lang="en-US" sz="1200" dirty="0"/>
          </a:p>
        </p:txBody>
      </p:sp>
      <p:sp>
        <p:nvSpPr>
          <p:cNvPr id="3" name="Text 0"/>
          <p:cNvSpPr/>
          <p:nvPr>
            <p:ph idx="102" type="title" hasCustomPrompt="1"/>
          </p:nvPr>
        </p:nvSpPr>
        <p:spPr>
          <a:xfrm>
            <a:off x="548640" y="676656"/>
            <a:ext cx="10424160" cy="822960"/>
          </a:xfrm>
          <a:prstGeom prst="rect">
            <a:avLst/>
          </a:prstGeom>
          <a:noFill/>
          <a:ln/>
        </p:spPr>
        <p:txBody>
          <a:bodyPr wrap="square" lIns="0" tIns="0" rIns="0" bIns="0" rtlCol="0" anchor="t"/>
          <a:lstStyle/>
          <a:p>
            <a:pPr algn="l" indent="0" marL="0">
              <a:buNone/>
            </a:pPr>
            <a:r>
              <a:rPr lang="en-US" sz="3000" b="1" dirty="0">
                <a:solidFill>
                  <a:schemeClr val="tx2"/>
                </a:solidFill>
              </a:rPr>
              <a:t>Which reviews should the device send to the hub?</a:t>
            </a:r>
            <a:endParaRPr lang="en-US" sz="3000" dirty="0"/>
          </a:p>
        </p:txBody>
      </p:sp>
      <p:sp>
        <p:nvSpPr>
          <p:cNvPr id="4" name="Confidence routing"/>
          <p:cNvSpPr/>
          <p:nvPr/>
        </p:nvSpPr>
        <p:spPr>
          <a:xfrm>
            <a:off x="548640" y="1783080"/>
            <a:ext cx="5394960" cy="3337560"/>
          </a:xfrm>
          <a:prstGeom prst="roundRect">
            <a:avLst>
              <a:gd name="adj" fmla="val 2192"/>
            </a:avLst>
          </a:prstGeom>
          <a:solidFill>
            <a:schemeClr val="bg2"/>
          </a:solidFill>
          <a:ln/>
          <a:effectLst>
            <a:outerShdw sx="100000" sy="100000" kx="0" ky="0" algn="bl" rotWithShape="0" blurRad="76200" dist="25400" dir="5400000">
              <a:srgbClr val="9C8189">
                <a:alpha val="16000"/>
              </a:srgbClr>
            </a:outerShdw>
          </a:effectLst>
        </p:spPr>
      </p:sp>
      <p:sp>
        <p:nvSpPr>
          <p:cNvPr id="5" name="Shape 3"/>
          <p:cNvSpPr/>
          <p:nvPr/>
        </p:nvSpPr>
        <p:spPr>
          <a:xfrm>
            <a:off x="868680" y="2057400"/>
            <a:ext cx="685800" cy="685800"/>
          </a:xfrm>
          <a:prstGeom prst="ellipse">
            <a:avLst/>
          </a:prstGeom>
          <a:solidFill>
            <a:schemeClr val="accent2"/>
          </a:solidFill>
          <a:ln/>
        </p:spPr>
      </p:sp>
      <p:pic>
        <p:nvPicPr>
          <p:cNvPr id="6" name="Image 0" descr="preencoded.png">    </p:cNvPr>
          <p:cNvPicPr>
            <a:picLocks noChangeAspect="1"/>
          </p:cNvPicPr>
          <p:nvPr/>
        </p:nvPicPr>
        <p:blipFill>
          <a:blip r:embed="rId1"/>
          <a:stretch>
            <a:fillRect/>
          </a:stretch>
        </p:blipFill>
        <p:spPr>
          <a:xfrm>
            <a:off x="1040130" y="2228850"/>
            <a:ext cx="342900" cy="342900"/>
          </a:xfrm>
          <a:prstGeom prst="rect">
            <a:avLst/>
          </a:prstGeom>
        </p:spPr>
      </p:pic>
      <p:sp>
        <p:nvSpPr>
          <p:cNvPr id="7" name="Text 4"/>
          <p:cNvSpPr txBox="1"/>
          <p:nvPr/>
        </p:nvSpPr>
        <p:spPr>
          <a:xfrm>
            <a:off x="1737360" y="2103120"/>
            <a:ext cx="3931920" cy="457200"/>
          </a:xfrm>
          <a:prstGeom prst="rect">
            <a:avLst/>
          </a:prstGeom>
          <a:noFill/>
          <a:ln/>
        </p:spPr>
        <p:txBody>
          <a:bodyPr wrap="square" lIns="0" tIns="0" rIns="0" bIns="0" rtlCol="0" anchor="ctr"/>
          <a:lstStyle/>
          <a:p>
            <a:pPr indent="0" marL="0">
              <a:buNone/>
            </a:pPr>
            <a:r>
              <a:rPr lang="en-US" sz="2100" b="1" dirty="0">
                <a:solidFill>
                  <a:schemeClr val="accent2"/>
                </a:solidFill>
              </a:rPr>
              <a:t>Confidence routing</a:t>
            </a:r>
            <a:endParaRPr lang="en-US" sz="2100" dirty="0"/>
          </a:p>
        </p:txBody>
      </p:sp>
      <p:sp>
        <p:nvSpPr>
          <p:cNvPr id="8" name="Text 5"/>
          <p:cNvSpPr txBox="1"/>
          <p:nvPr/>
        </p:nvSpPr>
        <p:spPr>
          <a:xfrm>
            <a:off x="1737360" y="2560320"/>
            <a:ext cx="3931920" cy="548640"/>
          </a:xfrm>
          <a:prstGeom prst="rect">
            <a:avLst/>
          </a:prstGeom>
          <a:noFill/>
          <a:ln/>
        </p:spPr>
        <p:txBody>
          <a:bodyPr wrap="square" lIns="0" tIns="0" rIns="0" bIns="0" rtlCol="0" anchor="ctr"/>
          <a:lstStyle/>
          <a:p>
            <a:pPr indent="0" marL="0">
              <a:buNone/>
            </a:pPr>
            <a:r>
              <a:rPr lang="en-US" sz="1500" i="1" dirty="0">
                <a:solidFill>
                  <a:schemeClr val="tx1"/>
                </a:solidFill>
              </a:rPr>
              <a:t>Send the reviews the device is least sure about</a:t>
            </a:r>
            <a:endParaRPr lang="en-US" sz="1500" dirty="0"/>
          </a:p>
        </p:txBody>
      </p:sp>
      <p:sp>
        <p:nvSpPr>
          <p:cNvPr id="9" name="Text 6"/>
          <p:cNvSpPr txBox="1"/>
          <p:nvPr/>
        </p:nvSpPr>
        <p:spPr>
          <a:xfrm>
            <a:off x="914400" y="3429000"/>
            <a:ext cx="4754880" cy="1554480"/>
          </a:xfrm>
          <a:prstGeom prst="rect">
            <a:avLst/>
          </a:prstGeom>
          <a:noFill/>
          <a:ln/>
        </p:spPr>
        <p:txBody>
          <a:bodyPr wrap="square" lIns="0" tIns="0" rIns="0" bIns="0" rtlCol="0" anchor="t"/>
          <a:lstStyle/>
          <a:p>
            <a:pPr marL="228600" indent="-228600">
              <a:spcAft>
                <a:spcPts val="800"/>
              </a:spcAft>
              <a:buSzPct val="100000"/>
              <a:buChar char="•"/>
            </a:pPr>
            <a:r>
              <a:rPr lang="en-US" sz="1600" dirty="0">
                <a:solidFill>
                  <a:schemeClr val="tx1"/>
                </a:solidFill>
              </a:rPr>
              <a:t>Score: 1 − max(p, 1 − p)</a:t>
            </a:r>
            <a:endParaRPr lang="en-US" sz="1600" dirty="0"/>
          </a:p>
          <a:p>
            <a:pPr marL="228600" indent="-228600">
              <a:spcAft>
                <a:spcPts val="800"/>
              </a:spcAft>
              <a:buSzPct val="100000"/>
              <a:buChar char="•"/>
            </a:pPr>
            <a:r>
              <a:rPr lang="en-US" sz="1600" dirty="0">
                <a:solidFill>
                  <a:schemeClr val="tx1"/>
                </a:solidFill>
              </a:rPr>
              <a:t>Knows “I might be wrong”</a:t>
            </a:r>
            <a:endParaRPr lang="en-US" sz="1600" dirty="0"/>
          </a:p>
          <a:p>
            <a:pPr marL="228600" indent="-228600">
              <a:spcAft>
                <a:spcPts val="800"/>
              </a:spcAft>
              <a:buSzPct val="100000"/>
              <a:buChar char="•"/>
            </a:pPr>
            <a:r>
              <a:rPr lang="en-US" sz="1600" dirty="0">
                <a:solidFill>
                  <a:schemeClr val="tx1"/>
                </a:solidFill>
              </a:rPr>
              <a:t>Free: no extra model</a:t>
            </a:r>
            <a:endParaRPr lang="en-US" sz="1600" dirty="0"/>
          </a:p>
        </p:txBody>
      </p:sp>
      <p:sp>
        <p:nvSpPr>
          <p:cNvPr id="10" name="Learned deferral"/>
          <p:cNvSpPr/>
          <p:nvPr/>
        </p:nvSpPr>
        <p:spPr>
          <a:xfrm>
            <a:off x="6217920" y="1783080"/>
            <a:ext cx="5394960" cy="3337560"/>
          </a:xfrm>
          <a:prstGeom prst="roundRect">
            <a:avLst>
              <a:gd name="adj" fmla="val 2192"/>
            </a:avLst>
          </a:prstGeom>
          <a:solidFill>
            <a:schemeClr val="bg2"/>
          </a:solidFill>
          <a:ln/>
          <a:effectLst>
            <a:outerShdw sx="100000" sy="100000" kx="0" ky="0" algn="bl" rotWithShape="0" blurRad="76200" dist="25400" dir="5400000">
              <a:srgbClr val="9C8189">
                <a:alpha val="16000"/>
              </a:srgbClr>
            </a:outerShdw>
          </a:effectLst>
        </p:spPr>
      </p:sp>
      <p:sp>
        <p:nvSpPr>
          <p:cNvPr id="11" name="Shape 8"/>
          <p:cNvSpPr/>
          <p:nvPr/>
        </p:nvSpPr>
        <p:spPr>
          <a:xfrm>
            <a:off x="6537960" y="2057400"/>
            <a:ext cx="685800" cy="685800"/>
          </a:xfrm>
          <a:prstGeom prst="ellipse">
            <a:avLst/>
          </a:prstGeom>
          <a:solidFill>
            <a:schemeClr val="accent3"/>
          </a:solidFill>
          <a:ln/>
        </p:spPr>
      </p:sp>
      <p:pic>
        <p:nvPicPr>
          <p:cNvPr id="12" name="Image 1" descr="preencoded.png">    </p:cNvPr>
          <p:cNvPicPr>
            <a:picLocks noChangeAspect="1"/>
          </p:cNvPicPr>
          <p:nvPr/>
        </p:nvPicPr>
        <p:blipFill>
          <a:blip r:embed="rId2"/>
          <a:stretch>
            <a:fillRect/>
          </a:stretch>
        </p:blipFill>
        <p:spPr>
          <a:xfrm>
            <a:off x="6709410" y="2228850"/>
            <a:ext cx="342900" cy="342900"/>
          </a:xfrm>
          <a:prstGeom prst="rect">
            <a:avLst/>
          </a:prstGeom>
        </p:spPr>
      </p:pic>
      <p:sp>
        <p:nvSpPr>
          <p:cNvPr id="13" name="Text 9"/>
          <p:cNvSpPr txBox="1"/>
          <p:nvPr/>
        </p:nvSpPr>
        <p:spPr>
          <a:xfrm>
            <a:off x="7406640" y="2103120"/>
            <a:ext cx="3931920" cy="457200"/>
          </a:xfrm>
          <a:prstGeom prst="rect">
            <a:avLst/>
          </a:prstGeom>
          <a:noFill/>
          <a:ln/>
        </p:spPr>
        <p:txBody>
          <a:bodyPr wrap="square" lIns="0" tIns="0" rIns="0" bIns="0" rtlCol="0" anchor="ctr"/>
          <a:lstStyle/>
          <a:p>
            <a:pPr indent="0" marL="0">
              <a:buNone/>
            </a:pPr>
            <a:r>
              <a:rPr lang="en-US" sz="2100" b="1" dirty="0">
                <a:solidFill>
                  <a:schemeClr val="accent3"/>
                </a:solidFill>
              </a:rPr>
              <a:t>Learned deferral</a:t>
            </a:r>
            <a:endParaRPr lang="en-US" sz="2100" dirty="0"/>
          </a:p>
        </p:txBody>
      </p:sp>
      <p:sp>
        <p:nvSpPr>
          <p:cNvPr id="14" name="Text 10"/>
          <p:cNvSpPr txBox="1"/>
          <p:nvPr/>
        </p:nvSpPr>
        <p:spPr>
          <a:xfrm>
            <a:off x="7406640" y="2560320"/>
            <a:ext cx="3931920" cy="548640"/>
          </a:xfrm>
          <a:prstGeom prst="rect">
            <a:avLst/>
          </a:prstGeom>
          <a:noFill/>
          <a:ln/>
        </p:spPr>
        <p:txBody>
          <a:bodyPr wrap="square" lIns="0" tIns="0" rIns="0" bIns="0" rtlCol="0" anchor="ctr"/>
          <a:lstStyle/>
          <a:p>
            <a:pPr indent="0" marL="0">
              <a:buNone/>
            </a:pPr>
            <a:r>
              <a:rPr lang="en-US" sz="1500" i="1" dirty="0">
                <a:solidFill>
                  <a:schemeClr val="tx1"/>
                </a:solidFill>
              </a:rPr>
              <a:t>Predict whether the hub would fix the device's answer</a:t>
            </a:r>
            <a:endParaRPr lang="en-US" sz="1500" dirty="0"/>
          </a:p>
        </p:txBody>
      </p:sp>
      <p:sp>
        <p:nvSpPr>
          <p:cNvPr id="15" name="Text 11"/>
          <p:cNvSpPr txBox="1"/>
          <p:nvPr/>
        </p:nvSpPr>
        <p:spPr>
          <a:xfrm>
            <a:off x="6583680" y="3429000"/>
            <a:ext cx="4754880" cy="1554480"/>
          </a:xfrm>
          <a:prstGeom prst="rect">
            <a:avLst/>
          </a:prstGeom>
          <a:noFill/>
          <a:ln/>
        </p:spPr>
        <p:txBody>
          <a:bodyPr wrap="square" lIns="0" tIns="0" rIns="0" bIns="0" rtlCol="0" anchor="t"/>
          <a:lstStyle/>
          <a:p>
            <a:pPr marL="228600" indent="-228600">
              <a:spcAft>
                <a:spcPts val="800"/>
              </a:spcAft>
              <a:buSzPct val="100000"/>
              <a:buChar char="•"/>
            </a:pPr>
            <a:r>
              <a:rPr lang="en-US" sz="1600" dirty="0">
                <a:solidFill>
                  <a:schemeClr val="tx1"/>
                </a:solidFill>
              </a:rPr>
              <a:t>Gain = hub right − device right (−1, 0, +1)</a:t>
            </a:r>
            <a:endParaRPr lang="en-US" sz="1600" dirty="0"/>
          </a:p>
          <a:p>
            <a:pPr marL="228600" indent="-228600">
              <a:spcAft>
                <a:spcPts val="800"/>
              </a:spcAft>
              <a:buSzPct val="100000"/>
              <a:buChar char="•"/>
            </a:pPr>
            <a:r>
              <a:rPr lang="en-US" sz="1600" dirty="0">
                <a:solidFill>
                  <a:schemeClr val="tx1"/>
                </a:solidFill>
              </a:rPr>
              <a:t>g(x) = P(fix) − P(break), 128 KB model</a:t>
            </a:r>
            <a:endParaRPr lang="en-US" sz="1600" dirty="0"/>
          </a:p>
          <a:p>
            <a:pPr marL="228600" indent="-228600">
              <a:spcAft>
                <a:spcPts val="800"/>
              </a:spcAft>
              <a:buSzPct val="100000"/>
              <a:buChar char="•"/>
            </a:pPr>
            <a:r>
              <a:rPr lang="en-US" sz="1600" dirty="0">
                <a:solidFill>
                  <a:schemeClr val="tx1"/>
                </a:solidFill>
              </a:rPr>
              <a:t>Trained on 300k held-out reviews</a:t>
            </a:r>
            <a:endParaRPr lang="en-US" sz="1600" dirty="0"/>
          </a:p>
        </p:txBody>
      </p:sp>
      <p:sp>
        <p:nvSpPr>
          <p:cNvPr id="16" name="Text 12"/>
          <p:cNvSpPr txBox="1"/>
          <p:nvPr/>
        </p:nvSpPr>
        <p:spPr>
          <a:xfrm>
            <a:off x="548640" y="5440680"/>
            <a:ext cx="11064240" cy="731520"/>
          </a:xfrm>
          <a:prstGeom prst="rect">
            <a:avLst/>
          </a:prstGeom>
          <a:noFill/>
          <a:ln/>
        </p:spPr>
        <p:txBody>
          <a:bodyPr wrap="square" lIns="0" tIns="0" rIns="0" bIns="0" rtlCol="0" anchor="ctr"/>
          <a:lstStyle/>
          <a:p>
            <a:pPr indent="0" marL="0">
              <a:buNone/>
            </a:pPr>
            <a:r>
              <a:rPr lang="en-US" sz="1600" b="1" dirty="0">
                <a:solidFill>
                  <a:schemeClr val="accent2"/>
                </a:solidFill>
              </a:rPr>
              <a:t>Hypothesis: </a:t>
            </a:r>
            <a:pPr indent="0" marL="0">
              <a:buNone/>
            </a:pPr>
            <a:r>
              <a:rPr lang="en-US" sz="1600" dirty="0">
                <a:solidFill>
                  <a:schemeClr val="tx1"/>
                </a:solidFill>
              </a:rPr>
              <a:t>learned deferral should skip reviews the hub would also get wrong, or that the device already gets right, so it reaches the same accuracy with fewer sends.</a:t>
            </a:r>
            <a:endParaRPr lang="en-US" sz="1600" dirty="0"/>
          </a:p>
        </p:txBody>
      </p:sp>
      <p:sp>
        <p:nvSpPr>
          <p:cNvPr id="18" name="Text 0"/>
          <p:cNvSpPr/>
          <p:nvPr>
            <p:ph idx="103" type="body" hasCustomPrompt="1"/>
          </p:nvPr>
        </p:nvSpPr>
        <p:spPr>
          <a:xfrm>
            <a:off x="548640" y="6355080"/>
            <a:ext cx="10515600" cy="310896"/>
          </a:xfrm>
          <a:prstGeom prst="rect">
            <a:avLst/>
          </a:prstGeom>
          <a:noFill/>
          <a:ln/>
        </p:spPr>
        <p:txBody>
          <a:bodyPr wrap="square" lIns="0" tIns="0" rIns="0" bIns="0" rtlCol="0"/>
          <a:lstStyle/>
          <a:p>
            <a:pPr indent="0" marL="0">
              <a:buNone/>
            </a:pPr>
            <a:endParaRPr lang="en-US" sz="1100" dirty="0"/>
          </a:p>
        </p:txBody>
      </p:sp>
      <p:sp>
        <p:nvSpPr>
          <p:cNvPr id="25" name="Slide Number Placeholder 0"/>
          <p:cNvSpPr>
            <a:spLocks noGrp="1"/>
          </p:cNvSpPr>
          <p:nvPr>
            <p:ph type="sldNum" sz="quarter" idx="4294967295"/>
          </p:nvPr>
        </p:nvSpPr>
        <p:spPr>
          <a:xfrm>
            <a:off x="11274552" y="347472"/>
            <a:ext cx="384048" cy="384048"/>
          </a:xfrm>
          <a:prstGeom prst="rect">
            <a:avLst/>
          </a:prstGeom>
          <a:extLst>
            <a:ext uri="{C572A759-6A51-4108-AA02-DFA0A04FC94B}">
              <ma14:wrappingTextBoxFlag xmlns:ma14="http://schemas.microsoft.com/office/mac/drawingml/2011/main" val="0"/>
            </a:ext>
          </a:extLst>
        </p:spPr>
        <p:txBody>
          <a:bodyPr anchor="ctr"/>
          <a:lstStyle>
            <a:lvl1pPr>
              <a:defRPr sz="1200">
                <a:solidFill>
                  <a:srgbClr val="3A2E31"/>
                </a:solidFill>
              </a:defRPr>
            </a:lvl1pPr>
          </a:lstStyle>
          <a:p>
            <a:pPr algn="ct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1" type="body" hasCustomPrompt="1"/>
          </p:nvPr>
        </p:nvSpPr>
        <p:spPr>
          <a:xfrm>
            <a:off x="548640" y="365760"/>
            <a:ext cx="9601200" cy="292608"/>
          </a:xfrm>
          <a:prstGeom prst="rect">
            <a:avLst/>
          </a:prstGeom>
          <a:noFill/>
          <a:ln/>
        </p:spPr>
        <p:txBody>
          <a:bodyPr wrap="square" lIns="0" tIns="0" rIns="0" bIns="0" rtlCol="0"/>
          <a:lstStyle/>
          <a:p>
            <a:pPr indent="0" marL="0">
              <a:buNone/>
            </a:pPr>
            <a:r>
              <a:rPr lang="en-US" sz="1200" b="1" spc="200" kern="0" dirty="0">
                <a:solidFill>
                  <a:schemeClr val="accent6"/>
                </a:solidFill>
              </a:rPr>
              <a:t>DATA AND LABELS  ·  ADITYA ACHAR</a:t>
            </a:r>
            <a:endParaRPr lang="en-US" sz="1200" dirty="0"/>
          </a:p>
        </p:txBody>
      </p:sp>
      <p:sp>
        <p:nvSpPr>
          <p:cNvPr id="3" name="Text 0"/>
          <p:cNvSpPr/>
          <p:nvPr>
            <p:ph idx="102" type="title" hasCustomPrompt="1"/>
          </p:nvPr>
        </p:nvSpPr>
        <p:spPr>
          <a:xfrm>
            <a:off x="548640" y="676656"/>
            <a:ext cx="10424160" cy="822960"/>
          </a:xfrm>
          <a:prstGeom prst="rect">
            <a:avLst/>
          </a:prstGeom>
          <a:noFill/>
          <a:ln/>
        </p:spPr>
        <p:txBody>
          <a:bodyPr wrap="square" lIns="0" tIns="0" rIns="0" bIns="0" rtlCol="0" anchor="t"/>
          <a:lstStyle/>
          <a:p>
            <a:pPr algn="l" indent="0" marL="0">
              <a:buNone/>
            </a:pPr>
            <a:r>
              <a:rPr lang="en-US" sz="3000" b="1" dirty="0">
                <a:solidFill>
                  <a:schemeClr val="tx2"/>
                </a:solidFill>
              </a:rPr>
              <a:t>22.8 million scraped reviews, cleaned and split</a:t>
            </a:r>
            <a:endParaRPr lang="en-US" sz="3000" dirty="0"/>
          </a:p>
        </p:txBody>
      </p:sp>
      <p:sp>
        <p:nvSpPr>
          <p:cNvPr id="4" name="Text 0"/>
          <p:cNvSpPr/>
          <p:nvPr>
            <p:ph idx="103" type="body" hasCustomPrompt="1"/>
          </p:nvPr>
        </p:nvSpPr>
        <p:spPr>
          <a:xfrm>
            <a:off x="548640" y="6355080"/>
            <a:ext cx="10515600" cy="310896"/>
          </a:xfrm>
          <a:prstGeom prst="rect">
            <a:avLst/>
          </a:prstGeom>
          <a:noFill/>
          <a:ln/>
        </p:spPr>
        <p:txBody>
          <a:bodyPr wrap="square" lIns="0" tIns="0" rIns="0" bIns="0" rtlCol="0"/>
          <a:lstStyle/>
          <a:p>
            <a:pPr indent="0" marL="0">
              <a:buNone/>
            </a:pPr>
            <a:r>
              <a:rPr lang="en-US" sz="1100" i="1" dirty="0">
                <a:solidFill>
                  <a:schemeClr val="accent6"/>
                </a:solidFill>
              </a:rPr>
              <a:t>Official IMDb splits from Maas et al. 2011; Kaggle IMDb review dataset (Biswas); Amazon Reviews 2023, Movies &amp; TV</a:t>
            </a:r>
            <a:endParaRPr lang="en-US" sz="1100" dirty="0"/>
          </a:p>
        </p:txBody>
      </p:sp>
      <p:sp>
        <p:nvSpPr>
          <p:cNvPr id="5" name="1. Sources"/>
          <p:cNvSpPr/>
          <p:nvPr/>
        </p:nvSpPr>
        <p:spPr>
          <a:xfrm>
            <a:off x="548640" y="1783080"/>
            <a:ext cx="3383280" cy="4251960"/>
          </a:xfrm>
          <a:prstGeom prst="roundRect">
            <a:avLst>
              <a:gd name="adj" fmla="val 2162"/>
            </a:avLst>
          </a:prstGeom>
          <a:solidFill>
            <a:schemeClr val="bg2"/>
          </a:solidFill>
          <a:ln/>
          <a:effectLst>
            <a:outerShdw sx="100000" sy="100000" kx="0" ky="0" algn="bl" rotWithShape="0" blurRad="76200" dist="25400" dir="5400000">
              <a:srgbClr val="9C8189">
                <a:alpha val="16000"/>
              </a:srgbClr>
            </a:outerShdw>
          </a:effectLst>
        </p:spPr>
      </p:sp>
      <p:sp>
        <p:nvSpPr>
          <p:cNvPr id="6" name="Shape 4"/>
          <p:cNvSpPr/>
          <p:nvPr/>
        </p:nvSpPr>
        <p:spPr>
          <a:xfrm>
            <a:off x="822960" y="2011680"/>
            <a:ext cx="594360" cy="594360"/>
          </a:xfrm>
          <a:prstGeom prst="ellipse">
            <a:avLst/>
          </a:prstGeom>
          <a:solidFill>
            <a:schemeClr val="accent2"/>
          </a:solidFill>
          <a:ln/>
        </p:spPr>
      </p:sp>
      <p:pic>
        <p:nvPicPr>
          <p:cNvPr id="7" name="Image 0" descr="preencoded.png">    </p:cNvPr>
          <p:cNvPicPr>
            <a:picLocks noChangeAspect="1"/>
          </p:cNvPicPr>
          <p:nvPr/>
        </p:nvPicPr>
        <p:blipFill>
          <a:blip r:embed="rId1"/>
          <a:stretch>
            <a:fillRect/>
          </a:stretch>
        </p:blipFill>
        <p:spPr>
          <a:xfrm>
            <a:off x="971550" y="2160270"/>
            <a:ext cx="297180" cy="297180"/>
          </a:xfrm>
          <a:prstGeom prst="rect">
            <a:avLst/>
          </a:prstGeom>
        </p:spPr>
      </p:pic>
      <p:sp>
        <p:nvSpPr>
          <p:cNvPr id="8" name="Text 5"/>
          <p:cNvSpPr txBox="1"/>
          <p:nvPr/>
        </p:nvSpPr>
        <p:spPr>
          <a:xfrm>
            <a:off x="1554480" y="2103120"/>
            <a:ext cx="2194560" cy="411480"/>
          </a:xfrm>
          <a:prstGeom prst="rect">
            <a:avLst/>
          </a:prstGeom>
          <a:noFill/>
          <a:ln/>
        </p:spPr>
        <p:txBody>
          <a:bodyPr wrap="square" lIns="0" tIns="0" rIns="0" bIns="0" rtlCol="0" anchor="ctr"/>
          <a:lstStyle/>
          <a:p>
            <a:pPr indent="0" marL="0">
              <a:buNone/>
            </a:pPr>
            <a:r>
              <a:rPr lang="en-US" sz="1900" b="1" dirty="0">
                <a:solidFill>
                  <a:schemeClr val="accent2"/>
                </a:solidFill>
              </a:rPr>
              <a:t>1. Sources</a:t>
            </a:r>
            <a:endParaRPr lang="en-US" sz="1900" dirty="0"/>
          </a:p>
        </p:txBody>
      </p:sp>
      <p:sp>
        <p:nvSpPr>
          <p:cNvPr id="9" name="Text 6"/>
          <p:cNvSpPr txBox="1"/>
          <p:nvPr/>
        </p:nvSpPr>
        <p:spPr>
          <a:xfrm>
            <a:off x="868680" y="2834640"/>
            <a:ext cx="2880360" cy="3063240"/>
          </a:xfrm>
          <a:prstGeom prst="rect">
            <a:avLst/>
          </a:prstGeom>
          <a:noFill/>
          <a:ln/>
        </p:spPr>
        <p:txBody>
          <a:bodyPr wrap="square" lIns="0" tIns="0" rIns="0" bIns="0" rtlCol="0" anchor="t"/>
          <a:lstStyle/>
          <a:p>
            <a:pPr marL="228600" indent="-228600">
              <a:spcAft>
                <a:spcPts val="700"/>
              </a:spcAft>
              <a:buSzPct val="100000"/>
              <a:buChar char="•"/>
            </a:pPr>
            <a:r>
              <a:rPr lang="en-US" sz="1500" dirty="0">
                <a:solidFill>
                  <a:schemeClr val="tx1"/>
                </a:solidFill>
              </a:rPr>
              <a:t>Official IMDb: 50,000 reviews</a:t>
            </a:r>
            <a:endParaRPr lang="en-US" sz="1500" dirty="0"/>
          </a:p>
          <a:p>
            <a:pPr marL="228600" indent="-228600">
              <a:spcAft>
                <a:spcPts val="700"/>
              </a:spcAft>
              <a:buSzPct val="100000"/>
              <a:buChar char="•"/>
            </a:pPr>
            <a:r>
              <a:rPr lang="en-US" sz="1500" dirty="0">
                <a:solidFill>
                  <a:schemeClr val="tx1"/>
                </a:solidFill>
              </a:rPr>
              <a:t>Scraped IMDb (Kaggle): 5.5M</a:t>
            </a:r>
            <a:endParaRPr lang="en-US" sz="1500" dirty="0"/>
          </a:p>
          <a:p>
            <a:pPr marL="228600" indent="-228600">
              <a:spcAft>
                <a:spcPts val="700"/>
              </a:spcAft>
              <a:buSzPct val="100000"/>
              <a:buChar char="•"/>
            </a:pPr>
            <a:r>
              <a:rPr lang="en-US" sz="1500" dirty="0">
                <a:solidFill>
                  <a:schemeClr val="tx1"/>
                </a:solidFill>
              </a:rPr>
              <a:t>Amazon Movies &amp; TV: 17.3M</a:t>
            </a:r>
            <a:endParaRPr lang="en-US" sz="1500" dirty="0"/>
          </a:p>
        </p:txBody>
      </p:sp>
      <p:sp>
        <p:nvSpPr>
          <p:cNvPr id="10" name="Shape 7"/>
          <p:cNvSpPr/>
          <p:nvPr/>
        </p:nvSpPr>
        <p:spPr>
          <a:xfrm>
            <a:off x="3977640" y="3904488"/>
            <a:ext cx="365760" cy="0"/>
          </a:xfrm>
          <a:prstGeom prst="line">
            <a:avLst/>
          </a:prstGeom>
          <a:noFill/>
          <a:ln w="25400">
            <a:solidFill>
              <a:srgbClr val="3A2E31"/>
            </a:solidFill>
            <a:prstDash val="solid"/>
            <a:tailEnd type="triangle"/>
          </a:ln>
        </p:spPr>
      </p:sp>
      <p:sp>
        <p:nvSpPr>
          <p:cNvPr id="11" name="2. Label and clean"/>
          <p:cNvSpPr/>
          <p:nvPr/>
        </p:nvSpPr>
        <p:spPr>
          <a:xfrm>
            <a:off x="4389120" y="1783080"/>
            <a:ext cx="3383280" cy="4251960"/>
          </a:xfrm>
          <a:prstGeom prst="roundRect">
            <a:avLst>
              <a:gd name="adj" fmla="val 2162"/>
            </a:avLst>
          </a:prstGeom>
          <a:solidFill>
            <a:schemeClr val="bg2"/>
          </a:solidFill>
          <a:ln/>
          <a:effectLst>
            <a:outerShdw sx="100000" sy="100000" kx="0" ky="0" algn="bl" rotWithShape="0" blurRad="76200" dist="25400" dir="5400000">
              <a:srgbClr val="9C8189">
                <a:alpha val="16000"/>
              </a:srgbClr>
            </a:outerShdw>
          </a:effectLst>
        </p:spPr>
      </p:sp>
      <p:sp>
        <p:nvSpPr>
          <p:cNvPr id="12" name="Shape 9"/>
          <p:cNvSpPr/>
          <p:nvPr/>
        </p:nvSpPr>
        <p:spPr>
          <a:xfrm>
            <a:off x="4663440" y="2011680"/>
            <a:ext cx="594360" cy="594360"/>
          </a:xfrm>
          <a:prstGeom prst="ellipse">
            <a:avLst/>
          </a:prstGeom>
          <a:solidFill>
            <a:schemeClr val="accent1"/>
          </a:solidFill>
          <a:ln/>
        </p:spPr>
      </p:sp>
      <p:pic>
        <p:nvPicPr>
          <p:cNvPr id="13" name="Image 1" descr="preencoded.png">    </p:cNvPr>
          <p:cNvPicPr>
            <a:picLocks noChangeAspect="1"/>
          </p:cNvPicPr>
          <p:nvPr/>
        </p:nvPicPr>
        <p:blipFill>
          <a:blip r:embed="rId2"/>
          <a:stretch>
            <a:fillRect/>
          </a:stretch>
        </p:blipFill>
        <p:spPr>
          <a:xfrm>
            <a:off x="4812030" y="2160270"/>
            <a:ext cx="297180" cy="297180"/>
          </a:xfrm>
          <a:prstGeom prst="rect">
            <a:avLst/>
          </a:prstGeom>
        </p:spPr>
      </p:pic>
      <p:sp>
        <p:nvSpPr>
          <p:cNvPr id="14" name="Text 10"/>
          <p:cNvSpPr txBox="1"/>
          <p:nvPr/>
        </p:nvSpPr>
        <p:spPr>
          <a:xfrm>
            <a:off x="5394960" y="2103120"/>
            <a:ext cx="2194560" cy="411480"/>
          </a:xfrm>
          <a:prstGeom prst="rect">
            <a:avLst/>
          </a:prstGeom>
          <a:noFill/>
          <a:ln/>
        </p:spPr>
        <p:txBody>
          <a:bodyPr wrap="square" lIns="0" tIns="0" rIns="0" bIns="0" rtlCol="0" anchor="ctr"/>
          <a:lstStyle/>
          <a:p>
            <a:pPr indent="0" marL="0">
              <a:buNone/>
            </a:pPr>
            <a:r>
              <a:rPr lang="en-US" sz="1900" b="1" dirty="0">
                <a:solidFill>
                  <a:schemeClr val="accent1"/>
                </a:solidFill>
              </a:rPr>
              <a:t>2. Label and clean</a:t>
            </a:r>
            <a:endParaRPr lang="en-US" sz="1900" dirty="0"/>
          </a:p>
        </p:txBody>
      </p:sp>
      <p:sp>
        <p:nvSpPr>
          <p:cNvPr id="15" name="Text 11"/>
          <p:cNvSpPr txBox="1"/>
          <p:nvPr/>
        </p:nvSpPr>
        <p:spPr>
          <a:xfrm>
            <a:off x="4709160" y="2834640"/>
            <a:ext cx="2880360" cy="3063240"/>
          </a:xfrm>
          <a:prstGeom prst="rect">
            <a:avLst/>
          </a:prstGeom>
          <a:noFill/>
          <a:ln/>
        </p:spPr>
        <p:txBody>
          <a:bodyPr wrap="square" lIns="0" tIns="0" rIns="0" bIns="0" rtlCol="0" anchor="t"/>
          <a:lstStyle/>
          <a:p>
            <a:pPr marL="228600" indent="-228600">
              <a:spcAft>
                <a:spcPts val="700"/>
              </a:spcAft>
              <a:buSzPct val="100000"/>
              <a:buChar char="•"/>
            </a:pPr>
            <a:r>
              <a:rPr lang="en-US" sz="1500" dirty="0">
                <a:solidFill>
                  <a:schemeClr val="tx1"/>
                </a:solidFill>
              </a:rPr>
              <a:t>IMDb: ≤ 4/10 negative, ≥ 7/10 positive</a:t>
            </a:r>
            <a:endParaRPr lang="en-US" sz="1500" dirty="0"/>
          </a:p>
          <a:p>
            <a:pPr marL="228600" indent="-228600">
              <a:spcAft>
                <a:spcPts val="700"/>
              </a:spcAft>
              <a:buSzPct val="100000"/>
              <a:buChar char="•"/>
            </a:pPr>
            <a:r>
              <a:rPr lang="en-US" sz="1500" dirty="0">
                <a:solidFill>
                  <a:schemeClr val="tx1"/>
                </a:solidFill>
              </a:rPr>
              <a:t>Amazon: 1–2★ vs 4–5★</a:t>
            </a:r>
            <a:endParaRPr lang="en-US" sz="1500" dirty="0"/>
          </a:p>
          <a:p>
            <a:pPr marL="228600" indent="-228600">
              <a:spcAft>
                <a:spcPts val="700"/>
              </a:spcAft>
              <a:buSzPct val="100000"/>
              <a:buChar char="•"/>
            </a:pPr>
            <a:r>
              <a:rPr lang="en-US" sz="1500" dirty="0">
                <a:solidFill>
                  <a:schemeClr val="tx1"/>
                </a:solidFill>
              </a:rPr>
              <a:t>Middle ratings dropped; duplicates removed</a:t>
            </a:r>
            <a:endParaRPr lang="en-US" sz="1500" dirty="0"/>
          </a:p>
          <a:p>
            <a:pPr marL="228600" indent="-228600">
              <a:spcAft>
                <a:spcPts val="700"/>
              </a:spcAft>
              <a:buSzPct val="100000"/>
              <a:buChar char="•"/>
            </a:pPr>
            <a:r>
              <a:rPr lang="en-US" sz="1500" dirty="0">
                <a:solidFill>
                  <a:schemeClr val="tx1"/>
                </a:solidFill>
              </a:rPr>
              <a:t>Left: 4.1M IMDb, 12.0M Amazon</a:t>
            </a:r>
            <a:endParaRPr lang="en-US" sz="1500" dirty="0"/>
          </a:p>
        </p:txBody>
      </p:sp>
      <p:sp>
        <p:nvSpPr>
          <p:cNvPr id="16" name="Shape 12"/>
          <p:cNvSpPr/>
          <p:nvPr/>
        </p:nvSpPr>
        <p:spPr>
          <a:xfrm>
            <a:off x="7818120" y="3904488"/>
            <a:ext cx="365760" cy="0"/>
          </a:xfrm>
          <a:prstGeom prst="line">
            <a:avLst/>
          </a:prstGeom>
          <a:noFill/>
          <a:ln w="25400">
            <a:solidFill>
              <a:srgbClr val="3A2E31"/>
            </a:solidFill>
            <a:prstDash val="solid"/>
            <a:tailEnd type="triangle"/>
          </a:ln>
        </p:spPr>
      </p:sp>
      <p:sp>
        <p:nvSpPr>
          <p:cNvPr id="17" name="3. Split"/>
          <p:cNvSpPr/>
          <p:nvPr/>
        </p:nvSpPr>
        <p:spPr>
          <a:xfrm>
            <a:off x="8229600" y="1783080"/>
            <a:ext cx="3383280" cy="4251960"/>
          </a:xfrm>
          <a:prstGeom prst="roundRect">
            <a:avLst>
              <a:gd name="adj" fmla="val 2162"/>
            </a:avLst>
          </a:prstGeom>
          <a:solidFill>
            <a:schemeClr val="bg2"/>
          </a:solidFill>
          <a:ln/>
          <a:effectLst>
            <a:outerShdw sx="100000" sy="100000" kx="0" ky="0" algn="bl" rotWithShape="0" blurRad="76200" dist="25400" dir="5400000">
              <a:srgbClr val="9C8189">
                <a:alpha val="16000"/>
              </a:srgbClr>
            </a:outerShdw>
          </a:effectLst>
        </p:spPr>
      </p:sp>
      <p:sp>
        <p:nvSpPr>
          <p:cNvPr id="18" name="Shape 14"/>
          <p:cNvSpPr/>
          <p:nvPr/>
        </p:nvSpPr>
        <p:spPr>
          <a:xfrm>
            <a:off x="8503920" y="2011680"/>
            <a:ext cx="594360" cy="594360"/>
          </a:xfrm>
          <a:prstGeom prst="ellipse">
            <a:avLst/>
          </a:prstGeom>
          <a:solidFill>
            <a:schemeClr val="accent3"/>
          </a:solidFill>
          <a:ln/>
        </p:spPr>
      </p:sp>
      <p:pic>
        <p:nvPicPr>
          <p:cNvPr id="19" name="Image 2" descr="preencoded.png">    </p:cNvPr>
          <p:cNvPicPr>
            <a:picLocks noChangeAspect="1"/>
          </p:cNvPicPr>
          <p:nvPr/>
        </p:nvPicPr>
        <p:blipFill>
          <a:blip r:embed="rId3"/>
          <a:stretch>
            <a:fillRect/>
          </a:stretch>
        </p:blipFill>
        <p:spPr>
          <a:xfrm>
            <a:off x="8652510" y="2160270"/>
            <a:ext cx="297180" cy="297180"/>
          </a:xfrm>
          <a:prstGeom prst="rect">
            <a:avLst/>
          </a:prstGeom>
        </p:spPr>
      </p:pic>
      <p:sp>
        <p:nvSpPr>
          <p:cNvPr id="20" name="Text 15"/>
          <p:cNvSpPr txBox="1"/>
          <p:nvPr/>
        </p:nvSpPr>
        <p:spPr>
          <a:xfrm>
            <a:off x="9235440" y="2103120"/>
            <a:ext cx="2194560" cy="411480"/>
          </a:xfrm>
          <a:prstGeom prst="rect">
            <a:avLst/>
          </a:prstGeom>
          <a:noFill/>
          <a:ln/>
        </p:spPr>
        <p:txBody>
          <a:bodyPr wrap="square" lIns="0" tIns="0" rIns="0" bIns="0" rtlCol="0" anchor="ctr"/>
          <a:lstStyle/>
          <a:p>
            <a:pPr indent="0" marL="0">
              <a:buNone/>
            </a:pPr>
            <a:r>
              <a:rPr lang="en-US" sz="1900" b="1" dirty="0">
                <a:solidFill>
                  <a:schemeClr val="accent3"/>
                </a:solidFill>
              </a:rPr>
              <a:t>3. Split</a:t>
            </a:r>
            <a:endParaRPr lang="en-US" sz="1900" dirty="0"/>
          </a:p>
        </p:txBody>
      </p:sp>
      <p:sp>
        <p:nvSpPr>
          <p:cNvPr id="21" name="Text 16"/>
          <p:cNvSpPr txBox="1"/>
          <p:nvPr/>
        </p:nvSpPr>
        <p:spPr>
          <a:xfrm>
            <a:off x="8549640" y="2834640"/>
            <a:ext cx="2880360" cy="3063240"/>
          </a:xfrm>
          <a:prstGeom prst="rect">
            <a:avLst/>
          </a:prstGeom>
          <a:noFill/>
          <a:ln/>
        </p:spPr>
        <p:txBody>
          <a:bodyPr wrap="square" lIns="0" tIns="0" rIns="0" bIns="0" rtlCol="0" anchor="t"/>
          <a:lstStyle/>
          <a:p>
            <a:pPr marL="228600" indent="-228600">
              <a:spcAft>
                <a:spcPts val="700"/>
              </a:spcAft>
              <a:buSzPct val="100000"/>
              <a:buChar char="•"/>
            </a:pPr>
            <a:r>
              <a:rPr lang="en-US" sz="1500" dirty="0">
                <a:solidFill>
                  <a:schemeClr val="tx1"/>
                </a:solidFill>
              </a:rPr>
              <a:t>Test: official 25,000 (never changed)</a:t>
            </a:r>
            <a:endParaRPr lang="en-US" sz="1500" dirty="0"/>
          </a:p>
          <a:p>
            <a:pPr marL="228600" indent="-228600">
              <a:spcAft>
                <a:spcPts val="700"/>
              </a:spcAft>
              <a:buSzPct val="100000"/>
              <a:buChar char="•"/>
            </a:pPr>
            <a:r>
              <a:rPr lang="en-US" sz="1500" dirty="0">
                <a:solidFill>
                  <a:schemeClr val="tx1"/>
                </a:solidFill>
              </a:rPr>
              <a:t>Train 20,000 / validation 5,000</a:t>
            </a:r>
            <a:endParaRPr lang="en-US" sz="1500" dirty="0"/>
          </a:p>
          <a:p>
            <a:pPr marL="228600" indent="-228600">
              <a:spcAft>
                <a:spcPts val="700"/>
              </a:spcAft>
              <a:buSzPct val="100000"/>
              <a:buChar char="•"/>
            </a:pPr>
            <a:r>
              <a:rPr lang="en-US" sz="1500" dirty="0">
                <a:solidFill>
                  <a:schemeClr val="tx1"/>
                </a:solidFill>
              </a:rPr>
              <a:t>Pool training slice: 1,532,574</a:t>
            </a:r>
            <a:endParaRPr lang="en-US" sz="1500" dirty="0"/>
          </a:p>
          <a:p>
            <a:pPr marL="228600" indent="-228600">
              <a:spcAft>
                <a:spcPts val="700"/>
              </a:spcAft>
              <a:buSzPct val="100000"/>
              <a:buChar char="•"/>
            </a:pPr>
            <a:r>
              <a:rPr lang="en-US" sz="1500" dirty="0">
                <a:solidFill>
                  <a:schemeClr val="tx1"/>
                </a:solidFill>
              </a:rPr>
              <a:t>Deferral slice: 300,000 (held out)</a:t>
            </a:r>
            <a:endParaRPr lang="en-US" sz="1500" dirty="0"/>
          </a:p>
          <a:p>
            <a:pPr marL="228600" indent="-228600">
              <a:spcAft>
                <a:spcPts val="700"/>
              </a:spcAft>
              <a:buSzPct val="100000"/>
              <a:buChar char="•"/>
            </a:pPr>
            <a:r>
              <a:rPr lang="en-US" sz="1500" dirty="0">
                <a:solidFill>
                  <a:schemeClr val="tx1"/>
                </a:solidFill>
              </a:rPr>
              <a:t>val_pool: 50,000 unseen movies</a:t>
            </a:r>
            <a:endParaRPr lang="en-US" sz="1500" dirty="0"/>
          </a:p>
        </p:txBody>
      </p:sp>
      <p:sp>
        <p:nvSpPr>
          <p:cNvPr id="25" name="Slide Number Placeholder 0"/>
          <p:cNvSpPr>
            <a:spLocks noGrp="1"/>
          </p:cNvSpPr>
          <p:nvPr>
            <p:ph type="sldNum" sz="quarter" idx="4294967295"/>
          </p:nvPr>
        </p:nvSpPr>
        <p:spPr>
          <a:xfrm>
            <a:off x="11274552" y="347472"/>
            <a:ext cx="384048" cy="384048"/>
          </a:xfrm>
          <a:prstGeom prst="rect">
            <a:avLst/>
          </a:prstGeom>
          <a:extLst>
            <a:ext uri="{C572A759-6A51-4108-AA02-DFA0A04FC94B}">
              <ma14:wrappingTextBoxFlag xmlns:ma14="http://schemas.microsoft.com/office/mac/drawingml/2011/main" val="0"/>
            </a:ext>
          </a:extLst>
        </p:spPr>
        <p:txBody>
          <a:bodyPr anchor="ctr"/>
          <a:lstStyle>
            <a:lvl1pPr>
              <a:defRPr sz="1200">
                <a:solidFill>
                  <a:srgbClr val="3A2E31"/>
                </a:solidFill>
              </a:defRPr>
            </a:lvl1pPr>
          </a:lstStyle>
          <a:p>
            <a:pPr algn="ct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1" type="body" hasCustomPrompt="1"/>
          </p:nvPr>
        </p:nvSpPr>
        <p:spPr>
          <a:xfrm>
            <a:off x="548640" y="365760"/>
            <a:ext cx="9601200" cy="292608"/>
          </a:xfrm>
          <a:prstGeom prst="rect">
            <a:avLst/>
          </a:prstGeom>
          <a:noFill/>
          <a:ln/>
        </p:spPr>
        <p:txBody>
          <a:bodyPr wrap="square" lIns="0" tIns="0" rIns="0" bIns="0" rtlCol="0"/>
          <a:lstStyle/>
          <a:p>
            <a:pPr indent="0" marL="0">
              <a:buNone/>
            </a:pPr>
            <a:r>
              <a:rPr lang="en-US" sz="1200" b="1" spc="200" kern="0" dirty="0">
                <a:solidFill>
                  <a:schemeClr val="accent6"/>
                </a:solidFill>
              </a:rPr>
              <a:t>DATA WITHOUT LEAKAGE  ·  ADITYA ACHAR</a:t>
            </a:r>
            <a:endParaRPr lang="en-US" sz="1200" dirty="0"/>
          </a:p>
        </p:txBody>
      </p:sp>
      <p:sp>
        <p:nvSpPr>
          <p:cNvPr id="3" name="Text 0"/>
          <p:cNvSpPr/>
          <p:nvPr>
            <p:ph idx="102" type="title" hasCustomPrompt="1"/>
          </p:nvPr>
        </p:nvSpPr>
        <p:spPr>
          <a:xfrm>
            <a:off x="548640" y="676656"/>
            <a:ext cx="10424160" cy="822960"/>
          </a:xfrm>
          <a:prstGeom prst="rect">
            <a:avLst/>
          </a:prstGeom>
          <a:noFill/>
          <a:ln/>
        </p:spPr>
        <p:txBody>
          <a:bodyPr wrap="square" lIns="0" tIns="0" rIns="0" bIns="0" rtlCol="0" anchor="t"/>
          <a:lstStyle/>
          <a:p>
            <a:pPr algn="l" indent="0" marL="0">
              <a:buNone/>
            </a:pPr>
            <a:r>
              <a:rPr lang="en-US" sz="3000" b="1" dirty="0">
                <a:solidFill>
                  <a:schemeClr val="tx2"/>
                </a:solidFill>
              </a:rPr>
              <a:t>We removed every way test reviews could leak into training</a:t>
            </a:r>
            <a:endParaRPr lang="en-US" sz="3000" dirty="0"/>
          </a:p>
        </p:txBody>
      </p:sp>
      <p:sp>
        <p:nvSpPr>
          <p:cNvPr id="4" name="Text 0"/>
          <p:cNvSpPr/>
          <p:nvPr>
            <p:ph idx="103" type="body" hasCustomPrompt="1"/>
          </p:nvPr>
        </p:nvSpPr>
        <p:spPr>
          <a:xfrm>
            <a:off x="548640" y="6355080"/>
            <a:ext cx="10515600" cy="310896"/>
          </a:xfrm>
          <a:prstGeom prst="rect">
            <a:avLst/>
          </a:prstGeom>
          <a:noFill/>
          <a:ln/>
        </p:spPr>
        <p:txBody>
          <a:bodyPr wrap="square" lIns="0" tIns="0" rIns="0" bIns="0" rtlCol="0"/>
          <a:lstStyle/>
          <a:p>
            <a:pPr indent="0" marL="0">
              <a:buNone/>
            </a:pPr>
            <a:r>
              <a:rPr lang="en-US" sz="1100" i="1" dirty="0">
                <a:solidFill>
                  <a:schemeClr val="accent6"/>
                </a:solidFill>
              </a:rPr>
              <a:t>Official IMDb test set (25,000 reviews) is scored once; every threshold is chosen on validation data</a:t>
            </a:r>
            <a:endParaRPr lang="en-US" sz="1100" dirty="0"/>
          </a:p>
        </p:txBody>
      </p:sp>
      <p:sp>
        <p:nvSpPr>
          <p:cNvPr id="5" name="stat 4.1M"/>
          <p:cNvSpPr/>
          <p:nvPr/>
        </p:nvSpPr>
        <p:spPr>
          <a:xfrm>
            <a:off x="548640" y="1783080"/>
            <a:ext cx="2606040" cy="4206240"/>
          </a:xfrm>
          <a:prstGeom prst="roundRect">
            <a:avLst>
              <a:gd name="adj" fmla="val 2807"/>
            </a:avLst>
          </a:prstGeom>
          <a:solidFill>
            <a:schemeClr val="bg2"/>
          </a:solidFill>
          <a:ln/>
          <a:effectLst>
            <a:outerShdw sx="100000" sy="100000" kx="0" ky="0" algn="bl" rotWithShape="0" blurRad="76200" dist="25400" dir="5400000">
              <a:srgbClr val="9C8189">
                <a:alpha val="16000"/>
              </a:srgbClr>
            </a:outerShdw>
          </a:effectLst>
        </p:spPr>
      </p:sp>
      <p:sp>
        <p:nvSpPr>
          <p:cNvPr id="6" name="Shape 4"/>
          <p:cNvSpPr/>
          <p:nvPr/>
        </p:nvSpPr>
        <p:spPr>
          <a:xfrm>
            <a:off x="822960" y="2057400"/>
            <a:ext cx="640080" cy="640080"/>
          </a:xfrm>
          <a:prstGeom prst="ellipse">
            <a:avLst/>
          </a:prstGeom>
          <a:solidFill>
            <a:schemeClr val="accent2"/>
          </a:solidFill>
          <a:ln/>
        </p:spPr>
      </p:sp>
      <p:pic>
        <p:nvPicPr>
          <p:cNvPr id="7" name="Image 0" descr="preencoded.png">    </p:cNvPr>
          <p:cNvPicPr>
            <a:picLocks noChangeAspect="1"/>
          </p:cNvPicPr>
          <p:nvPr/>
        </p:nvPicPr>
        <p:blipFill>
          <a:blip r:embed="rId1"/>
          <a:stretch>
            <a:fillRect/>
          </a:stretch>
        </p:blipFill>
        <p:spPr>
          <a:xfrm>
            <a:off x="982980" y="2217420"/>
            <a:ext cx="320040" cy="320040"/>
          </a:xfrm>
          <a:prstGeom prst="rect">
            <a:avLst/>
          </a:prstGeom>
        </p:spPr>
      </p:pic>
      <p:sp>
        <p:nvSpPr>
          <p:cNvPr id="8" name="Text 5"/>
          <p:cNvSpPr txBox="1"/>
          <p:nvPr/>
        </p:nvSpPr>
        <p:spPr>
          <a:xfrm>
            <a:off x="822960" y="2788920"/>
            <a:ext cx="2057400" cy="822960"/>
          </a:xfrm>
          <a:prstGeom prst="rect">
            <a:avLst/>
          </a:prstGeom>
          <a:noFill/>
          <a:ln/>
        </p:spPr>
        <p:txBody>
          <a:bodyPr wrap="square" lIns="0" tIns="0" rIns="0" bIns="0" rtlCol="0" anchor="ctr"/>
          <a:lstStyle/>
          <a:p>
            <a:pPr indent="0" marL="0">
              <a:buNone/>
            </a:pPr>
            <a:r>
              <a:rPr lang="en-US" sz="4000" b="1" dirty="0">
                <a:solidFill>
                  <a:schemeClr val="accent2"/>
                </a:solidFill>
                <a:latin typeface="Cambria" pitchFamily="34" charset="0"/>
                <a:ea typeface="Cambria" pitchFamily="34" charset="-122"/>
                <a:cs typeface="Cambria" pitchFamily="34" charset="-120"/>
              </a:rPr>
              <a:t>4.1M</a:t>
            </a:r>
            <a:endParaRPr lang="en-US" sz="4000" dirty="0"/>
          </a:p>
        </p:txBody>
      </p:sp>
      <p:sp>
        <p:nvSpPr>
          <p:cNvPr id="9" name="Text 6"/>
          <p:cNvSpPr txBox="1"/>
          <p:nvPr/>
        </p:nvSpPr>
        <p:spPr>
          <a:xfrm>
            <a:off x="822960" y="3657600"/>
            <a:ext cx="2057400" cy="685800"/>
          </a:xfrm>
          <a:prstGeom prst="rect">
            <a:avLst/>
          </a:prstGeom>
          <a:noFill/>
          <a:ln/>
        </p:spPr>
        <p:txBody>
          <a:bodyPr wrap="square" lIns="0" tIns="0" rIns="0" bIns="0" rtlCol="0" anchor="t"/>
          <a:lstStyle/>
          <a:p>
            <a:pPr indent="0" marL="0">
              <a:buNone/>
            </a:pPr>
            <a:r>
              <a:rPr lang="en-US" sz="1600" b="1" dirty="0">
                <a:solidFill>
                  <a:schemeClr val="tx2"/>
                </a:solidFill>
              </a:rPr>
              <a:t>clean IMDb reviews in the extra pool</a:t>
            </a:r>
            <a:endParaRPr lang="en-US" sz="1600" dirty="0"/>
          </a:p>
        </p:txBody>
      </p:sp>
      <p:sp>
        <p:nvSpPr>
          <p:cNvPr id="10" name="Text 7"/>
          <p:cNvSpPr txBox="1"/>
          <p:nvPr/>
        </p:nvSpPr>
        <p:spPr>
          <a:xfrm>
            <a:off x="822960" y="5303520"/>
            <a:ext cx="2057400" cy="502920"/>
          </a:xfrm>
          <a:prstGeom prst="rect">
            <a:avLst/>
          </a:prstGeom>
          <a:noFill/>
          <a:ln/>
        </p:spPr>
        <p:txBody>
          <a:bodyPr wrap="square" lIns="0" tIns="0" rIns="0" bIns="0" rtlCol="0" anchor="b"/>
          <a:lstStyle/>
          <a:p>
            <a:pPr indent="0" marL="0">
              <a:buNone/>
            </a:pPr>
            <a:r>
              <a:rPr lang="en-US" sz="1200" dirty="0">
                <a:solidFill>
                  <a:schemeClr val="accent6"/>
                </a:solidFill>
              </a:rPr>
              <a:t>from 5.5M scraped (plus 12.0M Amazon)</a:t>
            </a:r>
            <a:endParaRPr lang="en-US" sz="1200" dirty="0"/>
          </a:p>
        </p:txBody>
      </p:sp>
      <p:sp>
        <p:nvSpPr>
          <p:cNvPr id="11" name="stat 23,818"/>
          <p:cNvSpPr/>
          <p:nvPr/>
        </p:nvSpPr>
        <p:spPr>
          <a:xfrm>
            <a:off x="3360420" y="1783080"/>
            <a:ext cx="2606040" cy="4206240"/>
          </a:xfrm>
          <a:prstGeom prst="roundRect">
            <a:avLst>
              <a:gd name="adj" fmla="val 2807"/>
            </a:avLst>
          </a:prstGeom>
          <a:solidFill>
            <a:schemeClr val="bg2"/>
          </a:solidFill>
          <a:ln/>
          <a:effectLst>
            <a:outerShdw sx="100000" sy="100000" kx="0" ky="0" algn="bl" rotWithShape="0" blurRad="76200" dist="25400" dir="5400000">
              <a:srgbClr val="9C8189">
                <a:alpha val="16000"/>
              </a:srgbClr>
            </a:outerShdw>
          </a:effectLst>
        </p:spPr>
      </p:sp>
      <p:sp>
        <p:nvSpPr>
          <p:cNvPr id="12" name="Shape 9"/>
          <p:cNvSpPr/>
          <p:nvPr/>
        </p:nvSpPr>
        <p:spPr>
          <a:xfrm>
            <a:off x="3634740" y="2057400"/>
            <a:ext cx="640080" cy="640080"/>
          </a:xfrm>
          <a:prstGeom prst="ellipse">
            <a:avLst/>
          </a:prstGeom>
          <a:solidFill>
            <a:schemeClr val="accent2"/>
          </a:solidFill>
          <a:ln/>
        </p:spPr>
      </p:sp>
      <p:pic>
        <p:nvPicPr>
          <p:cNvPr id="13" name="Image 1" descr="preencoded.png">    </p:cNvPr>
          <p:cNvPicPr>
            <a:picLocks noChangeAspect="1"/>
          </p:cNvPicPr>
          <p:nvPr/>
        </p:nvPicPr>
        <p:blipFill>
          <a:blip r:embed="rId2"/>
          <a:stretch>
            <a:fillRect/>
          </a:stretch>
        </p:blipFill>
        <p:spPr>
          <a:xfrm>
            <a:off x="3794760" y="2217420"/>
            <a:ext cx="320040" cy="320040"/>
          </a:xfrm>
          <a:prstGeom prst="rect">
            <a:avLst/>
          </a:prstGeom>
        </p:spPr>
      </p:pic>
      <p:sp>
        <p:nvSpPr>
          <p:cNvPr id="14" name="Text 10"/>
          <p:cNvSpPr txBox="1"/>
          <p:nvPr/>
        </p:nvSpPr>
        <p:spPr>
          <a:xfrm>
            <a:off x="3634740" y="2788920"/>
            <a:ext cx="2057400" cy="822960"/>
          </a:xfrm>
          <a:prstGeom prst="rect">
            <a:avLst/>
          </a:prstGeom>
          <a:noFill/>
          <a:ln/>
        </p:spPr>
        <p:txBody>
          <a:bodyPr wrap="square" lIns="0" tIns="0" rIns="0" bIns="0" rtlCol="0" anchor="ctr"/>
          <a:lstStyle/>
          <a:p>
            <a:pPr indent="0" marL="0">
              <a:buNone/>
            </a:pPr>
            <a:r>
              <a:rPr lang="en-US" sz="4000" b="1" dirty="0">
                <a:solidFill>
                  <a:schemeClr val="accent2"/>
                </a:solidFill>
                <a:latin typeface="Cambria" pitchFamily="34" charset="0"/>
                <a:ea typeface="Cambria" pitchFamily="34" charset="-122"/>
                <a:cs typeface="Cambria" pitchFamily="34" charset="-120"/>
              </a:rPr>
              <a:t>23,818</a:t>
            </a:r>
            <a:endParaRPr lang="en-US" sz="4000" dirty="0"/>
          </a:p>
        </p:txBody>
      </p:sp>
      <p:sp>
        <p:nvSpPr>
          <p:cNvPr id="15" name="Text 11"/>
          <p:cNvSpPr txBox="1"/>
          <p:nvPr/>
        </p:nvSpPr>
        <p:spPr>
          <a:xfrm>
            <a:off x="3634740" y="3657600"/>
            <a:ext cx="2057400" cy="685800"/>
          </a:xfrm>
          <a:prstGeom prst="rect">
            <a:avLst/>
          </a:prstGeom>
          <a:noFill/>
          <a:ln/>
        </p:spPr>
        <p:txBody>
          <a:bodyPr wrap="square" lIns="0" tIns="0" rIns="0" bIns="0" rtlCol="0" anchor="t"/>
          <a:lstStyle/>
          <a:p>
            <a:pPr indent="0" marL="0">
              <a:buNone/>
            </a:pPr>
            <a:r>
              <a:rPr lang="en-US" sz="1600" b="1" dirty="0">
                <a:solidFill>
                  <a:schemeClr val="tx2"/>
                </a:solidFill>
              </a:rPr>
              <a:t>copies of test or validation reviews removed</a:t>
            </a:r>
            <a:endParaRPr lang="en-US" sz="1600" dirty="0"/>
          </a:p>
        </p:txBody>
      </p:sp>
      <p:sp>
        <p:nvSpPr>
          <p:cNvPr id="16" name="Text 12"/>
          <p:cNvSpPr txBox="1"/>
          <p:nvPr/>
        </p:nvSpPr>
        <p:spPr>
          <a:xfrm>
            <a:off x="3634740" y="5303520"/>
            <a:ext cx="2057400" cy="502920"/>
          </a:xfrm>
          <a:prstGeom prst="rect">
            <a:avLst/>
          </a:prstGeom>
          <a:noFill/>
          <a:ln/>
        </p:spPr>
        <p:txBody>
          <a:bodyPr wrap="square" lIns="0" tIns="0" rIns="0" bIns="0" rtlCol="0" anchor="b"/>
          <a:lstStyle/>
          <a:p>
            <a:pPr indent="0" marL="0">
              <a:buNone/>
            </a:pPr>
            <a:r>
              <a:rPr lang="en-US" sz="1200" dirty="0">
                <a:solidFill>
                  <a:schemeClr val="accent6"/>
                </a:solidFill>
              </a:rPr>
              <a:t>exact matches after normalising text</a:t>
            </a:r>
            <a:endParaRPr lang="en-US" sz="1200" dirty="0"/>
          </a:p>
        </p:txBody>
      </p:sp>
      <p:sp>
        <p:nvSpPr>
          <p:cNvPr id="17" name="stat 635,853"/>
          <p:cNvSpPr/>
          <p:nvPr/>
        </p:nvSpPr>
        <p:spPr>
          <a:xfrm>
            <a:off x="6172200" y="1783080"/>
            <a:ext cx="2606040" cy="4206240"/>
          </a:xfrm>
          <a:prstGeom prst="roundRect">
            <a:avLst>
              <a:gd name="adj" fmla="val 2807"/>
            </a:avLst>
          </a:prstGeom>
          <a:solidFill>
            <a:schemeClr val="bg2"/>
          </a:solidFill>
          <a:ln/>
          <a:effectLst>
            <a:outerShdw sx="100000" sy="100000" kx="0" ky="0" algn="bl" rotWithShape="0" blurRad="76200" dist="25400" dir="5400000">
              <a:srgbClr val="9C8189">
                <a:alpha val="16000"/>
              </a:srgbClr>
            </a:outerShdw>
          </a:effectLst>
        </p:spPr>
      </p:sp>
      <p:sp>
        <p:nvSpPr>
          <p:cNvPr id="18" name="Shape 14"/>
          <p:cNvSpPr/>
          <p:nvPr/>
        </p:nvSpPr>
        <p:spPr>
          <a:xfrm>
            <a:off x="6446520" y="2057400"/>
            <a:ext cx="640080" cy="640080"/>
          </a:xfrm>
          <a:prstGeom prst="ellipse">
            <a:avLst/>
          </a:prstGeom>
          <a:solidFill>
            <a:schemeClr val="accent2"/>
          </a:solidFill>
          <a:ln/>
        </p:spPr>
      </p:sp>
      <p:pic>
        <p:nvPicPr>
          <p:cNvPr id="19" name="Image 2" descr="preencoded.png">    </p:cNvPr>
          <p:cNvPicPr>
            <a:picLocks noChangeAspect="1"/>
          </p:cNvPicPr>
          <p:nvPr/>
        </p:nvPicPr>
        <p:blipFill>
          <a:blip r:embed="rId3"/>
          <a:stretch>
            <a:fillRect/>
          </a:stretch>
        </p:blipFill>
        <p:spPr>
          <a:xfrm>
            <a:off x="6606540" y="2217420"/>
            <a:ext cx="320040" cy="320040"/>
          </a:xfrm>
          <a:prstGeom prst="rect">
            <a:avLst/>
          </a:prstGeom>
        </p:spPr>
      </p:pic>
      <p:sp>
        <p:nvSpPr>
          <p:cNvPr id="20" name="Text 15"/>
          <p:cNvSpPr txBox="1"/>
          <p:nvPr/>
        </p:nvSpPr>
        <p:spPr>
          <a:xfrm>
            <a:off x="6446520" y="2788920"/>
            <a:ext cx="2057400" cy="822960"/>
          </a:xfrm>
          <a:prstGeom prst="rect">
            <a:avLst/>
          </a:prstGeom>
          <a:noFill/>
          <a:ln/>
        </p:spPr>
        <p:txBody>
          <a:bodyPr wrap="square" lIns="0" tIns="0" rIns="0" bIns="0" rtlCol="0" anchor="ctr"/>
          <a:lstStyle/>
          <a:p>
            <a:pPr indent="0" marL="0">
              <a:buNone/>
            </a:pPr>
            <a:r>
              <a:rPr lang="en-US" sz="4000" b="1" dirty="0">
                <a:solidFill>
                  <a:schemeClr val="accent2"/>
                </a:solidFill>
                <a:latin typeface="Cambria" pitchFamily="34" charset="0"/>
                <a:ea typeface="Cambria" pitchFamily="34" charset="-122"/>
                <a:cs typeface="Cambria" pitchFamily="34" charset="-120"/>
              </a:rPr>
              <a:t>635,853</a:t>
            </a:r>
            <a:endParaRPr lang="en-US" sz="4000" dirty="0"/>
          </a:p>
        </p:txBody>
      </p:sp>
      <p:sp>
        <p:nvSpPr>
          <p:cNvPr id="21" name="Text 16"/>
          <p:cNvSpPr txBox="1"/>
          <p:nvPr/>
        </p:nvSpPr>
        <p:spPr>
          <a:xfrm>
            <a:off x="6446520" y="3657600"/>
            <a:ext cx="2057400" cy="685800"/>
          </a:xfrm>
          <a:prstGeom prst="rect">
            <a:avLst/>
          </a:prstGeom>
          <a:noFill/>
          <a:ln/>
        </p:spPr>
        <p:txBody>
          <a:bodyPr wrap="square" lIns="0" tIns="0" rIns="0" bIns="0" rtlCol="0" anchor="t"/>
          <a:lstStyle/>
          <a:p>
            <a:pPr indent="0" marL="0">
              <a:buNone/>
            </a:pPr>
            <a:r>
              <a:rPr lang="en-US" sz="1600" b="1" dirty="0">
                <a:solidFill>
                  <a:schemeClr val="tx2"/>
                </a:solidFill>
              </a:rPr>
              <a:t>reviews by test-set authors removed</a:t>
            </a:r>
            <a:endParaRPr lang="en-US" sz="1600" dirty="0"/>
          </a:p>
        </p:txBody>
      </p:sp>
      <p:sp>
        <p:nvSpPr>
          <p:cNvPr id="22" name="Text 17"/>
          <p:cNvSpPr txBox="1"/>
          <p:nvPr/>
        </p:nvSpPr>
        <p:spPr>
          <a:xfrm>
            <a:off x="6446520" y="5303520"/>
            <a:ext cx="2057400" cy="502920"/>
          </a:xfrm>
          <a:prstGeom prst="rect">
            <a:avLst/>
          </a:prstGeom>
          <a:noFill/>
          <a:ln/>
        </p:spPr>
        <p:txBody>
          <a:bodyPr wrap="square" lIns="0" tIns="0" rIns="0" bIns="0" rtlCol="0" anchor="b"/>
          <a:lstStyle/>
          <a:p>
            <a:pPr indent="0" marL="0">
              <a:buNone/>
            </a:pPr>
            <a:r>
              <a:rPr lang="en-US" sz="1200" dirty="0">
                <a:solidFill>
                  <a:schemeClr val="accent6"/>
                </a:solidFill>
              </a:rPr>
              <a:t>plus 163,409 reviews of test-set movies</a:t>
            </a:r>
            <a:endParaRPr lang="en-US" sz="1200" dirty="0"/>
          </a:p>
        </p:txBody>
      </p:sp>
      <p:sp>
        <p:nvSpPr>
          <p:cNvPr id="23" name="stat 0"/>
          <p:cNvSpPr/>
          <p:nvPr/>
        </p:nvSpPr>
        <p:spPr>
          <a:xfrm>
            <a:off x="8983980" y="1783080"/>
            <a:ext cx="2606040" cy="4206240"/>
          </a:xfrm>
          <a:prstGeom prst="roundRect">
            <a:avLst>
              <a:gd name="adj" fmla="val 2807"/>
            </a:avLst>
          </a:prstGeom>
          <a:solidFill>
            <a:schemeClr val="bg2"/>
          </a:solidFill>
          <a:ln/>
          <a:effectLst>
            <a:outerShdw sx="100000" sy="100000" kx="0" ky="0" algn="bl" rotWithShape="0" blurRad="76200" dist="25400" dir="5400000">
              <a:srgbClr val="9C8189">
                <a:alpha val="16000"/>
              </a:srgbClr>
            </a:outerShdw>
          </a:effectLst>
        </p:spPr>
      </p:sp>
      <p:sp>
        <p:nvSpPr>
          <p:cNvPr id="24" name="Shape 19"/>
          <p:cNvSpPr/>
          <p:nvPr/>
        </p:nvSpPr>
        <p:spPr>
          <a:xfrm>
            <a:off x="9258300" y="2057400"/>
            <a:ext cx="640080" cy="640080"/>
          </a:xfrm>
          <a:prstGeom prst="ellipse">
            <a:avLst/>
          </a:prstGeom>
          <a:solidFill>
            <a:schemeClr val="accent3"/>
          </a:solidFill>
          <a:ln/>
        </p:spPr>
      </p:sp>
      <p:pic>
        <p:nvPicPr>
          <p:cNvPr id="25" name="Image 3" descr="preencoded.png">    </p:cNvPr>
          <p:cNvPicPr>
            <a:picLocks noChangeAspect="1"/>
          </p:cNvPicPr>
          <p:nvPr/>
        </p:nvPicPr>
        <p:blipFill>
          <a:blip r:embed="rId4"/>
          <a:stretch>
            <a:fillRect/>
          </a:stretch>
        </p:blipFill>
        <p:spPr>
          <a:xfrm>
            <a:off x="9418320" y="2217420"/>
            <a:ext cx="320040" cy="320040"/>
          </a:xfrm>
          <a:prstGeom prst="rect">
            <a:avLst/>
          </a:prstGeom>
        </p:spPr>
      </p:pic>
      <p:sp>
        <p:nvSpPr>
          <p:cNvPr id="26" name="Text 20"/>
          <p:cNvSpPr txBox="1"/>
          <p:nvPr/>
        </p:nvSpPr>
        <p:spPr>
          <a:xfrm>
            <a:off x="9258300" y="2788920"/>
            <a:ext cx="2057400" cy="822960"/>
          </a:xfrm>
          <a:prstGeom prst="rect">
            <a:avLst/>
          </a:prstGeom>
          <a:noFill/>
          <a:ln/>
        </p:spPr>
        <p:txBody>
          <a:bodyPr wrap="square" lIns="0" tIns="0" rIns="0" bIns="0" rtlCol="0" anchor="ctr"/>
          <a:lstStyle/>
          <a:p>
            <a:pPr indent="0" marL="0">
              <a:buNone/>
            </a:pPr>
            <a:r>
              <a:rPr lang="en-US" sz="4000" b="1" dirty="0">
                <a:solidFill>
                  <a:schemeClr val="accent3"/>
                </a:solidFill>
                <a:latin typeface="Cambria" pitchFamily="34" charset="0"/>
                <a:ea typeface="Cambria" pitchFamily="34" charset="-122"/>
                <a:cs typeface="Cambria" pitchFamily="34" charset="-120"/>
              </a:rPr>
              <a:t>0</a:t>
            </a:r>
            <a:endParaRPr lang="en-US" sz="4000" dirty="0"/>
          </a:p>
        </p:txBody>
      </p:sp>
      <p:sp>
        <p:nvSpPr>
          <p:cNvPr id="27" name="Text 21"/>
          <p:cNvSpPr txBox="1"/>
          <p:nvPr/>
        </p:nvSpPr>
        <p:spPr>
          <a:xfrm>
            <a:off x="9258300" y="3657600"/>
            <a:ext cx="2057400" cy="685800"/>
          </a:xfrm>
          <a:prstGeom prst="rect">
            <a:avLst/>
          </a:prstGeom>
          <a:noFill/>
          <a:ln/>
        </p:spPr>
        <p:txBody>
          <a:bodyPr wrap="square" lIns="0" tIns="0" rIns="0" bIns="0" rtlCol="0" anchor="t"/>
          <a:lstStyle/>
          <a:p>
            <a:pPr indent="0" marL="0">
              <a:buNone/>
            </a:pPr>
            <a:r>
              <a:rPr lang="en-US" sz="1600" b="1" dirty="0">
                <a:solidFill>
                  <a:schemeClr val="tx2"/>
                </a:solidFill>
              </a:rPr>
              <a:t>deferral-slice reviews in hub training</a:t>
            </a:r>
            <a:endParaRPr lang="en-US" sz="1600" dirty="0"/>
          </a:p>
        </p:txBody>
      </p:sp>
      <p:sp>
        <p:nvSpPr>
          <p:cNvPr id="28" name="Text 22"/>
          <p:cNvSpPr txBox="1"/>
          <p:nvPr/>
        </p:nvSpPr>
        <p:spPr>
          <a:xfrm>
            <a:off x="9258300" y="5303520"/>
            <a:ext cx="2057400" cy="502920"/>
          </a:xfrm>
          <a:prstGeom prst="rect">
            <a:avLst/>
          </a:prstGeom>
          <a:noFill/>
          <a:ln/>
        </p:spPr>
        <p:txBody>
          <a:bodyPr wrap="square" lIns="0" tIns="0" rIns="0" bIns="0" rtlCol="0" anchor="b"/>
          <a:lstStyle/>
          <a:p>
            <a:pPr indent="0" marL="0">
              <a:buNone/>
            </a:pPr>
            <a:r>
              <a:rPr lang="en-US" sz="1200" dirty="0">
                <a:solidFill>
                  <a:schemeClr val="accent6"/>
                </a:solidFill>
              </a:rPr>
              <a:t>an older slice overlapped 31%; we re-drew it</a:t>
            </a:r>
            <a:endParaRPr lang="en-US" sz="1200" dirty="0"/>
          </a:p>
        </p:txBody>
      </p:sp>
      <p:sp>
        <p:nvSpPr>
          <p:cNvPr id="25" name="Slide Number Placeholder 0"/>
          <p:cNvSpPr>
            <a:spLocks noGrp="1"/>
          </p:cNvSpPr>
          <p:nvPr>
            <p:ph type="sldNum" sz="quarter" idx="4294967295"/>
          </p:nvPr>
        </p:nvSpPr>
        <p:spPr>
          <a:xfrm>
            <a:off x="11274552" y="347472"/>
            <a:ext cx="384048" cy="384048"/>
          </a:xfrm>
          <a:prstGeom prst="rect">
            <a:avLst/>
          </a:prstGeom>
          <a:extLst>
            <a:ext uri="{C572A759-6A51-4108-AA02-DFA0A04FC94B}">
              <ma14:wrappingTextBoxFlag xmlns:ma14="http://schemas.microsoft.com/office/mac/drawingml/2011/main" val="0"/>
            </a:ext>
          </a:extLst>
        </p:spPr>
        <p:txBody>
          <a:bodyPr anchor="ctr"/>
          <a:lstStyle>
            <a:lvl1pPr>
              <a:defRPr sz="1200">
                <a:solidFill>
                  <a:srgbClr val="3A2E31"/>
                </a:solidFill>
              </a:defRPr>
            </a:lvl1pPr>
          </a:lstStyle>
          <a:p>
            <a:pPr algn="ct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1" type="body" hasCustomPrompt="1"/>
          </p:nvPr>
        </p:nvSpPr>
        <p:spPr>
          <a:xfrm>
            <a:off x="548640" y="365760"/>
            <a:ext cx="9601200" cy="292608"/>
          </a:xfrm>
          <a:prstGeom prst="rect">
            <a:avLst/>
          </a:prstGeom>
          <a:noFill/>
          <a:ln/>
        </p:spPr>
        <p:txBody>
          <a:bodyPr wrap="square" lIns="0" tIns="0" rIns="0" bIns="0" rtlCol="0"/>
          <a:lstStyle/>
          <a:p>
            <a:pPr indent="0" marL="0">
              <a:buNone/>
            </a:pPr>
            <a:r>
              <a:rPr lang="en-US" sz="1200" b="1" spc="200" kern="0" dirty="0">
                <a:solidFill>
                  <a:schemeClr val="accent6"/>
                </a:solidFill>
              </a:rPr>
              <a:t>THE DEVICE MODEL  ·  DANYSON ANTONY</a:t>
            </a:r>
            <a:endParaRPr lang="en-US" sz="1200" dirty="0"/>
          </a:p>
        </p:txBody>
      </p:sp>
      <p:sp>
        <p:nvSpPr>
          <p:cNvPr id="3" name="Text 0"/>
          <p:cNvSpPr/>
          <p:nvPr>
            <p:ph idx="102" type="title" hasCustomPrompt="1"/>
          </p:nvPr>
        </p:nvSpPr>
        <p:spPr>
          <a:xfrm>
            <a:off x="548640" y="676656"/>
            <a:ext cx="10424160" cy="822960"/>
          </a:xfrm>
          <a:prstGeom prst="rect">
            <a:avLst/>
          </a:prstGeom>
          <a:noFill/>
          <a:ln/>
        </p:spPr>
        <p:txBody>
          <a:bodyPr wrap="square" lIns="0" tIns="0" rIns="0" bIns="0" rtlCol="0" anchor="t"/>
          <a:lstStyle/>
          <a:p>
            <a:pPr algn="l" indent="0" marL="0">
              <a:buNone/>
            </a:pPr>
            <a:r>
              <a:rPr lang="en-US" sz="3000" b="1" dirty="0">
                <a:solidFill>
                  <a:schemeClr val="tx2"/>
                </a:solidFill>
              </a:rPr>
              <a:t>A 256 KB model that is just a table of 8-bit weights</a:t>
            </a:r>
            <a:endParaRPr lang="en-US" sz="3000" dirty="0"/>
          </a:p>
        </p:txBody>
      </p:sp>
      <p:sp>
        <p:nvSpPr>
          <p:cNvPr id="4" name="Text 0"/>
          <p:cNvSpPr/>
          <p:nvPr>
            <p:ph idx="103" type="body" hasCustomPrompt="1"/>
          </p:nvPr>
        </p:nvSpPr>
        <p:spPr>
          <a:xfrm>
            <a:off x="548640" y="6355080"/>
            <a:ext cx="10515600" cy="310896"/>
          </a:xfrm>
          <a:prstGeom prst="rect">
            <a:avLst/>
          </a:prstGeom>
          <a:noFill/>
          <a:ln/>
        </p:spPr>
        <p:txBody>
          <a:bodyPr wrap="square" lIns="0" tIns="0" rIns="0" bIns="0" rtlCol="0"/>
          <a:lstStyle/>
          <a:p>
            <a:pPr indent="0" marL="0">
              <a:buNone/>
            </a:pPr>
            <a:r>
              <a:rPr lang="en-US" sz="1100" i="1" dirty="0">
                <a:solidFill>
                  <a:schemeClr val="accent6"/>
                </a:solidFill>
              </a:rPr>
              <a:t>Validation accuracy of the 256 KB int8 model (device v1) as the training set grows; Naive Bayes weighting: Wang &amp; Manning 2012</a:t>
            </a:r>
            <a:endParaRPr lang="en-US" sz="1100" dirty="0"/>
          </a:p>
        </p:txBody>
      </p:sp>
      <p:sp>
        <p:nvSpPr>
          <p:cNvPr id="5" name="how it works"/>
          <p:cNvSpPr/>
          <p:nvPr/>
        </p:nvSpPr>
        <p:spPr>
          <a:xfrm>
            <a:off x="548640" y="1783080"/>
            <a:ext cx="5394960" cy="4343400"/>
          </a:xfrm>
          <a:prstGeom prst="roundRect">
            <a:avLst>
              <a:gd name="adj" fmla="val 1684"/>
            </a:avLst>
          </a:prstGeom>
          <a:solidFill>
            <a:schemeClr val="bg2"/>
          </a:solidFill>
          <a:ln/>
          <a:effectLst>
            <a:outerShdw sx="100000" sy="100000" kx="0" ky="0" algn="bl" rotWithShape="0" blurRad="76200" dist="25400" dir="5400000">
              <a:srgbClr val="9C8189">
                <a:alpha val="16000"/>
              </a:srgbClr>
            </a:outerShdw>
          </a:effectLst>
        </p:spPr>
      </p:sp>
      <p:sp>
        <p:nvSpPr>
          <p:cNvPr id="6" name="Text 4"/>
          <p:cNvSpPr txBox="1"/>
          <p:nvPr/>
        </p:nvSpPr>
        <p:spPr>
          <a:xfrm>
            <a:off x="868680" y="2011680"/>
            <a:ext cx="4754880" cy="411480"/>
          </a:xfrm>
          <a:prstGeom prst="rect">
            <a:avLst/>
          </a:prstGeom>
          <a:noFill/>
          <a:ln/>
        </p:spPr>
        <p:txBody>
          <a:bodyPr wrap="square" lIns="0" tIns="0" rIns="0" bIns="0" rtlCol="0" anchor="ctr"/>
          <a:lstStyle/>
          <a:p>
            <a:pPr indent="0" marL="0">
              <a:buNone/>
            </a:pPr>
            <a:r>
              <a:rPr lang="en-US" sz="1900" b="1" dirty="0">
                <a:solidFill>
                  <a:schemeClr val="accent2"/>
                </a:solidFill>
              </a:rPr>
              <a:t>How it reads a review</a:t>
            </a:r>
            <a:endParaRPr lang="en-US" sz="1900" dirty="0"/>
          </a:p>
        </p:txBody>
      </p:sp>
      <p:sp>
        <p:nvSpPr>
          <p:cNvPr id="7" name="Shape 5"/>
          <p:cNvSpPr/>
          <p:nvPr/>
        </p:nvSpPr>
        <p:spPr>
          <a:xfrm>
            <a:off x="868680" y="2560320"/>
            <a:ext cx="365760" cy="365760"/>
          </a:xfrm>
          <a:prstGeom prst="ellipse">
            <a:avLst/>
          </a:prstGeom>
          <a:solidFill>
            <a:schemeClr val="accent1"/>
          </a:solidFill>
          <a:ln/>
        </p:spPr>
      </p:sp>
      <p:sp>
        <p:nvSpPr>
          <p:cNvPr id="8" name="Text 6"/>
          <p:cNvSpPr txBox="1"/>
          <p:nvPr/>
        </p:nvSpPr>
        <p:spPr>
          <a:xfrm>
            <a:off x="868680" y="2560320"/>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9" name="Text 7"/>
          <p:cNvSpPr txBox="1"/>
          <p:nvPr/>
        </p:nvSpPr>
        <p:spPr>
          <a:xfrm>
            <a:off x="1371600" y="2560320"/>
            <a:ext cx="4389120" cy="365760"/>
          </a:xfrm>
          <a:prstGeom prst="rect">
            <a:avLst/>
          </a:prstGeom>
          <a:noFill/>
          <a:ln/>
        </p:spPr>
        <p:txBody>
          <a:bodyPr wrap="square" lIns="0" tIns="0" rIns="0" bIns="0" rtlCol="0" anchor="ctr"/>
          <a:lstStyle/>
          <a:p>
            <a:pPr indent="0" marL="0">
              <a:buNone/>
            </a:pPr>
            <a:r>
              <a:rPr lang="en-US" sz="1500" dirty="0">
                <a:solidFill>
                  <a:schemeClr val="tx1"/>
                </a:solidFill>
              </a:rPr>
              <a:t>Split into words and word pairs</a:t>
            </a:r>
            <a:endParaRPr lang="en-US" sz="1500" dirty="0"/>
          </a:p>
        </p:txBody>
      </p:sp>
      <p:sp>
        <p:nvSpPr>
          <p:cNvPr id="10" name="Shape 8"/>
          <p:cNvSpPr/>
          <p:nvPr/>
        </p:nvSpPr>
        <p:spPr>
          <a:xfrm>
            <a:off x="868680" y="3063240"/>
            <a:ext cx="365760" cy="365760"/>
          </a:xfrm>
          <a:prstGeom prst="ellipse">
            <a:avLst/>
          </a:prstGeom>
          <a:solidFill>
            <a:schemeClr val="accent1"/>
          </a:solidFill>
          <a:ln/>
        </p:spPr>
      </p:sp>
      <p:sp>
        <p:nvSpPr>
          <p:cNvPr id="11" name="Text 9"/>
          <p:cNvSpPr txBox="1"/>
          <p:nvPr/>
        </p:nvSpPr>
        <p:spPr>
          <a:xfrm>
            <a:off x="868680" y="3063240"/>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2" name="Text 10"/>
          <p:cNvSpPr txBox="1"/>
          <p:nvPr/>
        </p:nvSpPr>
        <p:spPr>
          <a:xfrm>
            <a:off x="1371600" y="3063240"/>
            <a:ext cx="4389120" cy="365760"/>
          </a:xfrm>
          <a:prstGeom prst="rect">
            <a:avLst/>
          </a:prstGeom>
          <a:noFill/>
          <a:ln/>
        </p:spPr>
        <p:txBody>
          <a:bodyPr wrap="square" lIns="0" tIns="0" rIns="0" bIns="0" rtlCol="0" anchor="ctr"/>
          <a:lstStyle/>
          <a:p>
            <a:pPr indent="0" marL="0">
              <a:buNone/>
            </a:pPr>
            <a:r>
              <a:rPr lang="en-US" sz="1500" dirty="0">
                <a:solidFill>
                  <a:schemeClr val="tx1"/>
                </a:solidFill>
              </a:rPr>
              <a:t>Hash each into one of 262,144 buckets</a:t>
            </a:r>
            <a:endParaRPr lang="en-US" sz="1500" dirty="0"/>
          </a:p>
        </p:txBody>
      </p:sp>
      <p:sp>
        <p:nvSpPr>
          <p:cNvPr id="13" name="Shape 11"/>
          <p:cNvSpPr/>
          <p:nvPr/>
        </p:nvSpPr>
        <p:spPr>
          <a:xfrm>
            <a:off x="868680" y="3566160"/>
            <a:ext cx="365760" cy="365760"/>
          </a:xfrm>
          <a:prstGeom prst="ellipse">
            <a:avLst/>
          </a:prstGeom>
          <a:solidFill>
            <a:schemeClr val="accent1"/>
          </a:solidFill>
          <a:ln/>
        </p:spPr>
      </p:sp>
      <p:sp>
        <p:nvSpPr>
          <p:cNvPr id="14" name="Text 12"/>
          <p:cNvSpPr txBox="1"/>
          <p:nvPr/>
        </p:nvSpPr>
        <p:spPr>
          <a:xfrm>
            <a:off x="868680" y="3566160"/>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5" name="Text 13"/>
          <p:cNvSpPr txBox="1"/>
          <p:nvPr/>
        </p:nvSpPr>
        <p:spPr>
          <a:xfrm>
            <a:off x="1371600" y="3566160"/>
            <a:ext cx="4389120" cy="365760"/>
          </a:xfrm>
          <a:prstGeom prst="rect">
            <a:avLst/>
          </a:prstGeom>
          <a:noFill/>
          <a:ln/>
        </p:spPr>
        <p:txBody>
          <a:bodyPr wrap="square" lIns="0" tIns="0" rIns="0" bIns="0" rtlCol="0" anchor="ctr"/>
          <a:lstStyle/>
          <a:p>
            <a:pPr indent="0" marL="0">
              <a:buNone/>
            </a:pPr>
            <a:r>
              <a:rPr lang="en-US" sz="1500" dirty="0">
                <a:solidFill>
                  <a:schemeClr val="tx1"/>
                </a:solidFill>
              </a:rPr>
              <a:t>Add up the buckets' int8 weights, divide by √n</a:t>
            </a:r>
            <a:endParaRPr lang="en-US" sz="1500" dirty="0"/>
          </a:p>
        </p:txBody>
      </p:sp>
      <p:sp>
        <p:nvSpPr>
          <p:cNvPr id="16" name="Shape 14"/>
          <p:cNvSpPr/>
          <p:nvPr/>
        </p:nvSpPr>
        <p:spPr>
          <a:xfrm>
            <a:off x="868680" y="4069080"/>
            <a:ext cx="365760" cy="365760"/>
          </a:xfrm>
          <a:prstGeom prst="ellipse">
            <a:avLst/>
          </a:prstGeom>
          <a:solidFill>
            <a:schemeClr val="accent1"/>
          </a:solidFill>
          <a:ln/>
        </p:spPr>
      </p:sp>
      <p:sp>
        <p:nvSpPr>
          <p:cNvPr id="17" name="Text 15"/>
          <p:cNvSpPr txBox="1"/>
          <p:nvPr/>
        </p:nvSpPr>
        <p:spPr>
          <a:xfrm>
            <a:off x="868680" y="4069080"/>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18" name="Text 16"/>
          <p:cNvSpPr txBox="1"/>
          <p:nvPr/>
        </p:nvSpPr>
        <p:spPr>
          <a:xfrm>
            <a:off x="1371600" y="4069080"/>
            <a:ext cx="4389120" cy="365760"/>
          </a:xfrm>
          <a:prstGeom prst="rect">
            <a:avLst/>
          </a:prstGeom>
          <a:noFill/>
          <a:ln/>
        </p:spPr>
        <p:txBody>
          <a:bodyPr wrap="square" lIns="0" tIns="0" rIns="0" bIns="0" rtlCol="0" anchor="ctr"/>
          <a:lstStyle/>
          <a:p>
            <a:pPr indent="0" marL="0">
              <a:buNone/>
            </a:pPr>
            <a:r>
              <a:rPr lang="en-US" sz="1500" dirty="0">
                <a:solidFill>
                  <a:schemeClr val="tx1"/>
                </a:solidFill>
              </a:rPr>
              <a:t>Sigmoid turns the sum into p(x)</a:t>
            </a:r>
            <a:endParaRPr lang="en-US" sz="1500" dirty="0"/>
          </a:p>
        </p:txBody>
      </p:sp>
      <p:sp>
        <p:nvSpPr>
          <p:cNvPr id="19" name="Text 17"/>
          <p:cNvSpPr txBox="1"/>
          <p:nvPr/>
        </p:nvSpPr>
        <p:spPr>
          <a:xfrm>
            <a:off x="868680" y="4663440"/>
            <a:ext cx="4846320" cy="411480"/>
          </a:xfrm>
          <a:prstGeom prst="rect">
            <a:avLst/>
          </a:prstGeom>
          <a:noFill/>
          <a:ln/>
        </p:spPr>
        <p:txBody>
          <a:bodyPr wrap="square" lIns="0" tIns="0" rIns="0" bIns="0" rtlCol="0" anchor="ctr"/>
          <a:lstStyle/>
          <a:p>
            <a:pPr indent="0" marL="0">
              <a:buNone/>
            </a:pPr>
            <a:r>
              <a:rPr lang="en-US" sz="1700" b="1" dirty="0">
                <a:solidFill>
                  <a:schemeClr val="accent3"/>
                </a:solidFill>
                <a:latin typeface="Cambria" pitchFamily="34" charset="0"/>
                <a:ea typeface="Cambria" pitchFamily="34" charset="-122"/>
                <a:cs typeface="Cambria" pitchFamily="34" charset="-120"/>
              </a:rPr>
              <a:t>p(x) = σ( 0.3075 × Σ q_b / √n + 0.0152 )</a:t>
            </a:r>
            <a:endParaRPr lang="en-US" sz="1700" dirty="0"/>
          </a:p>
        </p:txBody>
      </p:sp>
      <p:sp>
        <p:nvSpPr>
          <p:cNvPr id="20" name="Text 18"/>
          <p:cNvSpPr txBox="1"/>
          <p:nvPr/>
        </p:nvSpPr>
        <p:spPr>
          <a:xfrm>
            <a:off x="868680" y="5166360"/>
            <a:ext cx="4846320" cy="777240"/>
          </a:xfrm>
          <a:prstGeom prst="rect">
            <a:avLst/>
          </a:prstGeom>
          <a:noFill/>
          <a:ln/>
        </p:spPr>
        <p:txBody>
          <a:bodyPr wrap="square" lIns="0" tIns="0" rIns="0" bIns="0" rtlCol="0" anchor="t"/>
          <a:lstStyle/>
          <a:p>
            <a:pPr indent="0" marL="0">
              <a:buNone/>
            </a:pPr>
            <a:r>
              <a:rPr lang="en-US" sz="1400" i="1" dirty="0">
                <a:solidFill>
                  <a:schemeClr val="tx1"/>
                </a:solidFill>
              </a:rPr>
              <a:t>Trained with Naive Bayes weighting and logistic loss, averaged SGD for 5 passes, then rounded to int8</a:t>
            </a:r>
            <a:endParaRPr lang="en-US" sz="1400" dirty="0"/>
          </a:p>
        </p:txBody>
      </p:sp>
      <p:graphicFrame>
        <p:nvGraphicFramePr>
          <p:cNvPr id="21" name="device size curve" descr=""/>
          <p:cNvGraphicFramePr/>
          <p:nvPr/>
        </p:nvGraphicFramePr>
        <p:xfrm>
          <a:off x="6217920" y="1691640"/>
          <a:ext cx="5394960" cy="4434840"/>
        </p:xfrm>
        <a:graphic xmlns:a="http://schemas.openxmlformats.org/drawingml/2006/main">
          <a:graphicData uri="http://schemas.openxmlformats.org/drawingml/2006/chart">
            <c:chart xmlns:c="http://schemas.openxmlformats.org/drawingml/2006/chart" r:id="rId1"/>
          </a:graphicData>
        </a:graphic>
      </p:graphicFrame>
      <p:sp>
        <p:nvSpPr>
          <p:cNvPr id="25" name="Slide Number Placeholder 0"/>
          <p:cNvSpPr>
            <a:spLocks noGrp="1"/>
          </p:cNvSpPr>
          <p:nvPr>
            <p:ph type="sldNum" sz="quarter" idx="4294967295"/>
          </p:nvPr>
        </p:nvSpPr>
        <p:spPr>
          <a:xfrm>
            <a:off x="11274552" y="347472"/>
            <a:ext cx="384048" cy="384048"/>
          </a:xfrm>
          <a:prstGeom prst="rect">
            <a:avLst/>
          </a:prstGeom>
          <a:extLst>
            <a:ext uri="{C572A759-6A51-4108-AA02-DFA0A04FC94B}">
              <ma14:wrappingTextBoxFlag xmlns:ma14="http://schemas.microsoft.com/office/mac/drawingml/2011/main" val="0"/>
            </a:ext>
          </a:extLst>
        </p:spPr>
        <p:txBody>
          <a:bodyPr anchor="ctr"/>
          <a:lstStyle>
            <a:lvl1pPr>
              <a:defRPr sz="1200">
                <a:solidFill>
                  <a:srgbClr val="3A2E31"/>
                </a:solidFill>
              </a:defRPr>
            </a:lvl1pPr>
          </a:lstStyle>
          <a:p>
            <a:pPr algn="ct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1" type="body" hasCustomPrompt="1"/>
          </p:nvPr>
        </p:nvSpPr>
        <p:spPr>
          <a:xfrm>
            <a:off x="548640" y="365760"/>
            <a:ext cx="9601200" cy="292608"/>
          </a:xfrm>
          <a:prstGeom prst="rect">
            <a:avLst/>
          </a:prstGeom>
          <a:noFill/>
          <a:ln/>
        </p:spPr>
        <p:txBody>
          <a:bodyPr wrap="square" lIns="0" tIns="0" rIns="0" bIns="0" rtlCol="0"/>
          <a:lstStyle/>
          <a:p>
            <a:pPr indent="0" marL="0">
              <a:buNone/>
            </a:pPr>
            <a:r>
              <a:rPr lang="en-US" sz="1200" b="1" spc="200" kern="0" dirty="0">
                <a:solidFill>
                  <a:schemeClr val="accent6"/>
                </a:solidFill>
              </a:rPr>
              <a:t>TRAINING THE HUB  ·  DANYSON ANTONY</a:t>
            </a:r>
            <a:endParaRPr lang="en-US" sz="1200" dirty="0"/>
          </a:p>
        </p:txBody>
      </p:sp>
      <p:sp>
        <p:nvSpPr>
          <p:cNvPr id="3" name="Text 0"/>
          <p:cNvSpPr/>
          <p:nvPr>
            <p:ph idx="102" type="title" hasCustomPrompt="1"/>
          </p:nvPr>
        </p:nvSpPr>
        <p:spPr>
          <a:xfrm>
            <a:off x="548640" y="676656"/>
            <a:ext cx="10424160" cy="822960"/>
          </a:xfrm>
          <a:prstGeom prst="rect">
            <a:avLst/>
          </a:prstGeom>
          <a:noFill/>
          <a:ln/>
        </p:spPr>
        <p:txBody>
          <a:bodyPr wrap="square" lIns="0" tIns="0" rIns="0" bIns="0" rtlCol="0" anchor="t"/>
          <a:lstStyle/>
          <a:p>
            <a:pPr algn="l" indent="0" marL="0">
              <a:buNone/>
            </a:pPr>
            <a:r>
              <a:rPr lang="en-US" sz="3000" b="1" dirty="0">
                <a:solidFill>
                  <a:schemeClr val="tx2"/>
                </a:solidFill>
              </a:rPr>
              <a:t>Retraining the hub on one million extra reviews</a:t>
            </a:r>
            <a:endParaRPr lang="en-US" sz="3000" dirty="0"/>
          </a:p>
        </p:txBody>
      </p:sp>
      <p:sp>
        <p:nvSpPr>
          <p:cNvPr id="4" name="Text 0"/>
          <p:cNvSpPr/>
          <p:nvPr>
            <p:ph idx="103" type="body" hasCustomPrompt="1"/>
          </p:nvPr>
        </p:nvSpPr>
        <p:spPr>
          <a:xfrm>
            <a:off x="548640" y="6355080"/>
            <a:ext cx="10515600" cy="310896"/>
          </a:xfrm>
          <a:prstGeom prst="rect">
            <a:avLst/>
          </a:prstGeom>
          <a:noFill/>
          <a:ln/>
        </p:spPr>
        <p:txBody>
          <a:bodyPr wrap="square" lIns="0" tIns="0" rIns="0" bIns="0" rtlCol="0"/>
          <a:lstStyle/>
          <a:p>
            <a:pPr indent="0" marL="0">
              <a:buNone/>
            </a:pPr>
            <a:r>
              <a:rPr lang="en-US" sz="1100" i="1" dirty="0">
                <a:solidFill>
                  <a:schemeClr val="accent6"/>
                </a:solidFill>
              </a:rPr>
              <a:t>Settings from the saved run metrics; costs from Modal's billing report; H100 = $3.95 per hour</a:t>
            </a:r>
            <a:endParaRPr lang="en-US" sz="1100" dirty="0"/>
          </a:p>
        </p:txBody>
      </p:sp>
      <p:graphicFrame>
        <p:nvGraphicFramePr>
          <p:cNvPr id="11" name="hub training table"/>
          <p:cNvGraphicFramePr>
            <a:graphicFrameLocks noGrp="1"/>
          </p:cNvGraphicFramePr>
          <p:nvPr>
            <p:extLst>
              <p:ext uri="{D42A27DB-BD31-4B8C-83A1-F6EECF244321}">
                <p14:modId xmlns:p14="http://schemas.microsoft.com/office/powerpoint/2010/main" val="1579011935"/>
              </p:ext>
            </p:extLst>
          </p:nvPr>
        </p:nvGraphicFramePr>
        <p:xfrm>
          <a:off x="548640" y="1783080"/>
          <a:ext cx="11064240" cy="914400"/>
        </p:xfrm>
        <a:graphic>
          <a:graphicData uri="http://schemas.openxmlformats.org/drawingml/2006/table">
            <a:tbl>
              <a:tblPr/>
              <a:tblGrid>
                <a:gridCol w="1828800"/>
                <a:gridCol w="1417320"/>
                <a:gridCol w="868680"/>
                <a:gridCol w="777240"/>
                <a:gridCol w="1280160"/>
                <a:gridCol w="1965960"/>
                <a:gridCol w="1691640"/>
                <a:gridCol w="1234440"/>
              </a:tblGrid>
              <a:tr h="502920">
                <a:tc>
                  <a:txBody>
                    <a:bodyPr/>
                    <a:lstStyle/>
                    <a:p>
                      <a:pPr algn="ctr" indent="0" marL="0">
                        <a:buNone/>
                      </a:pPr>
                      <a:r>
                        <a:rPr lang="en-US" sz="1400" b="1" dirty="0">
                          <a:solidFill>
                            <a:schemeClr val="bg1"/>
                          </a:solidFill>
                          <a:latin typeface="Calibri" pitchFamily="34" charset="0"/>
                          <a:ea typeface="Calibri" pitchFamily="34" charset="-122"/>
                          <a:cs typeface="Calibri" pitchFamily="34" charset="-120"/>
                        </a:rPr>
                        <a:t>Hub</a:t>
                      </a:r>
                      <a:endParaRPr lang="en-US" sz="1400" dirty="0">
                        <a:latin typeface="Calibri" charset="0"/>
                        <a:ea typeface="Calibri" charset="0"/>
                        <a:cs typeface="Calibri" charset="0"/>
                      </a:endParaRPr>
                    </a:p>
                  </a:txBody>
                  <a:tcPr marL="91440" marR="91440" marT="45720" marB="45720" anchor="ctr">
                    <a:lnL w="9525" cap="flat" cmpd="sng" algn="ctr">
                      <a:solidFill>
                        <a:srgbClr val="E2D6D9"/>
                      </a:solidFill>
                      <a:prstDash val="solid"/>
                      <a:round/>
                      <a:headEnd type="none" w="med" len="med"/>
                      <a:tailEnd type="none" w="med" len="med"/>
                    </a:lnL>
                    <a:lnR w="9525" cap="flat" cmpd="sng" algn="ctr">
                      <a:solidFill>
                        <a:srgbClr val="E2D6D9"/>
                      </a:solidFill>
                      <a:prstDash val="solid"/>
                      <a:round/>
                      <a:headEnd type="none" w="med" len="med"/>
                      <a:tailEnd type="none" w="med" len="med"/>
                    </a:lnR>
                    <a:lnT w="9525" cap="flat" cmpd="sng" algn="ctr">
                      <a:solidFill>
                        <a:srgbClr val="E2D6D9"/>
                      </a:solidFill>
                      <a:prstDash val="solid"/>
                      <a:round/>
                      <a:headEnd type="none" w="med" len="med"/>
                      <a:tailEnd type="none" w="med" len="med"/>
                    </a:lnT>
                    <a:lnB w="9525" cap="flat" cmpd="sng" algn="ctr">
                      <a:solidFill>
                        <a:srgbClr val="E2D6D9"/>
                      </a:solidFill>
                      <a:prstDash val="solid"/>
                      <a:round/>
                      <a:headEnd type="none" w="med" len="med"/>
                      <a:tailEnd type="none" w="med" len="med"/>
                    </a:lnB>
                    <a:solidFill>
                      <a:schemeClr val="accent1"/>
                    </a:solidFill>
                  </a:tcPr>
                </a:tc>
                <a:tc>
                  <a:txBody>
                    <a:bodyPr/>
                    <a:lstStyle/>
                    <a:p>
                      <a:pPr algn="ctr" indent="0" marL="0">
                        <a:buNone/>
                      </a:pPr>
                      <a:r>
                        <a:rPr lang="en-US" sz="1400" b="1" dirty="0">
                          <a:solidFill>
                            <a:schemeClr val="bg1"/>
                          </a:solidFill>
                          <a:latin typeface="Calibri" pitchFamily="34" charset="0"/>
                          <a:ea typeface="Calibri" pitchFamily="34" charset="-122"/>
                          <a:cs typeface="Calibri" pitchFamily="34" charset="-120"/>
                        </a:rPr>
                        <a:t>Training reviews</a:t>
                      </a:r>
                      <a:endParaRPr lang="en-US" sz="1400" dirty="0">
                        <a:latin typeface="Calibri" charset="0"/>
                        <a:ea typeface="Calibri" charset="0"/>
                        <a:cs typeface="Calibri" charset="0"/>
                      </a:endParaRPr>
                    </a:p>
                  </a:txBody>
                  <a:tcPr marL="91440" marR="91440" marT="45720" marB="45720" anchor="ctr">
                    <a:lnL w="9525" cap="flat" cmpd="sng" algn="ctr">
                      <a:solidFill>
                        <a:srgbClr val="E2D6D9"/>
                      </a:solidFill>
                      <a:prstDash val="solid"/>
                      <a:round/>
                      <a:headEnd type="none" w="med" len="med"/>
                      <a:tailEnd type="none" w="med" len="med"/>
                    </a:lnL>
                    <a:lnR w="9525" cap="flat" cmpd="sng" algn="ctr">
                      <a:solidFill>
                        <a:srgbClr val="E2D6D9"/>
                      </a:solidFill>
                      <a:prstDash val="solid"/>
                      <a:round/>
                      <a:headEnd type="none" w="med" len="med"/>
                      <a:tailEnd type="none" w="med" len="med"/>
                    </a:lnR>
                    <a:lnT w="9525" cap="flat" cmpd="sng" algn="ctr">
                      <a:solidFill>
                        <a:srgbClr val="E2D6D9"/>
                      </a:solidFill>
                      <a:prstDash val="solid"/>
                      <a:round/>
                      <a:headEnd type="none" w="med" len="med"/>
                      <a:tailEnd type="none" w="med" len="med"/>
                    </a:lnT>
                    <a:lnB w="9525" cap="flat" cmpd="sng" algn="ctr">
                      <a:solidFill>
                        <a:srgbClr val="E2D6D9"/>
                      </a:solidFill>
                      <a:prstDash val="solid"/>
                      <a:round/>
                      <a:headEnd type="none" w="med" len="med"/>
                      <a:tailEnd type="none" w="med" len="med"/>
                    </a:lnB>
                    <a:solidFill>
                      <a:schemeClr val="accent1"/>
                    </a:solidFill>
                  </a:tcPr>
                </a:tc>
                <a:tc>
                  <a:txBody>
                    <a:bodyPr/>
                    <a:lstStyle/>
                    <a:p>
                      <a:pPr algn="ctr" indent="0" marL="0">
                        <a:buNone/>
                      </a:pPr>
                      <a:r>
                        <a:rPr lang="en-US" sz="1400" b="1" dirty="0">
                          <a:solidFill>
                            <a:schemeClr val="bg1"/>
                          </a:solidFill>
                          <a:latin typeface="Calibri" pitchFamily="34" charset="0"/>
                          <a:ea typeface="Calibri" pitchFamily="34" charset="-122"/>
                          <a:cs typeface="Calibri" pitchFamily="34" charset="-120"/>
                        </a:rPr>
                        <a:t>Epochs</a:t>
                      </a:r>
                      <a:endParaRPr lang="en-US" sz="1400" dirty="0">
                        <a:latin typeface="Calibri" charset="0"/>
                        <a:ea typeface="Calibri" charset="0"/>
                        <a:cs typeface="Calibri" charset="0"/>
                      </a:endParaRPr>
                    </a:p>
                  </a:txBody>
                  <a:tcPr marL="91440" marR="91440" marT="45720" marB="45720" anchor="ctr">
                    <a:lnL w="9525" cap="flat" cmpd="sng" algn="ctr">
                      <a:solidFill>
                        <a:srgbClr val="E2D6D9"/>
                      </a:solidFill>
                      <a:prstDash val="solid"/>
                      <a:round/>
                      <a:headEnd type="none" w="med" len="med"/>
                      <a:tailEnd type="none" w="med" len="med"/>
                    </a:lnL>
                    <a:lnR w="9525" cap="flat" cmpd="sng" algn="ctr">
                      <a:solidFill>
                        <a:srgbClr val="E2D6D9"/>
                      </a:solidFill>
                      <a:prstDash val="solid"/>
                      <a:round/>
                      <a:headEnd type="none" w="med" len="med"/>
                      <a:tailEnd type="none" w="med" len="med"/>
                    </a:lnR>
                    <a:lnT w="9525" cap="flat" cmpd="sng" algn="ctr">
                      <a:solidFill>
                        <a:srgbClr val="E2D6D9"/>
                      </a:solidFill>
                      <a:prstDash val="solid"/>
                      <a:round/>
                      <a:headEnd type="none" w="med" len="med"/>
                      <a:tailEnd type="none" w="med" len="med"/>
                    </a:lnT>
                    <a:lnB w="9525" cap="flat" cmpd="sng" algn="ctr">
                      <a:solidFill>
                        <a:srgbClr val="E2D6D9"/>
                      </a:solidFill>
                      <a:prstDash val="solid"/>
                      <a:round/>
                      <a:headEnd type="none" w="med" len="med"/>
                      <a:tailEnd type="none" w="med" len="med"/>
                    </a:lnB>
                    <a:solidFill>
                      <a:schemeClr val="accent1"/>
                    </a:solidFill>
                  </a:tcPr>
                </a:tc>
                <a:tc>
                  <a:txBody>
                    <a:bodyPr/>
                    <a:lstStyle/>
                    <a:p>
                      <a:pPr algn="ctr" indent="0" marL="0">
                        <a:buNone/>
                      </a:pPr>
                      <a:r>
                        <a:rPr lang="en-US" sz="1400" b="1" dirty="0">
                          <a:solidFill>
                            <a:schemeClr val="bg1"/>
                          </a:solidFill>
                          <a:latin typeface="Calibri" pitchFamily="34" charset="0"/>
                          <a:ea typeface="Calibri" pitchFamily="34" charset="-122"/>
                          <a:cs typeface="Calibri" pitchFamily="34" charset="-120"/>
                        </a:rPr>
                        <a:t>Batch</a:t>
                      </a:r>
                      <a:endParaRPr lang="en-US" sz="1400" dirty="0">
                        <a:latin typeface="Calibri" charset="0"/>
                        <a:ea typeface="Calibri" charset="0"/>
                        <a:cs typeface="Calibri" charset="0"/>
                      </a:endParaRPr>
                    </a:p>
                  </a:txBody>
                  <a:tcPr marL="91440" marR="91440" marT="45720" marB="45720" anchor="ctr">
                    <a:lnL w="9525" cap="flat" cmpd="sng" algn="ctr">
                      <a:solidFill>
                        <a:srgbClr val="E2D6D9"/>
                      </a:solidFill>
                      <a:prstDash val="solid"/>
                      <a:round/>
                      <a:headEnd type="none" w="med" len="med"/>
                      <a:tailEnd type="none" w="med" len="med"/>
                    </a:lnL>
                    <a:lnR w="9525" cap="flat" cmpd="sng" algn="ctr">
                      <a:solidFill>
                        <a:srgbClr val="E2D6D9"/>
                      </a:solidFill>
                      <a:prstDash val="solid"/>
                      <a:round/>
                      <a:headEnd type="none" w="med" len="med"/>
                      <a:tailEnd type="none" w="med" len="med"/>
                    </a:lnR>
                    <a:lnT w="9525" cap="flat" cmpd="sng" algn="ctr">
                      <a:solidFill>
                        <a:srgbClr val="E2D6D9"/>
                      </a:solidFill>
                      <a:prstDash val="solid"/>
                      <a:round/>
                      <a:headEnd type="none" w="med" len="med"/>
                      <a:tailEnd type="none" w="med" len="med"/>
                    </a:lnT>
                    <a:lnB w="9525" cap="flat" cmpd="sng" algn="ctr">
                      <a:solidFill>
                        <a:srgbClr val="E2D6D9"/>
                      </a:solidFill>
                      <a:prstDash val="solid"/>
                      <a:round/>
                      <a:headEnd type="none" w="med" len="med"/>
                      <a:tailEnd type="none" w="med" len="med"/>
                    </a:lnB>
                    <a:solidFill>
                      <a:schemeClr val="accent1"/>
                    </a:solidFill>
                  </a:tcPr>
                </a:tc>
                <a:tc>
                  <a:txBody>
                    <a:bodyPr/>
                    <a:lstStyle/>
                    <a:p>
                      <a:pPr algn="ctr" indent="0" marL="0">
                        <a:buNone/>
                      </a:pPr>
                      <a:r>
                        <a:rPr lang="en-US" sz="1400" b="1" dirty="0">
                          <a:solidFill>
                            <a:schemeClr val="bg1"/>
                          </a:solidFill>
                          <a:latin typeface="Calibri" pitchFamily="34" charset="0"/>
                          <a:ea typeface="Calibri" pitchFamily="34" charset="-122"/>
                          <a:cs typeface="Calibri" pitchFamily="34" charset="-120"/>
                        </a:rPr>
                        <a:t>Learning rate</a:t>
                      </a:r>
                      <a:endParaRPr lang="en-US" sz="1400" dirty="0">
                        <a:latin typeface="Calibri" charset="0"/>
                        <a:ea typeface="Calibri" charset="0"/>
                        <a:cs typeface="Calibri" charset="0"/>
                      </a:endParaRPr>
                    </a:p>
                  </a:txBody>
                  <a:tcPr marL="91440" marR="91440" marT="45720" marB="45720" anchor="ctr">
                    <a:lnL w="9525" cap="flat" cmpd="sng" algn="ctr">
                      <a:solidFill>
                        <a:srgbClr val="E2D6D9"/>
                      </a:solidFill>
                      <a:prstDash val="solid"/>
                      <a:round/>
                      <a:headEnd type="none" w="med" len="med"/>
                      <a:tailEnd type="none" w="med" len="med"/>
                    </a:lnL>
                    <a:lnR w="9525" cap="flat" cmpd="sng" algn="ctr">
                      <a:solidFill>
                        <a:srgbClr val="E2D6D9"/>
                      </a:solidFill>
                      <a:prstDash val="solid"/>
                      <a:round/>
                      <a:headEnd type="none" w="med" len="med"/>
                      <a:tailEnd type="none" w="med" len="med"/>
                    </a:lnR>
                    <a:lnT w="9525" cap="flat" cmpd="sng" algn="ctr">
                      <a:solidFill>
                        <a:srgbClr val="E2D6D9"/>
                      </a:solidFill>
                      <a:prstDash val="solid"/>
                      <a:round/>
                      <a:headEnd type="none" w="med" len="med"/>
                      <a:tailEnd type="none" w="med" len="med"/>
                    </a:lnT>
                    <a:lnB w="9525" cap="flat" cmpd="sng" algn="ctr">
                      <a:solidFill>
                        <a:srgbClr val="E2D6D9"/>
                      </a:solidFill>
                      <a:prstDash val="solid"/>
                      <a:round/>
                      <a:headEnd type="none" w="med" len="med"/>
                      <a:tailEnd type="none" w="med" len="med"/>
                    </a:lnB>
                    <a:solidFill>
                      <a:schemeClr val="accent1"/>
                    </a:solidFill>
                  </a:tcPr>
                </a:tc>
                <a:tc>
                  <a:txBody>
                    <a:bodyPr/>
                    <a:lstStyle/>
                    <a:p>
                      <a:pPr algn="ctr" indent="0" marL="0">
                        <a:buNone/>
                      </a:pPr>
                      <a:r>
                        <a:rPr lang="en-US" sz="1400" b="1" dirty="0">
                          <a:solidFill>
                            <a:schemeClr val="bg1"/>
                          </a:solidFill>
                          <a:latin typeface="Calibri" pitchFamily="34" charset="0"/>
                          <a:ea typeface="Calibri" pitchFamily="34" charset="-122"/>
                          <a:cs typeface="Calibri" pitchFamily="34" charset="-120"/>
                        </a:rPr>
                        <a:t>Hardware</a:t>
                      </a:r>
                      <a:endParaRPr lang="en-US" sz="1400" dirty="0">
                        <a:latin typeface="Calibri" charset="0"/>
                        <a:ea typeface="Calibri" charset="0"/>
                        <a:cs typeface="Calibri" charset="0"/>
                      </a:endParaRPr>
                    </a:p>
                  </a:txBody>
                  <a:tcPr marL="91440" marR="91440" marT="45720" marB="45720" anchor="ctr">
                    <a:lnL w="9525" cap="flat" cmpd="sng" algn="ctr">
                      <a:solidFill>
                        <a:srgbClr val="E2D6D9"/>
                      </a:solidFill>
                      <a:prstDash val="solid"/>
                      <a:round/>
                      <a:headEnd type="none" w="med" len="med"/>
                      <a:tailEnd type="none" w="med" len="med"/>
                    </a:lnL>
                    <a:lnR w="9525" cap="flat" cmpd="sng" algn="ctr">
                      <a:solidFill>
                        <a:srgbClr val="E2D6D9"/>
                      </a:solidFill>
                      <a:prstDash val="solid"/>
                      <a:round/>
                      <a:headEnd type="none" w="med" len="med"/>
                      <a:tailEnd type="none" w="med" len="med"/>
                    </a:lnR>
                    <a:lnT w="9525" cap="flat" cmpd="sng" algn="ctr">
                      <a:solidFill>
                        <a:srgbClr val="E2D6D9"/>
                      </a:solidFill>
                      <a:prstDash val="solid"/>
                      <a:round/>
                      <a:headEnd type="none" w="med" len="med"/>
                      <a:tailEnd type="none" w="med" len="med"/>
                    </a:lnT>
                    <a:lnB w="9525" cap="flat" cmpd="sng" algn="ctr">
                      <a:solidFill>
                        <a:srgbClr val="E2D6D9"/>
                      </a:solidFill>
                      <a:prstDash val="solid"/>
                      <a:round/>
                      <a:headEnd type="none" w="med" len="med"/>
                      <a:tailEnd type="none" w="med" len="med"/>
                    </a:lnB>
                    <a:solidFill>
                      <a:schemeClr val="accent1"/>
                    </a:solidFill>
                  </a:tcPr>
                </a:tc>
                <a:tc>
                  <a:txBody>
                    <a:bodyPr/>
                    <a:lstStyle/>
                    <a:p>
                      <a:pPr algn="ctr" indent="0" marL="0">
                        <a:buNone/>
                      </a:pPr>
                      <a:r>
                        <a:rPr lang="en-US" sz="1400" b="1" dirty="0">
                          <a:solidFill>
                            <a:schemeClr val="bg1"/>
                          </a:solidFill>
                          <a:latin typeface="Calibri" pitchFamily="34" charset="0"/>
                          <a:ea typeface="Calibri" pitchFamily="34" charset="-122"/>
                          <a:cs typeface="Calibri" pitchFamily="34" charset="-120"/>
                        </a:rPr>
                        <a:t>Speed</a:t>
                      </a:r>
                      <a:endParaRPr lang="en-US" sz="1400" dirty="0">
                        <a:latin typeface="Calibri" charset="0"/>
                        <a:ea typeface="Calibri" charset="0"/>
                        <a:cs typeface="Calibri" charset="0"/>
                      </a:endParaRPr>
                    </a:p>
                  </a:txBody>
                  <a:tcPr marL="91440" marR="91440" marT="45720" marB="45720" anchor="ctr">
                    <a:lnL w="9525" cap="flat" cmpd="sng" algn="ctr">
                      <a:solidFill>
                        <a:srgbClr val="E2D6D9"/>
                      </a:solidFill>
                      <a:prstDash val="solid"/>
                      <a:round/>
                      <a:headEnd type="none" w="med" len="med"/>
                      <a:tailEnd type="none" w="med" len="med"/>
                    </a:lnL>
                    <a:lnR w="9525" cap="flat" cmpd="sng" algn="ctr">
                      <a:solidFill>
                        <a:srgbClr val="E2D6D9"/>
                      </a:solidFill>
                      <a:prstDash val="solid"/>
                      <a:round/>
                      <a:headEnd type="none" w="med" len="med"/>
                      <a:tailEnd type="none" w="med" len="med"/>
                    </a:lnR>
                    <a:lnT w="9525" cap="flat" cmpd="sng" algn="ctr">
                      <a:solidFill>
                        <a:srgbClr val="E2D6D9"/>
                      </a:solidFill>
                      <a:prstDash val="solid"/>
                      <a:round/>
                      <a:headEnd type="none" w="med" len="med"/>
                      <a:tailEnd type="none" w="med" len="med"/>
                    </a:lnT>
                    <a:lnB w="9525" cap="flat" cmpd="sng" algn="ctr">
                      <a:solidFill>
                        <a:srgbClr val="E2D6D9"/>
                      </a:solidFill>
                      <a:prstDash val="solid"/>
                      <a:round/>
                      <a:headEnd type="none" w="med" len="med"/>
                      <a:tailEnd type="none" w="med" len="med"/>
                    </a:lnB>
                    <a:solidFill>
                      <a:schemeClr val="accent1"/>
                    </a:solidFill>
                  </a:tcPr>
                </a:tc>
                <a:tc>
                  <a:txBody>
                    <a:bodyPr/>
                    <a:lstStyle/>
                    <a:p>
                      <a:pPr algn="ctr" indent="0" marL="0">
                        <a:buNone/>
                      </a:pPr>
                      <a:r>
                        <a:rPr lang="en-US" sz="1400" b="1" dirty="0">
                          <a:solidFill>
                            <a:schemeClr val="bg1"/>
                          </a:solidFill>
                          <a:latin typeface="Calibri" pitchFamily="34" charset="0"/>
                          <a:ea typeface="Calibri" pitchFamily="34" charset="-122"/>
                          <a:cs typeface="Calibri" pitchFamily="34" charset="-120"/>
                        </a:rPr>
                        <a:t>Cost</a:t>
                      </a:r>
                      <a:endParaRPr lang="en-US" sz="1400" dirty="0">
                        <a:latin typeface="Calibri" charset="0"/>
                        <a:ea typeface="Calibri" charset="0"/>
                        <a:cs typeface="Calibri" charset="0"/>
                      </a:endParaRPr>
                    </a:p>
                  </a:txBody>
                  <a:tcPr marL="91440" marR="91440" marT="45720" marB="45720" anchor="ctr">
                    <a:lnL w="9525" cap="flat" cmpd="sng" algn="ctr">
                      <a:solidFill>
                        <a:srgbClr val="E2D6D9"/>
                      </a:solidFill>
                      <a:prstDash val="solid"/>
                      <a:round/>
                      <a:headEnd type="none" w="med" len="med"/>
                      <a:tailEnd type="none" w="med" len="med"/>
                    </a:lnL>
                    <a:lnR w="9525" cap="flat" cmpd="sng" algn="ctr">
                      <a:solidFill>
                        <a:srgbClr val="E2D6D9"/>
                      </a:solidFill>
                      <a:prstDash val="solid"/>
                      <a:round/>
                      <a:headEnd type="none" w="med" len="med"/>
                      <a:tailEnd type="none" w="med" len="med"/>
                    </a:lnR>
                    <a:lnT w="9525" cap="flat" cmpd="sng" algn="ctr">
                      <a:solidFill>
                        <a:srgbClr val="E2D6D9"/>
                      </a:solidFill>
                      <a:prstDash val="solid"/>
                      <a:round/>
                      <a:headEnd type="none" w="med" len="med"/>
                      <a:tailEnd type="none" w="med" len="med"/>
                    </a:lnT>
                    <a:lnB w="9525" cap="flat" cmpd="sng" algn="ctr">
                      <a:solidFill>
                        <a:srgbClr val="E2D6D9"/>
                      </a:solidFill>
                      <a:prstDash val="solid"/>
                      <a:round/>
                      <a:headEnd type="none" w="med" len="med"/>
                      <a:tailEnd type="none" w="med" len="med"/>
                    </a:lnB>
                    <a:solidFill>
                      <a:schemeClr val="accent1"/>
                    </a:solidFill>
                  </a:tcPr>
                </a:tc>
              </a:tr>
              <a:tr h="502920">
                <a:tc>
                  <a:txBody>
                    <a:bodyPr/>
                    <a:lstStyle/>
                    <a:p>
                      <a:pPr indent="0" marL="0">
                        <a:buNone/>
                      </a:pPr>
                      <a:r>
                        <a:rPr lang="en-US" sz="1400" b="1" dirty="0">
                          <a:solidFill>
                            <a:srgbClr val="3A2E31"/>
                          </a:solidFill>
                          <a:latin typeface="Calibri" pitchFamily="34" charset="0"/>
                          <a:ea typeface="Calibri" pitchFamily="34" charset="-122"/>
                          <a:cs typeface="Calibri" pitchFamily="34" charset="-120"/>
                        </a:rPr>
                        <a:t>DistilBERT, 20k</a:t>
                      </a:r>
                      <a:endParaRPr lang="en-US" sz="1400" dirty="0">
                        <a:latin typeface="Calibri" charset="0"/>
                        <a:ea typeface="Calibri" charset="0"/>
                        <a:cs typeface="Calibri" charset="0"/>
                      </a:endParaRPr>
                    </a:p>
                  </a:txBody>
                  <a:tcPr marL="91440" marR="91440" marT="45720" marB="45720" anchor="ctr">
                    <a:lnL w="9525" cap="flat" cmpd="sng" algn="ctr">
                      <a:solidFill>
                        <a:srgbClr val="E2D6D9"/>
                      </a:solidFill>
                      <a:prstDash val="solid"/>
                      <a:round/>
                      <a:headEnd type="none" w="med" len="med"/>
                      <a:tailEnd type="none" w="med" len="med"/>
                    </a:lnL>
                    <a:lnR w="9525" cap="flat" cmpd="sng" algn="ctr">
                      <a:solidFill>
                        <a:srgbClr val="E2D6D9"/>
                      </a:solidFill>
                      <a:prstDash val="solid"/>
                      <a:round/>
                      <a:headEnd type="none" w="med" len="med"/>
                      <a:tailEnd type="none" w="med" len="med"/>
                    </a:lnR>
                    <a:lnT w="9525" cap="flat" cmpd="sng" algn="ctr">
                      <a:solidFill>
                        <a:srgbClr val="E2D6D9"/>
                      </a:solidFill>
                      <a:prstDash val="solid"/>
                      <a:round/>
                      <a:headEnd type="none" w="med" len="med"/>
                      <a:tailEnd type="none" w="med" len="med"/>
                    </a:lnT>
                    <a:lnB w="9525" cap="flat" cmpd="sng" algn="ctr">
                      <a:solidFill>
                        <a:srgbClr val="E2D6D9"/>
                      </a:solidFill>
                      <a:prstDash val="solid"/>
                      <a:round/>
                      <a:headEnd type="none" w="med" len="med"/>
                      <a:tailEnd type="none" w="med" len="med"/>
                    </a:lnB>
                    <a:solidFill>
                      <a:srgbClr val="F7EFF1"/>
                    </a:solidFill>
                  </a:tcPr>
                </a:tc>
                <a:tc>
                  <a:txBody>
                    <a:bodyPr/>
                    <a:lstStyle/>
                    <a:p>
                      <a:pPr algn="ctr" indent="0" marL="0">
                        <a:buNone/>
                      </a:pPr>
                      <a:r>
                        <a:rPr lang="en-US" sz="1400" dirty="0">
                          <a:solidFill>
                            <a:srgbClr val="3A2E31"/>
                          </a:solidFill>
                          <a:latin typeface="Calibri" pitchFamily="34" charset="0"/>
                          <a:ea typeface="Calibri" pitchFamily="34" charset="-122"/>
                          <a:cs typeface="Calibri" pitchFamily="34" charset="-120"/>
                        </a:rPr>
                        <a:t>20,000</a:t>
                      </a:r>
                      <a:endParaRPr lang="en-US" sz="1400" dirty="0">
                        <a:latin typeface="Calibri" charset="0"/>
                        <a:ea typeface="Calibri" charset="0"/>
                        <a:cs typeface="Calibri" charset="0"/>
                      </a:endParaRPr>
                    </a:p>
                  </a:txBody>
                  <a:tcPr marL="91440" marR="91440" marT="45720" marB="45720" anchor="ctr">
                    <a:lnL w="9525" cap="flat" cmpd="sng" algn="ctr">
                      <a:solidFill>
                        <a:srgbClr val="E2D6D9"/>
                      </a:solidFill>
                      <a:prstDash val="solid"/>
                      <a:round/>
                      <a:headEnd type="none" w="med" len="med"/>
                      <a:tailEnd type="none" w="med" len="med"/>
                    </a:lnL>
                    <a:lnR w="9525" cap="flat" cmpd="sng" algn="ctr">
                      <a:solidFill>
                        <a:srgbClr val="E2D6D9"/>
                      </a:solidFill>
                      <a:prstDash val="solid"/>
                      <a:round/>
                      <a:headEnd type="none" w="med" len="med"/>
                      <a:tailEnd type="none" w="med" len="med"/>
                    </a:lnR>
                    <a:lnT w="9525" cap="flat" cmpd="sng" algn="ctr">
                      <a:solidFill>
                        <a:srgbClr val="E2D6D9"/>
                      </a:solidFill>
                      <a:prstDash val="solid"/>
                      <a:round/>
                      <a:headEnd type="none" w="med" len="med"/>
                      <a:tailEnd type="none" w="med" len="med"/>
                    </a:lnT>
                    <a:lnB w="9525" cap="flat" cmpd="sng" algn="ctr">
                      <a:solidFill>
                        <a:srgbClr val="E2D6D9"/>
                      </a:solidFill>
                      <a:prstDash val="solid"/>
                      <a:round/>
                      <a:headEnd type="none" w="med" len="med"/>
                      <a:tailEnd type="none" w="med" len="med"/>
                    </a:lnB>
                    <a:solidFill>
                      <a:srgbClr val="F7EFF1"/>
                    </a:solidFill>
                  </a:tcPr>
                </a:tc>
                <a:tc>
                  <a:txBody>
                    <a:bodyPr/>
                    <a:lstStyle/>
                    <a:p>
                      <a:pPr algn="ctr" indent="0" marL="0">
                        <a:buNone/>
                      </a:pPr>
                      <a:r>
                        <a:rPr lang="en-US" sz="1400" dirty="0">
                          <a:solidFill>
                            <a:srgbClr val="3A2E31"/>
                          </a:solidFill>
                          <a:latin typeface="Calibri" pitchFamily="34" charset="0"/>
                          <a:ea typeface="Calibri" pitchFamily="34" charset="-122"/>
                          <a:cs typeface="Calibri" pitchFamily="34" charset="-120"/>
                        </a:rPr>
                        <a:t>2</a:t>
                      </a:r>
                      <a:endParaRPr lang="en-US" sz="1400" dirty="0">
                        <a:latin typeface="Calibri" charset="0"/>
                        <a:ea typeface="Calibri" charset="0"/>
                        <a:cs typeface="Calibri" charset="0"/>
                      </a:endParaRPr>
                    </a:p>
                  </a:txBody>
                  <a:tcPr marL="91440" marR="91440" marT="45720" marB="45720" anchor="ctr">
                    <a:lnL w="9525" cap="flat" cmpd="sng" algn="ctr">
                      <a:solidFill>
                        <a:srgbClr val="E2D6D9"/>
                      </a:solidFill>
                      <a:prstDash val="solid"/>
                      <a:round/>
                      <a:headEnd type="none" w="med" len="med"/>
                      <a:tailEnd type="none" w="med" len="med"/>
                    </a:lnL>
                    <a:lnR w="9525" cap="flat" cmpd="sng" algn="ctr">
                      <a:solidFill>
                        <a:srgbClr val="E2D6D9"/>
                      </a:solidFill>
                      <a:prstDash val="solid"/>
                      <a:round/>
                      <a:headEnd type="none" w="med" len="med"/>
                      <a:tailEnd type="none" w="med" len="med"/>
                    </a:lnR>
                    <a:lnT w="9525" cap="flat" cmpd="sng" algn="ctr">
                      <a:solidFill>
                        <a:srgbClr val="E2D6D9"/>
                      </a:solidFill>
                      <a:prstDash val="solid"/>
                      <a:round/>
                      <a:headEnd type="none" w="med" len="med"/>
                      <a:tailEnd type="none" w="med" len="med"/>
                    </a:lnT>
                    <a:lnB w="9525" cap="flat" cmpd="sng" algn="ctr">
                      <a:solidFill>
                        <a:srgbClr val="E2D6D9"/>
                      </a:solidFill>
                      <a:prstDash val="solid"/>
                      <a:round/>
                      <a:headEnd type="none" w="med" len="med"/>
                      <a:tailEnd type="none" w="med" len="med"/>
                    </a:lnB>
                    <a:solidFill>
                      <a:srgbClr val="F7EFF1"/>
                    </a:solidFill>
                  </a:tcPr>
                </a:tc>
                <a:tc>
                  <a:txBody>
                    <a:bodyPr/>
                    <a:lstStyle/>
                    <a:p>
                      <a:pPr algn="ctr" indent="0" marL="0">
                        <a:buNone/>
                      </a:pPr>
                      <a:r>
                        <a:rPr lang="en-US" sz="1400" dirty="0">
                          <a:solidFill>
                            <a:srgbClr val="3A2E31"/>
                          </a:solidFill>
                          <a:latin typeface="Calibri" pitchFamily="34" charset="0"/>
                          <a:ea typeface="Calibri" pitchFamily="34" charset="-122"/>
                          <a:cs typeface="Calibri" pitchFamily="34" charset="-120"/>
                        </a:rPr>
                        <a:t>16</a:t>
                      </a:r>
                      <a:endParaRPr lang="en-US" sz="1400" dirty="0">
                        <a:latin typeface="Calibri" charset="0"/>
                        <a:ea typeface="Calibri" charset="0"/>
                        <a:cs typeface="Calibri" charset="0"/>
                      </a:endParaRPr>
                    </a:p>
                  </a:txBody>
                  <a:tcPr marL="91440" marR="91440" marT="45720" marB="45720" anchor="ctr">
                    <a:lnL w="9525" cap="flat" cmpd="sng" algn="ctr">
                      <a:solidFill>
                        <a:srgbClr val="E2D6D9"/>
                      </a:solidFill>
                      <a:prstDash val="solid"/>
                      <a:round/>
                      <a:headEnd type="none" w="med" len="med"/>
                      <a:tailEnd type="none" w="med" len="med"/>
                    </a:lnL>
                    <a:lnR w="9525" cap="flat" cmpd="sng" algn="ctr">
                      <a:solidFill>
                        <a:srgbClr val="E2D6D9"/>
                      </a:solidFill>
                      <a:prstDash val="solid"/>
                      <a:round/>
                      <a:headEnd type="none" w="med" len="med"/>
                      <a:tailEnd type="none" w="med" len="med"/>
                    </a:lnR>
                    <a:lnT w="9525" cap="flat" cmpd="sng" algn="ctr">
                      <a:solidFill>
                        <a:srgbClr val="E2D6D9"/>
                      </a:solidFill>
                      <a:prstDash val="solid"/>
                      <a:round/>
                      <a:headEnd type="none" w="med" len="med"/>
                      <a:tailEnd type="none" w="med" len="med"/>
                    </a:lnT>
                    <a:lnB w="9525" cap="flat" cmpd="sng" algn="ctr">
                      <a:solidFill>
                        <a:srgbClr val="E2D6D9"/>
                      </a:solidFill>
                      <a:prstDash val="solid"/>
                      <a:round/>
                      <a:headEnd type="none" w="med" len="med"/>
                      <a:tailEnd type="none" w="med" len="med"/>
                    </a:lnB>
                    <a:solidFill>
                      <a:srgbClr val="F7EFF1"/>
                    </a:solidFill>
                  </a:tcPr>
                </a:tc>
                <a:tc>
                  <a:txBody>
                    <a:bodyPr/>
                    <a:lstStyle/>
                    <a:p>
                      <a:pPr algn="ctr" indent="0" marL="0">
                        <a:buNone/>
                      </a:pPr>
                      <a:r>
                        <a:rPr lang="en-US" sz="1400" dirty="0">
                          <a:solidFill>
                            <a:srgbClr val="3A2E31"/>
                          </a:solidFill>
                          <a:latin typeface="Calibri" pitchFamily="34" charset="0"/>
                          <a:ea typeface="Calibri" pitchFamily="34" charset="-122"/>
                          <a:cs typeface="Calibri" pitchFamily="34" charset="-120"/>
                        </a:rPr>
                        <a:t>3 × 10⁻⁵</a:t>
                      </a:r>
                      <a:endParaRPr lang="en-US" sz="1400" dirty="0">
                        <a:latin typeface="Calibri" charset="0"/>
                        <a:ea typeface="Calibri" charset="0"/>
                        <a:cs typeface="Calibri" charset="0"/>
                      </a:endParaRPr>
                    </a:p>
                  </a:txBody>
                  <a:tcPr marL="91440" marR="91440" marT="45720" marB="45720" anchor="ctr">
                    <a:lnL w="9525" cap="flat" cmpd="sng" algn="ctr">
                      <a:solidFill>
                        <a:srgbClr val="E2D6D9"/>
                      </a:solidFill>
                      <a:prstDash val="solid"/>
                      <a:round/>
                      <a:headEnd type="none" w="med" len="med"/>
                      <a:tailEnd type="none" w="med" len="med"/>
                    </a:lnL>
                    <a:lnR w="9525" cap="flat" cmpd="sng" algn="ctr">
                      <a:solidFill>
                        <a:srgbClr val="E2D6D9"/>
                      </a:solidFill>
                      <a:prstDash val="solid"/>
                      <a:round/>
                      <a:headEnd type="none" w="med" len="med"/>
                      <a:tailEnd type="none" w="med" len="med"/>
                    </a:lnR>
                    <a:lnT w="9525" cap="flat" cmpd="sng" algn="ctr">
                      <a:solidFill>
                        <a:srgbClr val="E2D6D9"/>
                      </a:solidFill>
                      <a:prstDash val="solid"/>
                      <a:round/>
                      <a:headEnd type="none" w="med" len="med"/>
                      <a:tailEnd type="none" w="med" len="med"/>
                    </a:lnT>
                    <a:lnB w="9525" cap="flat" cmpd="sng" algn="ctr">
                      <a:solidFill>
                        <a:srgbClr val="E2D6D9"/>
                      </a:solidFill>
                      <a:prstDash val="solid"/>
                      <a:round/>
                      <a:headEnd type="none" w="med" len="med"/>
                      <a:tailEnd type="none" w="med" len="med"/>
                    </a:lnB>
                    <a:solidFill>
                      <a:srgbClr val="F7EFF1"/>
                    </a:solidFill>
                  </a:tcPr>
                </a:tc>
                <a:tc>
                  <a:txBody>
                    <a:bodyPr/>
                    <a:lstStyle/>
                    <a:p>
                      <a:pPr algn="ctr" indent="0" marL="0">
                        <a:buNone/>
                      </a:pPr>
                      <a:r>
                        <a:rPr lang="en-US" sz="1400" dirty="0">
                          <a:solidFill>
                            <a:srgbClr val="3A2E31"/>
                          </a:solidFill>
                          <a:latin typeface="Calibri" pitchFamily="34" charset="0"/>
                          <a:ea typeface="Calibri" pitchFamily="34" charset="-122"/>
                          <a:cs typeface="Calibri" pitchFamily="34" charset="-120"/>
                        </a:rPr>
                        <a:t>Laptop GPU (M3 Pro)</a:t>
                      </a:r>
                      <a:endParaRPr lang="en-US" sz="1400" dirty="0">
                        <a:latin typeface="Calibri" charset="0"/>
                        <a:ea typeface="Calibri" charset="0"/>
                        <a:cs typeface="Calibri" charset="0"/>
                      </a:endParaRPr>
                    </a:p>
                  </a:txBody>
                  <a:tcPr marL="91440" marR="91440" marT="45720" marB="45720" anchor="ctr">
                    <a:lnL w="9525" cap="flat" cmpd="sng" algn="ctr">
                      <a:solidFill>
                        <a:srgbClr val="E2D6D9"/>
                      </a:solidFill>
                      <a:prstDash val="solid"/>
                      <a:round/>
                      <a:headEnd type="none" w="med" len="med"/>
                      <a:tailEnd type="none" w="med" len="med"/>
                    </a:lnL>
                    <a:lnR w="9525" cap="flat" cmpd="sng" algn="ctr">
                      <a:solidFill>
                        <a:srgbClr val="E2D6D9"/>
                      </a:solidFill>
                      <a:prstDash val="solid"/>
                      <a:round/>
                      <a:headEnd type="none" w="med" len="med"/>
                      <a:tailEnd type="none" w="med" len="med"/>
                    </a:lnR>
                    <a:lnT w="9525" cap="flat" cmpd="sng" algn="ctr">
                      <a:solidFill>
                        <a:srgbClr val="E2D6D9"/>
                      </a:solidFill>
                      <a:prstDash val="solid"/>
                      <a:round/>
                      <a:headEnd type="none" w="med" len="med"/>
                      <a:tailEnd type="none" w="med" len="med"/>
                    </a:lnT>
                    <a:lnB w="9525" cap="flat" cmpd="sng" algn="ctr">
                      <a:solidFill>
                        <a:srgbClr val="E2D6D9"/>
                      </a:solidFill>
                      <a:prstDash val="solid"/>
                      <a:round/>
                      <a:headEnd type="none" w="med" len="med"/>
                      <a:tailEnd type="none" w="med" len="med"/>
                    </a:lnB>
                    <a:solidFill>
                      <a:srgbClr val="F7EFF1"/>
                    </a:solidFill>
                  </a:tcPr>
                </a:tc>
                <a:tc>
                  <a:txBody>
                    <a:bodyPr/>
                    <a:lstStyle/>
                    <a:p>
                      <a:pPr algn="ctr" indent="0" marL="0">
                        <a:buNone/>
                      </a:pPr>
                      <a:r>
                        <a:rPr lang="en-US" sz="1400" dirty="0">
                          <a:solidFill>
                            <a:srgbClr val="3A2E31"/>
                          </a:solidFill>
                          <a:latin typeface="Calibri" pitchFamily="34" charset="0"/>
                          <a:ea typeface="Calibri" pitchFamily="34" charset="-122"/>
                          <a:cs typeface="Calibri" pitchFamily="34" charset="-120"/>
                        </a:rPr>
                        <a:t>47 min total</a:t>
                      </a:r>
                      <a:endParaRPr lang="en-US" sz="1400" dirty="0">
                        <a:latin typeface="Calibri" charset="0"/>
                        <a:ea typeface="Calibri" charset="0"/>
                        <a:cs typeface="Calibri" charset="0"/>
                      </a:endParaRPr>
                    </a:p>
                  </a:txBody>
                  <a:tcPr marL="91440" marR="91440" marT="45720" marB="45720" anchor="ctr">
                    <a:lnL w="9525" cap="flat" cmpd="sng" algn="ctr">
                      <a:solidFill>
                        <a:srgbClr val="E2D6D9"/>
                      </a:solidFill>
                      <a:prstDash val="solid"/>
                      <a:round/>
                      <a:headEnd type="none" w="med" len="med"/>
                      <a:tailEnd type="none" w="med" len="med"/>
                    </a:lnL>
                    <a:lnR w="9525" cap="flat" cmpd="sng" algn="ctr">
                      <a:solidFill>
                        <a:srgbClr val="E2D6D9"/>
                      </a:solidFill>
                      <a:prstDash val="solid"/>
                      <a:round/>
                      <a:headEnd type="none" w="med" len="med"/>
                      <a:tailEnd type="none" w="med" len="med"/>
                    </a:lnR>
                    <a:lnT w="9525" cap="flat" cmpd="sng" algn="ctr">
                      <a:solidFill>
                        <a:srgbClr val="E2D6D9"/>
                      </a:solidFill>
                      <a:prstDash val="solid"/>
                      <a:round/>
                      <a:headEnd type="none" w="med" len="med"/>
                      <a:tailEnd type="none" w="med" len="med"/>
                    </a:lnT>
                    <a:lnB w="9525" cap="flat" cmpd="sng" algn="ctr">
                      <a:solidFill>
                        <a:srgbClr val="E2D6D9"/>
                      </a:solidFill>
                      <a:prstDash val="solid"/>
                      <a:round/>
                      <a:headEnd type="none" w="med" len="med"/>
                      <a:tailEnd type="none" w="med" len="med"/>
                    </a:lnB>
                    <a:solidFill>
                      <a:srgbClr val="F7EFF1"/>
                    </a:solidFill>
                  </a:tcPr>
                </a:tc>
                <a:tc>
                  <a:txBody>
                    <a:bodyPr/>
                    <a:lstStyle/>
                    <a:p>
                      <a:pPr algn="ctr" indent="0" marL="0">
                        <a:buNone/>
                      </a:pPr>
                      <a:r>
                        <a:rPr lang="en-US" sz="1400" dirty="0">
                          <a:solidFill>
                            <a:srgbClr val="3A2E31"/>
                          </a:solidFill>
                          <a:latin typeface="Calibri" pitchFamily="34" charset="0"/>
                          <a:ea typeface="Calibri" pitchFamily="34" charset="-122"/>
                          <a:cs typeface="Calibri" pitchFamily="34" charset="-120"/>
                        </a:rPr>
                        <a:t>free</a:t>
                      </a:r>
                      <a:endParaRPr lang="en-US" sz="1400" dirty="0">
                        <a:latin typeface="Calibri" charset="0"/>
                        <a:ea typeface="Calibri" charset="0"/>
                        <a:cs typeface="Calibri" charset="0"/>
                      </a:endParaRPr>
                    </a:p>
                  </a:txBody>
                  <a:tcPr marL="91440" marR="91440" marT="45720" marB="45720" anchor="ctr">
                    <a:lnL w="9525" cap="flat" cmpd="sng" algn="ctr">
                      <a:solidFill>
                        <a:srgbClr val="E2D6D9"/>
                      </a:solidFill>
                      <a:prstDash val="solid"/>
                      <a:round/>
                      <a:headEnd type="none" w="med" len="med"/>
                      <a:tailEnd type="none" w="med" len="med"/>
                    </a:lnL>
                    <a:lnR w="9525" cap="flat" cmpd="sng" algn="ctr">
                      <a:solidFill>
                        <a:srgbClr val="E2D6D9"/>
                      </a:solidFill>
                      <a:prstDash val="solid"/>
                      <a:round/>
                      <a:headEnd type="none" w="med" len="med"/>
                      <a:tailEnd type="none" w="med" len="med"/>
                    </a:lnR>
                    <a:lnT w="9525" cap="flat" cmpd="sng" algn="ctr">
                      <a:solidFill>
                        <a:srgbClr val="E2D6D9"/>
                      </a:solidFill>
                      <a:prstDash val="solid"/>
                      <a:round/>
                      <a:headEnd type="none" w="med" len="med"/>
                      <a:tailEnd type="none" w="med" len="med"/>
                    </a:lnT>
                    <a:lnB w="9525" cap="flat" cmpd="sng" algn="ctr">
                      <a:solidFill>
                        <a:srgbClr val="E2D6D9"/>
                      </a:solidFill>
                      <a:prstDash val="solid"/>
                      <a:round/>
                      <a:headEnd type="none" w="med" len="med"/>
                      <a:tailEnd type="none" w="med" len="med"/>
                    </a:lnB>
                    <a:solidFill>
                      <a:srgbClr val="F7EFF1"/>
                    </a:solidFill>
                  </a:tcPr>
                </a:tc>
              </a:tr>
              <a:tr h="502920">
                <a:tc>
                  <a:txBody>
                    <a:bodyPr/>
                    <a:lstStyle/>
                    <a:p>
                      <a:pPr indent="0" marL="0">
                        <a:buNone/>
                      </a:pPr>
                      <a:r>
                        <a:rPr lang="en-US" sz="1400" b="1" dirty="0">
                          <a:solidFill>
                            <a:srgbClr val="3A2E31"/>
                          </a:solidFill>
                          <a:latin typeface="Calibri" pitchFamily="34" charset="0"/>
                          <a:ea typeface="Calibri" pitchFamily="34" charset="-122"/>
                          <a:cs typeface="Calibri" pitchFamily="34" charset="-120"/>
                        </a:rPr>
                        <a:t>DistilBERT, +1M</a:t>
                      </a:r>
                      <a:endParaRPr lang="en-US" sz="1400" dirty="0">
                        <a:latin typeface="Calibri" charset="0"/>
                        <a:ea typeface="Calibri" charset="0"/>
                        <a:cs typeface="Calibri" charset="0"/>
                      </a:endParaRPr>
                    </a:p>
                  </a:txBody>
                  <a:tcPr marL="91440" marR="91440" marT="45720" marB="45720" anchor="ctr">
                    <a:lnL w="9525" cap="flat" cmpd="sng" algn="ctr">
                      <a:solidFill>
                        <a:srgbClr val="E2D6D9"/>
                      </a:solidFill>
                      <a:prstDash val="solid"/>
                      <a:round/>
                      <a:headEnd type="none" w="med" len="med"/>
                      <a:tailEnd type="none" w="med" len="med"/>
                    </a:lnL>
                    <a:lnR w="9525" cap="flat" cmpd="sng" algn="ctr">
                      <a:solidFill>
                        <a:srgbClr val="E2D6D9"/>
                      </a:solidFill>
                      <a:prstDash val="solid"/>
                      <a:round/>
                      <a:headEnd type="none" w="med" len="med"/>
                      <a:tailEnd type="none" w="med" len="med"/>
                    </a:lnR>
                    <a:lnT w="9525" cap="flat" cmpd="sng" algn="ctr">
                      <a:solidFill>
                        <a:srgbClr val="E2D6D9"/>
                      </a:solidFill>
                      <a:prstDash val="solid"/>
                      <a:round/>
                      <a:headEnd type="none" w="med" len="med"/>
                      <a:tailEnd type="none" w="med" len="med"/>
                    </a:lnT>
                    <a:lnB w="9525" cap="flat" cmpd="sng" algn="ctr">
                      <a:solidFill>
                        <a:srgbClr val="E2D6D9"/>
                      </a:solidFill>
                      <a:prstDash val="solid"/>
                      <a:round/>
                      <a:headEnd type="none" w="med" len="med"/>
                      <a:tailEnd type="none" w="med" len="med"/>
                    </a:lnB>
                    <a:solidFill>
                      <a:srgbClr val="F7EFF1"/>
                    </a:solidFill>
                  </a:tcPr>
                </a:tc>
                <a:tc>
                  <a:txBody>
                    <a:bodyPr/>
                    <a:lstStyle/>
                    <a:p>
                      <a:pPr algn="ctr" indent="0" marL="0">
                        <a:buNone/>
                      </a:pPr>
                      <a:r>
                        <a:rPr lang="en-US" sz="1400" dirty="0">
                          <a:solidFill>
                            <a:srgbClr val="3A2E31"/>
                          </a:solidFill>
                          <a:latin typeface="Calibri" pitchFamily="34" charset="0"/>
                          <a:ea typeface="Calibri" pitchFamily="34" charset="-122"/>
                          <a:cs typeface="Calibri" pitchFamily="34" charset="-120"/>
                        </a:rPr>
                        <a:t>1,020,000</a:t>
                      </a:r>
                      <a:endParaRPr lang="en-US" sz="1400" dirty="0">
                        <a:latin typeface="Calibri" charset="0"/>
                        <a:ea typeface="Calibri" charset="0"/>
                        <a:cs typeface="Calibri" charset="0"/>
                      </a:endParaRPr>
                    </a:p>
                  </a:txBody>
                  <a:tcPr marL="91440" marR="91440" marT="45720" marB="45720" anchor="ctr">
                    <a:lnL w="9525" cap="flat" cmpd="sng" algn="ctr">
                      <a:solidFill>
                        <a:srgbClr val="E2D6D9"/>
                      </a:solidFill>
                      <a:prstDash val="solid"/>
                      <a:round/>
                      <a:headEnd type="none" w="med" len="med"/>
                      <a:tailEnd type="none" w="med" len="med"/>
                    </a:lnL>
                    <a:lnR w="9525" cap="flat" cmpd="sng" algn="ctr">
                      <a:solidFill>
                        <a:srgbClr val="E2D6D9"/>
                      </a:solidFill>
                      <a:prstDash val="solid"/>
                      <a:round/>
                      <a:headEnd type="none" w="med" len="med"/>
                      <a:tailEnd type="none" w="med" len="med"/>
                    </a:lnR>
                    <a:lnT w="9525" cap="flat" cmpd="sng" algn="ctr">
                      <a:solidFill>
                        <a:srgbClr val="E2D6D9"/>
                      </a:solidFill>
                      <a:prstDash val="solid"/>
                      <a:round/>
                      <a:headEnd type="none" w="med" len="med"/>
                      <a:tailEnd type="none" w="med" len="med"/>
                    </a:lnT>
                    <a:lnB w="9525" cap="flat" cmpd="sng" algn="ctr">
                      <a:solidFill>
                        <a:srgbClr val="E2D6D9"/>
                      </a:solidFill>
                      <a:prstDash val="solid"/>
                      <a:round/>
                      <a:headEnd type="none" w="med" len="med"/>
                      <a:tailEnd type="none" w="med" len="med"/>
                    </a:lnB>
                    <a:solidFill>
                      <a:srgbClr val="F7EFF1"/>
                    </a:solidFill>
                  </a:tcPr>
                </a:tc>
                <a:tc>
                  <a:txBody>
                    <a:bodyPr/>
                    <a:lstStyle/>
                    <a:p>
                      <a:pPr algn="ctr" indent="0" marL="0">
                        <a:buNone/>
                      </a:pPr>
                      <a:r>
                        <a:rPr lang="en-US" sz="1400" dirty="0">
                          <a:solidFill>
                            <a:srgbClr val="3A2E31"/>
                          </a:solidFill>
                          <a:latin typeface="Calibri" pitchFamily="34" charset="0"/>
                          <a:ea typeface="Calibri" pitchFamily="34" charset="-122"/>
                          <a:cs typeface="Calibri" pitchFamily="34" charset="-120"/>
                        </a:rPr>
                        <a:t>1</a:t>
                      </a:r>
                      <a:endParaRPr lang="en-US" sz="1400" dirty="0">
                        <a:latin typeface="Calibri" charset="0"/>
                        <a:ea typeface="Calibri" charset="0"/>
                        <a:cs typeface="Calibri" charset="0"/>
                      </a:endParaRPr>
                    </a:p>
                  </a:txBody>
                  <a:tcPr marL="91440" marR="91440" marT="45720" marB="45720" anchor="ctr">
                    <a:lnL w="9525" cap="flat" cmpd="sng" algn="ctr">
                      <a:solidFill>
                        <a:srgbClr val="E2D6D9"/>
                      </a:solidFill>
                      <a:prstDash val="solid"/>
                      <a:round/>
                      <a:headEnd type="none" w="med" len="med"/>
                      <a:tailEnd type="none" w="med" len="med"/>
                    </a:lnL>
                    <a:lnR w="9525" cap="flat" cmpd="sng" algn="ctr">
                      <a:solidFill>
                        <a:srgbClr val="E2D6D9"/>
                      </a:solidFill>
                      <a:prstDash val="solid"/>
                      <a:round/>
                      <a:headEnd type="none" w="med" len="med"/>
                      <a:tailEnd type="none" w="med" len="med"/>
                    </a:lnR>
                    <a:lnT w="9525" cap="flat" cmpd="sng" algn="ctr">
                      <a:solidFill>
                        <a:srgbClr val="E2D6D9"/>
                      </a:solidFill>
                      <a:prstDash val="solid"/>
                      <a:round/>
                      <a:headEnd type="none" w="med" len="med"/>
                      <a:tailEnd type="none" w="med" len="med"/>
                    </a:lnT>
                    <a:lnB w="9525" cap="flat" cmpd="sng" algn="ctr">
                      <a:solidFill>
                        <a:srgbClr val="E2D6D9"/>
                      </a:solidFill>
                      <a:prstDash val="solid"/>
                      <a:round/>
                      <a:headEnd type="none" w="med" len="med"/>
                      <a:tailEnd type="none" w="med" len="med"/>
                    </a:lnB>
                    <a:solidFill>
                      <a:srgbClr val="F7EFF1"/>
                    </a:solidFill>
                  </a:tcPr>
                </a:tc>
                <a:tc>
                  <a:txBody>
                    <a:bodyPr/>
                    <a:lstStyle/>
                    <a:p>
                      <a:pPr algn="ctr" indent="0" marL="0">
                        <a:buNone/>
                      </a:pPr>
                      <a:r>
                        <a:rPr lang="en-US" sz="1400" dirty="0">
                          <a:solidFill>
                            <a:srgbClr val="3A2E31"/>
                          </a:solidFill>
                          <a:latin typeface="Calibri" pitchFamily="34" charset="0"/>
                          <a:ea typeface="Calibri" pitchFamily="34" charset="-122"/>
                          <a:cs typeface="Calibri" pitchFamily="34" charset="-120"/>
                        </a:rPr>
                        <a:t>32</a:t>
                      </a:r>
                      <a:endParaRPr lang="en-US" sz="1400" dirty="0">
                        <a:latin typeface="Calibri" charset="0"/>
                        <a:ea typeface="Calibri" charset="0"/>
                        <a:cs typeface="Calibri" charset="0"/>
                      </a:endParaRPr>
                    </a:p>
                  </a:txBody>
                  <a:tcPr marL="91440" marR="91440" marT="45720" marB="45720" anchor="ctr">
                    <a:lnL w="9525" cap="flat" cmpd="sng" algn="ctr">
                      <a:solidFill>
                        <a:srgbClr val="E2D6D9"/>
                      </a:solidFill>
                      <a:prstDash val="solid"/>
                      <a:round/>
                      <a:headEnd type="none" w="med" len="med"/>
                      <a:tailEnd type="none" w="med" len="med"/>
                    </a:lnL>
                    <a:lnR w="9525" cap="flat" cmpd="sng" algn="ctr">
                      <a:solidFill>
                        <a:srgbClr val="E2D6D9"/>
                      </a:solidFill>
                      <a:prstDash val="solid"/>
                      <a:round/>
                      <a:headEnd type="none" w="med" len="med"/>
                      <a:tailEnd type="none" w="med" len="med"/>
                    </a:lnR>
                    <a:lnT w="9525" cap="flat" cmpd="sng" algn="ctr">
                      <a:solidFill>
                        <a:srgbClr val="E2D6D9"/>
                      </a:solidFill>
                      <a:prstDash val="solid"/>
                      <a:round/>
                      <a:headEnd type="none" w="med" len="med"/>
                      <a:tailEnd type="none" w="med" len="med"/>
                    </a:lnT>
                    <a:lnB w="9525" cap="flat" cmpd="sng" algn="ctr">
                      <a:solidFill>
                        <a:srgbClr val="E2D6D9"/>
                      </a:solidFill>
                      <a:prstDash val="solid"/>
                      <a:round/>
                      <a:headEnd type="none" w="med" len="med"/>
                      <a:tailEnd type="none" w="med" len="med"/>
                    </a:lnB>
                    <a:solidFill>
                      <a:srgbClr val="F7EFF1"/>
                    </a:solidFill>
                  </a:tcPr>
                </a:tc>
                <a:tc>
                  <a:txBody>
                    <a:bodyPr/>
                    <a:lstStyle/>
                    <a:p>
                      <a:pPr algn="ctr" indent="0" marL="0">
                        <a:buNone/>
                      </a:pPr>
                      <a:r>
                        <a:rPr lang="en-US" sz="1400" dirty="0">
                          <a:solidFill>
                            <a:srgbClr val="3A2E31"/>
                          </a:solidFill>
                          <a:latin typeface="Calibri" pitchFamily="34" charset="0"/>
                          <a:ea typeface="Calibri" pitchFamily="34" charset="-122"/>
                          <a:cs typeface="Calibri" pitchFamily="34" charset="-120"/>
                        </a:rPr>
                        <a:t>3 × 10⁻⁵</a:t>
                      </a:r>
                      <a:endParaRPr lang="en-US" sz="1400" dirty="0">
                        <a:latin typeface="Calibri" charset="0"/>
                        <a:ea typeface="Calibri" charset="0"/>
                        <a:cs typeface="Calibri" charset="0"/>
                      </a:endParaRPr>
                    </a:p>
                  </a:txBody>
                  <a:tcPr marL="91440" marR="91440" marT="45720" marB="45720" anchor="ctr">
                    <a:lnL w="9525" cap="flat" cmpd="sng" algn="ctr">
                      <a:solidFill>
                        <a:srgbClr val="E2D6D9"/>
                      </a:solidFill>
                      <a:prstDash val="solid"/>
                      <a:round/>
                      <a:headEnd type="none" w="med" len="med"/>
                      <a:tailEnd type="none" w="med" len="med"/>
                    </a:lnL>
                    <a:lnR w="9525" cap="flat" cmpd="sng" algn="ctr">
                      <a:solidFill>
                        <a:srgbClr val="E2D6D9"/>
                      </a:solidFill>
                      <a:prstDash val="solid"/>
                      <a:round/>
                      <a:headEnd type="none" w="med" len="med"/>
                      <a:tailEnd type="none" w="med" len="med"/>
                    </a:lnR>
                    <a:lnT w="9525" cap="flat" cmpd="sng" algn="ctr">
                      <a:solidFill>
                        <a:srgbClr val="E2D6D9"/>
                      </a:solidFill>
                      <a:prstDash val="solid"/>
                      <a:round/>
                      <a:headEnd type="none" w="med" len="med"/>
                      <a:tailEnd type="none" w="med" len="med"/>
                    </a:lnT>
                    <a:lnB w="9525" cap="flat" cmpd="sng" algn="ctr">
                      <a:solidFill>
                        <a:srgbClr val="E2D6D9"/>
                      </a:solidFill>
                      <a:prstDash val="solid"/>
                      <a:round/>
                      <a:headEnd type="none" w="med" len="med"/>
                      <a:tailEnd type="none" w="med" len="med"/>
                    </a:lnB>
                    <a:solidFill>
                      <a:srgbClr val="F7EFF1"/>
                    </a:solidFill>
                  </a:tcPr>
                </a:tc>
                <a:tc>
                  <a:txBody>
                    <a:bodyPr/>
                    <a:lstStyle/>
                    <a:p>
                      <a:pPr algn="ctr" indent="0" marL="0">
                        <a:buNone/>
                      </a:pPr>
                      <a:r>
                        <a:rPr lang="en-US" sz="1400" dirty="0">
                          <a:solidFill>
                            <a:srgbClr val="3A2E31"/>
                          </a:solidFill>
                          <a:latin typeface="Calibri" pitchFamily="34" charset="0"/>
                          <a:ea typeface="Calibri" pitchFamily="34" charset="-122"/>
                          <a:cs typeface="Calibri" pitchFamily="34" charset="-120"/>
                        </a:rPr>
                        <a:t>NVIDIA H100</a:t>
                      </a:r>
                      <a:endParaRPr lang="en-US" sz="1400" dirty="0">
                        <a:latin typeface="Calibri" charset="0"/>
                        <a:ea typeface="Calibri" charset="0"/>
                        <a:cs typeface="Calibri" charset="0"/>
                      </a:endParaRPr>
                    </a:p>
                  </a:txBody>
                  <a:tcPr marL="91440" marR="91440" marT="45720" marB="45720" anchor="ctr">
                    <a:lnL w="9525" cap="flat" cmpd="sng" algn="ctr">
                      <a:solidFill>
                        <a:srgbClr val="E2D6D9"/>
                      </a:solidFill>
                      <a:prstDash val="solid"/>
                      <a:round/>
                      <a:headEnd type="none" w="med" len="med"/>
                      <a:tailEnd type="none" w="med" len="med"/>
                    </a:lnL>
                    <a:lnR w="9525" cap="flat" cmpd="sng" algn="ctr">
                      <a:solidFill>
                        <a:srgbClr val="E2D6D9"/>
                      </a:solidFill>
                      <a:prstDash val="solid"/>
                      <a:round/>
                      <a:headEnd type="none" w="med" len="med"/>
                      <a:tailEnd type="none" w="med" len="med"/>
                    </a:lnR>
                    <a:lnT w="9525" cap="flat" cmpd="sng" algn="ctr">
                      <a:solidFill>
                        <a:srgbClr val="E2D6D9"/>
                      </a:solidFill>
                      <a:prstDash val="solid"/>
                      <a:round/>
                      <a:headEnd type="none" w="med" len="med"/>
                      <a:tailEnd type="none" w="med" len="med"/>
                    </a:lnT>
                    <a:lnB w="9525" cap="flat" cmpd="sng" algn="ctr">
                      <a:solidFill>
                        <a:srgbClr val="E2D6D9"/>
                      </a:solidFill>
                      <a:prstDash val="solid"/>
                      <a:round/>
                      <a:headEnd type="none" w="med" len="med"/>
                      <a:tailEnd type="none" w="med" len="med"/>
                    </a:lnB>
                    <a:solidFill>
                      <a:srgbClr val="F7EFF1"/>
                    </a:solidFill>
                  </a:tcPr>
                </a:tc>
                <a:tc>
                  <a:txBody>
                    <a:bodyPr/>
                    <a:lstStyle/>
                    <a:p>
                      <a:pPr algn="ctr" indent="0" marL="0">
                        <a:buNone/>
                      </a:pPr>
                      <a:r>
                        <a:rPr lang="en-US" sz="1400" dirty="0">
                          <a:solidFill>
                            <a:srgbClr val="3A2E31"/>
                          </a:solidFill>
                          <a:latin typeface="Calibri" pitchFamily="34" charset="0"/>
                          <a:ea typeface="Calibri" pitchFamily="34" charset="-122"/>
                          <a:cs typeface="Calibri" pitchFamily="34" charset="-120"/>
                        </a:rPr>
                        <a:t>≈2,240 reviews/s</a:t>
                      </a:r>
                      <a:endParaRPr lang="en-US" sz="1400" dirty="0">
                        <a:latin typeface="Calibri" charset="0"/>
                        <a:ea typeface="Calibri" charset="0"/>
                        <a:cs typeface="Calibri" charset="0"/>
                      </a:endParaRPr>
                    </a:p>
                  </a:txBody>
                  <a:tcPr marL="91440" marR="91440" marT="45720" marB="45720" anchor="ctr">
                    <a:lnL w="9525" cap="flat" cmpd="sng" algn="ctr">
                      <a:solidFill>
                        <a:srgbClr val="E2D6D9"/>
                      </a:solidFill>
                      <a:prstDash val="solid"/>
                      <a:round/>
                      <a:headEnd type="none" w="med" len="med"/>
                      <a:tailEnd type="none" w="med" len="med"/>
                    </a:lnL>
                    <a:lnR w="9525" cap="flat" cmpd="sng" algn="ctr">
                      <a:solidFill>
                        <a:srgbClr val="E2D6D9"/>
                      </a:solidFill>
                      <a:prstDash val="solid"/>
                      <a:round/>
                      <a:headEnd type="none" w="med" len="med"/>
                      <a:tailEnd type="none" w="med" len="med"/>
                    </a:lnR>
                    <a:lnT w="9525" cap="flat" cmpd="sng" algn="ctr">
                      <a:solidFill>
                        <a:srgbClr val="E2D6D9"/>
                      </a:solidFill>
                      <a:prstDash val="solid"/>
                      <a:round/>
                      <a:headEnd type="none" w="med" len="med"/>
                      <a:tailEnd type="none" w="med" len="med"/>
                    </a:lnT>
                    <a:lnB w="9525" cap="flat" cmpd="sng" algn="ctr">
                      <a:solidFill>
                        <a:srgbClr val="E2D6D9"/>
                      </a:solidFill>
                      <a:prstDash val="solid"/>
                      <a:round/>
                      <a:headEnd type="none" w="med" len="med"/>
                      <a:tailEnd type="none" w="med" len="med"/>
                    </a:lnB>
                    <a:solidFill>
                      <a:srgbClr val="F7EFF1"/>
                    </a:solidFill>
                  </a:tcPr>
                </a:tc>
                <a:tc>
                  <a:txBody>
                    <a:bodyPr/>
                    <a:lstStyle/>
                    <a:p>
                      <a:pPr algn="ctr" indent="0" marL="0">
                        <a:buNone/>
                      </a:pPr>
                      <a:r>
                        <a:rPr lang="en-US" sz="1400" dirty="0">
                          <a:solidFill>
                            <a:srgbClr val="3A2E31"/>
                          </a:solidFill>
                          <a:latin typeface="Calibri" pitchFamily="34" charset="0"/>
                          <a:ea typeface="Calibri" pitchFamily="34" charset="-122"/>
                          <a:cs typeface="Calibri" pitchFamily="34" charset="-120"/>
                        </a:rPr>
                        <a:t>$0.91</a:t>
                      </a:r>
                      <a:endParaRPr lang="en-US" sz="1400" dirty="0">
                        <a:latin typeface="Calibri" charset="0"/>
                        <a:ea typeface="Calibri" charset="0"/>
                        <a:cs typeface="Calibri" charset="0"/>
                      </a:endParaRPr>
                    </a:p>
                  </a:txBody>
                  <a:tcPr marL="91440" marR="91440" marT="45720" marB="45720" anchor="ctr">
                    <a:lnL w="9525" cap="flat" cmpd="sng" algn="ctr">
                      <a:solidFill>
                        <a:srgbClr val="E2D6D9"/>
                      </a:solidFill>
                      <a:prstDash val="solid"/>
                      <a:round/>
                      <a:headEnd type="none" w="med" len="med"/>
                      <a:tailEnd type="none" w="med" len="med"/>
                    </a:lnL>
                    <a:lnR w="9525" cap="flat" cmpd="sng" algn="ctr">
                      <a:solidFill>
                        <a:srgbClr val="E2D6D9"/>
                      </a:solidFill>
                      <a:prstDash val="solid"/>
                      <a:round/>
                      <a:headEnd type="none" w="med" len="med"/>
                      <a:tailEnd type="none" w="med" len="med"/>
                    </a:lnR>
                    <a:lnT w="9525" cap="flat" cmpd="sng" algn="ctr">
                      <a:solidFill>
                        <a:srgbClr val="E2D6D9"/>
                      </a:solidFill>
                      <a:prstDash val="solid"/>
                      <a:round/>
                      <a:headEnd type="none" w="med" len="med"/>
                      <a:tailEnd type="none" w="med" len="med"/>
                    </a:lnT>
                    <a:lnB w="9525" cap="flat" cmpd="sng" algn="ctr">
                      <a:solidFill>
                        <a:srgbClr val="E2D6D9"/>
                      </a:solidFill>
                      <a:prstDash val="solid"/>
                      <a:round/>
                      <a:headEnd type="none" w="med" len="med"/>
                      <a:tailEnd type="none" w="med" len="med"/>
                    </a:lnB>
                    <a:solidFill>
                      <a:srgbClr val="F7EFF1"/>
                    </a:solidFill>
                  </a:tcPr>
                </a:tc>
              </a:tr>
              <a:tr h="502920">
                <a:tc>
                  <a:txBody>
                    <a:bodyPr/>
                    <a:lstStyle/>
                    <a:p>
                      <a:pPr indent="0" marL="0">
                        <a:buNone/>
                      </a:pPr>
                      <a:r>
                        <a:rPr lang="en-US" sz="1400" b="1" dirty="0">
                          <a:solidFill>
                            <a:srgbClr val="3A2E31"/>
                          </a:solidFill>
                          <a:latin typeface="Calibri" pitchFamily="34" charset="0"/>
                          <a:ea typeface="Calibri" pitchFamily="34" charset="-122"/>
                          <a:cs typeface="Calibri" pitchFamily="34" charset="-120"/>
                        </a:rPr>
                        <a:t>RoBERTa-base, +1M</a:t>
                      </a:r>
                      <a:endParaRPr lang="en-US" sz="1400" dirty="0">
                        <a:latin typeface="Calibri" charset="0"/>
                        <a:ea typeface="Calibri" charset="0"/>
                        <a:cs typeface="Calibri" charset="0"/>
                      </a:endParaRPr>
                    </a:p>
                  </a:txBody>
                  <a:tcPr marL="91440" marR="91440" marT="45720" marB="45720" anchor="ctr">
                    <a:lnL w="9525" cap="flat" cmpd="sng" algn="ctr">
                      <a:solidFill>
                        <a:srgbClr val="E2D6D9"/>
                      </a:solidFill>
                      <a:prstDash val="solid"/>
                      <a:round/>
                      <a:headEnd type="none" w="med" len="med"/>
                      <a:tailEnd type="none" w="med" len="med"/>
                    </a:lnL>
                    <a:lnR w="9525" cap="flat" cmpd="sng" algn="ctr">
                      <a:solidFill>
                        <a:srgbClr val="E2D6D9"/>
                      </a:solidFill>
                      <a:prstDash val="solid"/>
                      <a:round/>
                      <a:headEnd type="none" w="med" len="med"/>
                      <a:tailEnd type="none" w="med" len="med"/>
                    </a:lnR>
                    <a:lnT w="9525" cap="flat" cmpd="sng" algn="ctr">
                      <a:solidFill>
                        <a:srgbClr val="E2D6D9"/>
                      </a:solidFill>
                      <a:prstDash val="solid"/>
                      <a:round/>
                      <a:headEnd type="none" w="med" len="med"/>
                      <a:tailEnd type="none" w="med" len="med"/>
                    </a:lnT>
                    <a:lnB w="9525" cap="flat" cmpd="sng" algn="ctr">
                      <a:solidFill>
                        <a:srgbClr val="E2D6D9"/>
                      </a:solidFill>
                      <a:prstDash val="solid"/>
                      <a:round/>
                      <a:headEnd type="none" w="med" len="med"/>
                      <a:tailEnd type="none" w="med" len="med"/>
                    </a:lnB>
                    <a:solidFill>
                      <a:srgbClr val="F7EFF1"/>
                    </a:solidFill>
                  </a:tcPr>
                </a:tc>
                <a:tc>
                  <a:txBody>
                    <a:bodyPr/>
                    <a:lstStyle/>
                    <a:p>
                      <a:pPr algn="ctr" indent="0" marL="0">
                        <a:buNone/>
                      </a:pPr>
                      <a:r>
                        <a:rPr lang="en-US" sz="1400" dirty="0">
                          <a:solidFill>
                            <a:srgbClr val="3A2E31"/>
                          </a:solidFill>
                          <a:latin typeface="Calibri" pitchFamily="34" charset="0"/>
                          <a:ea typeface="Calibri" pitchFamily="34" charset="-122"/>
                          <a:cs typeface="Calibri" pitchFamily="34" charset="-120"/>
                        </a:rPr>
                        <a:t>1,020,000</a:t>
                      </a:r>
                      <a:endParaRPr lang="en-US" sz="1400" dirty="0">
                        <a:latin typeface="Calibri" charset="0"/>
                        <a:ea typeface="Calibri" charset="0"/>
                        <a:cs typeface="Calibri" charset="0"/>
                      </a:endParaRPr>
                    </a:p>
                  </a:txBody>
                  <a:tcPr marL="91440" marR="91440" marT="45720" marB="45720" anchor="ctr">
                    <a:lnL w="9525" cap="flat" cmpd="sng" algn="ctr">
                      <a:solidFill>
                        <a:srgbClr val="E2D6D9"/>
                      </a:solidFill>
                      <a:prstDash val="solid"/>
                      <a:round/>
                      <a:headEnd type="none" w="med" len="med"/>
                      <a:tailEnd type="none" w="med" len="med"/>
                    </a:lnL>
                    <a:lnR w="9525" cap="flat" cmpd="sng" algn="ctr">
                      <a:solidFill>
                        <a:srgbClr val="E2D6D9"/>
                      </a:solidFill>
                      <a:prstDash val="solid"/>
                      <a:round/>
                      <a:headEnd type="none" w="med" len="med"/>
                      <a:tailEnd type="none" w="med" len="med"/>
                    </a:lnR>
                    <a:lnT w="9525" cap="flat" cmpd="sng" algn="ctr">
                      <a:solidFill>
                        <a:srgbClr val="E2D6D9"/>
                      </a:solidFill>
                      <a:prstDash val="solid"/>
                      <a:round/>
                      <a:headEnd type="none" w="med" len="med"/>
                      <a:tailEnd type="none" w="med" len="med"/>
                    </a:lnT>
                    <a:lnB w="9525" cap="flat" cmpd="sng" algn="ctr">
                      <a:solidFill>
                        <a:srgbClr val="E2D6D9"/>
                      </a:solidFill>
                      <a:prstDash val="solid"/>
                      <a:round/>
                      <a:headEnd type="none" w="med" len="med"/>
                      <a:tailEnd type="none" w="med" len="med"/>
                    </a:lnB>
                    <a:solidFill>
                      <a:srgbClr val="F7EFF1"/>
                    </a:solidFill>
                  </a:tcPr>
                </a:tc>
                <a:tc>
                  <a:txBody>
                    <a:bodyPr/>
                    <a:lstStyle/>
                    <a:p>
                      <a:pPr algn="ctr" indent="0" marL="0">
                        <a:buNone/>
                      </a:pPr>
                      <a:r>
                        <a:rPr lang="en-US" sz="1400" dirty="0">
                          <a:solidFill>
                            <a:srgbClr val="3A2E31"/>
                          </a:solidFill>
                          <a:latin typeface="Calibri" pitchFamily="34" charset="0"/>
                          <a:ea typeface="Calibri" pitchFamily="34" charset="-122"/>
                          <a:cs typeface="Calibri" pitchFamily="34" charset="-120"/>
                        </a:rPr>
                        <a:t>1</a:t>
                      </a:r>
                      <a:endParaRPr lang="en-US" sz="1400" dirty="0">
                        <a:latin typeface="Calibri" charset="0"/>
                        <a:ea typeface="Calibri" charset="0"/>
                        <a:cs typeface="Calibri" charset="0"/>
                      </a:endParaRPr>
                    </a:p>
                  </a:txBody>
                  <a:tcPr marL="91440" marR="91440" marT="45720" marB="45720" anchor="ctr">
                    <a:lnL w="9525" cap="flat" cmpd="sng" algn="ctr">
                      <a:solidFill>
                        <a:srgbClr val="E2D6D9"/>
                      </a:solidFill>
                      <a:prstDash val="solid"/>
                      <a:round/>
                      <a:headEnd type="none" w="med" len="med"/>
                      <a:tailEnd type="none" w="med" len="med"/>
                    </a:lnL>
                    <a:lnR w="9525" cap="flat" cmpd="sng" algn="ctr">
                      <a:solidFill>
                        <a:srgbClr val="E2D6D9"/>
                      </a:solidFill>
                      <a:prstDash val="solid"/>
                      <a:round/>
                      <a:headEnd type="none" w="med" len="med"/>
                      <a:tailEnd type="none" w="med" len="med"/>
                    </a:lnR>
                    <a:lnT w="9525" cap="flat" cmpd="sng" algn="ctr">
                      <a:solidFill>
                        <a:srgbClr val="E2D6D9"/>
                      </a:solidFill>
                      <a:prstDash val="solid"/>
                      <a:round/>
                      <a:headEnd type="none" w="med" len="med"/>
                      <a:tailEnd type="none" w="med" len="med"/>
                    </a:lnT>
                    <a:lnB w="9525" cap="flat" cmpd="sng" algn="ctr">
                      <a:solidFill>
                        <a:srgbClr val="E2D6D9"/>
                      </a:solidFill>
                      <a:prstDash val="solid"/>
                      <a:round/>
                      <a:headEnd type="none" w="med" len="med"/>
                      <a:tailEnd type="none" w="med" len="med"/>
                    </a:lnB>
                    <a:solidFill>
                      <a:srgbClr val="F7EFF1"/>
                    </a:solidFill>
                  </a:tcPr>
                </a:tc>
                <a:tc>
                  <a:txBody>
                    <a:bodyPr/>
                    <a:lstStyle/>
                    <a:p>
                      <a:pPr algn="ctr" indent="0" marL="0">
                        <a:buNone/>
                      </a:pPr>
                      <a:r>
                        <a:rPr lang="en-US" sz="1400" dirty="0">
                          <a:solidFill>
                            <a:srgbClr val="3A2E31"/>
                          </a:solidFill>
                          <a:latin typeface="Calibri" pitchFamily="34" charset="0"/>
                          <a:ea typeface="Calibri" pitchFamily="34" charset="-122"/>
                          <a:cs typeface="Calibri" pitchFamily="34" charset="-120"/>
                        </a:rPr>
                        <a:t>32</a:t>
                      </a:r>
                      <a:endParaRPr lang="en-US" sz="1400" dirty="0">
                        <a:latin typeface="Calibri" charset="0"/>
                        <a:ea typeface="Calibri" charset="0"/>
                        <a:cs typeface="Calibri" charset="0"/>
                      </a:endParaRPr>
                    </a:p>
                  </a:txBody>
                  <a:tcPr marL="91440" marR="91440" marT="45720" marB="45720" anchor="ctr">
                    <a:lnL w="9525" cap="flat" cmpd="sng" algn="ctr">
                      <a:solidFill>
                        <a:srgbClr val="E2D6D9"/>
                      </a:solidFill>
                      <a:prstDash val="solid"/>
                      <a:round/>
                      <a:headEnd type="none" w="med" len="med"/>
                      <a:tailEnd type="none" w="med" len="med"/>
                    </a:lnL>
                    <a:lnR w="9525" cap="flat" cmpd="sng" algn="ctr">
                      <a:solidFill>
                        <a:srgbClr val="E2D6D9"/>
                      </a:solidFill>
                      <a:prstDash val="solid"/>
                      <a:round/>
                      <a:headEnd type="none" w="med" len="med"/>
                      <a:tailEnd type="none" w="med" len="med"/>
                    </a:lnR>
                    <a:lnT w="9525" cap="flat" cmpd="sng" algn="ctr">
                      <a:solidFill>
                        <a:srgbClr val="E2D6D9"/>
                      </a:solidFill>
                      <a:prstDash val="solid"/>
                      <a:round/>
                      <a:headEnd type="none" w="med" len="med"/>
                      <a:tailEnd type="none" w="med" len="med"/>
                    </a:lnT>
                    <a:lnB w="9525" cap="flat" cmpd="sng" algn="ctr">
                      <a:solidFill>
                        <a:srgbClr val="E2D6D9"/>
                      </a:solidFill>
                      <a:prstDash val="solid"/>
                      <a:round/>
                      <a:headEnd type="none" w="med" len="med"/>
                      <a:tailEnd type="none" w="med" len="med"/>
                    </a:lnB>
                    <a:solidFill>
                      <a:srgbClr val="F7EFF1"/>
                    </a:solidFill>
                  </a:tcPr>
                </a:tc>
                <a:tc>
                  <a:txBody>
                    <a:bodyPr/>
                    <a:lstStyle/>
                    <a:p>
                      <a:pPr algn="ctr" indent="0" marL="0">
                        <a:buNone/>
                      </a:pPr>
                      <a:r>
                        <a:rPr lang="en-US" sz="1400" dirty="0">
                          <a:solidFill>
                            <a:srgbClr val="3A2E31"/>
                          </a:solidFill>
                          <a:latin typeface="Calibri" pitchFamily="34" charset="0"/>
                          <a:ea typeface="Calibri" pitchFamily="34" charset="-122"/>
                          <a:cs typeface="Calibri" pitchFamily="34" charset="-120"/>
                        </a:rPr>
                        <a:t>2 × 10⁻⁵</a:t>
                      </a:r>
                      <a:endParaRPr lang="en-US" sz="1400" dirty="0">
                        <a:latin typeface="Calibri" charset="0"/>
                        <a:ea typeface="Calibri" charset="0"/>
                        <a:cs typeface="Calibri" charset="0"/>
                      </a:endParaRPr>
                    </a:p>
                  </a:txBody>
                  <a:tcPr marL="91440" marR="91440" marT="45720" marB="45720" anchor="ctr">
                    <a:lnL w="9525" cap="flat" cmpd="sng" algn="ctr">
                      <a:solidFill>
                        <a:srgbClr val="E2D6D9"/>
                      </a:solidFill>
                      <a:prstDash val="solid"/>
                      <a:round/>
                      <a:headEnd type="none" w="med" len="med"/>
                      <a:tailEnd type="none" w="med" len="med"/>
                    </a:lnL>
                    <a:lnR w="9525" cap="flat" cmpd="sng" algn="ctr">
                      <a:solidFill>
                        <a:srgbClr val="E2D6D9"/>
                      </a:solidFill>
                      <a:prstDash val="solid"/>
                      <a:round/>
                      <a:headEnd type="none" w="med" len="med"/>
                      <a:tailEnd type="none" w="med" len="med"/>
                    </a:lnR>
                    <a:lnT w="9525" cap="flat" cmpd="sng" algn="ctr">
                      <a:solidFill>
                        <a:srgbClr val="E2D6D9"/>
                      </a:solidFill>
                      <a:prstDash val="solid"/>
                      <a:round/>
                      <a:headEnd type="none" w="med" len="med"/>
                      <a:tailEnd type="none" w="med" len="med"/>
                    </a:lnT>
                    <a:lnB w="9525" cap="flat" cmpd="sng" algn="ctr">
                      <a:solidFill>
                        <a:srgbClr val="E2D6D9"/>
                      </a:solidFill>
                      <a:prstDash val="solid"/>
                      <a:round/>
                      <a:headEnd type="none" w="med" len="med"/>
                      <a:tailEnd type="none" w="med" len="med"/>
                    </a:lnB>
                    <a:solidFill>
                      <a:srgbClr val="F7EFF1"/>
                    </a:solidFill>
                  </a:tcPr>
                </a:tc>
                <a:tc>
                  <a:txBody>
                    <a:bodyPr/>
                    <a:lstStyle/>
                    <a:p>
                      <a:pPr algn="ctr" indent="0" marL="0">
                        <a:buNone/>
                      </a:pPr>
                      <a:r>
                        <a:rPr lang="en-US" sz="1400" dirty="0">
                          <a:solidFill>
                            <a:srgbClr val="3A2E31"/>
                          </a:solidFill>
                          <a:latin typeface="Calibri" pitchFamily="34" charset="0"/>
                          <a:ea typeface="Calibri" pitchFamily="34" charset="-122"/>
                          <a:cs typeface="Calibri" pitchFamily="34" charset="-120"/>
                        </a:rPr>
                        <a:t>NVIDIA H100</a:t>
                      </a:r>
                      <a:endParaRPr lang="en-US" sz="1400" dirty="0">
                        <a:latin typeface="Calibri" charset="0"/>
                        <a:ea typeface="Calibri" charset="0"/>
                        <a:cs typeface="Calibri" charset="0"/>
                      </a:endParaRPr>
                    </a:p>
                  </a:txBody>
                  <a:tcPr marL="91440" marR="91440" marT="45720" marB="45720" anchor="ctr">
                    <a:lnL w="9525" cap="flat" cmpd="sng" algn="ctr">
                      <a:solidFill>
                        <a:srgbClr val="E2D6D9"/>
                      </a:solidFill>
                      <a:prstDash val="solid"/>
                      <a:round/>
                      <a:headEnd type="none" w="med" len="med"/>
                      <a:tailEnd type="none" w="med" len="med"/>
                    </a:lnL>
                    <a:lnR w="9525" cap="flat" cmpd="sng" algn="ctr">
                      <a:solidFill>
                        <a:srgbClr val="E2D6D9"/>
                      </a:solidFill>
                      <a:prstDash val="solid"/>
                      <a:round/>
                      <a:headEnd type="none" w="med" len="med"/>
                      <a:tailEnd type="none" w="med" len="med"/>
                    </a:lnR>
                    <a:lnT w="9525" cap="flat" cmpd="sng" algn="ctr">
                      <a:solidFill>
                        <a:srgbClr val="E2D6D9"/>
                      </a:solidFill>
                      <a:prstDash val="solid"/>
                      <a:round/>
                      <a:headEnd type="none" w="med" len="med"/>
                      <a:tailEnd type="none" w="med" len="med"/>
                    </a:lnT>
                    <a:lnB w="9525" cap="flat" cmpd="sng" algn="ctr">
                      <a:solidFill>
                        <a:srgbClr val="E2D6D9"/>
                      </a:solidFill>
                      <a:prstDash val="solid"/>
                      <a:round/>
                      <a:headEnd type="none" w="med" len="med"/>
                      <a:tailEnd type="none" w="med" len="med"/>
                    </a:lnB>
                    <a:solidFill>
                      <a:srgbClr val="F7EFF1"/>
                    </a:solidFill>
                  </a:tcPr>
                </a:tc>
                <a:tc>
                  <a:txBody>
                    <a:bodyPr/>
                    <a:lstStyle/>
                    <a:p>
                      <a:pPr algn="ctr" indent="0" marL="0">
                        <a:buNone/>
                      </a:pPr>
                      <a:r>
                        <a:rPr lang="en-US" sz="1400" dirty="0">
                          <a:solidFill>
                            <a:srgbClr val="3A2E31"/>
                          </a:solidFill>
                          <a:latin typeface="Calibri" pitchFamily="34" charset="0"/>
                          <a:ea typeface="Calibri" pitchFamily="34" charset="-122"/>
                          <a:cs typeface="Calibri" pitchFamily="34" charset="-120"/>
                        </a:rPr>
                        <a:t>≈1,170 reviews/s</a:t>
                      </a:r>
                      <a:endParaRPr lang="en-US" sz="1400" dirty="0">
                        <a:latin typeface="Calibri" charset="0"/>
                        <a:ea typeface="Calibri" charset="0"/>
                        <a:cs typeface="Calibri" charset="0"/>
                      </a:endParaRPr>
                    </a:p>
                  </a:txBody>
                  <a:tcPr marL="91440" marR="91440" marT="45720" marB="45720" anchor="ctr">
                    <a:lnL w="9525" cap="flat" cmpd="sng" algn="ctr">
                      <a:solidFill>
                        <a:srgbClr val="E2D6D9"/>
                      </a:solidFill>
                      <a:prstDash val="solid"/>
                      <a:round/>
                      <a:headEnd type="none" w="med" len="med"/>
                      <a:tailEnd type="none" w="med" len="med"/>
                    </a:lnL>
                    <a:lnR w="9525" cap="flat" cmpd="sng" algn="ctr">
                      <a:solidFill>
                        <a:srgbClr val="E2D6D9"/>
                      </a:solidFill>
                      <a:prstDash val="solid"/>
                      <a:round/>
                      <a:headEnd type="none" w="med" len="med"/>
                      <a:tailEnd type="none" w="med" len="med"/>
                    </a:lnR>
                    <a:lnT w="9525" cap="flat" cmpd="sng" algn="ctr">
                      <a:solidFill>
                        <a:srgbClr val="E2D6D9"/>
                      </a:solidFill>
                      <a:prstDash val="solid"/>
                      <a:round/>
                      <a:headEnd type="none" w="med" len="med"/>
                      <a:tailEnd type="none" w="med" len="med"/>
                    </a:lnT>
                    <a:lnB w="9525" cap="flat" cmpd="sng" algn="ctr">
                      <a:solidFill>
                        <a:srgbClr val="E2D6D9"/>
                      </a:solidFill>
                      <a:prstDash val="solid"/>
                      <a:round/>
                      <a:headEnd type="none" w="med" len="med"/>
                      <a:tailEnd type="none" w="med" len="med"/>
                    </a:lnB>
                    <a:solidFill>
                      <a:srgbClr val="F7EFF1"/>
                    </a:solidFill>
                  </a:tcPr>
                </a:tc>
                <a:tc>
                  <a:txBody>
                    <a:bodyPr/>
                    <a:lstStyle/>
                    <a:p>
                      <a:pPr algn="ctr" indent="0" marL="0">
                        <a:buNone/>
                      </a:pPr>
                      <a:r>
                        <a:rPr lang="en-US" sz="1400" dirty="0">
                          <a:solidFill>
                            <a:srgbClr val="3A2E31"/>
                          </a:solidFill>
                          <a:latin typeface="Calibri" pitchFamily="34" charset="0"/>
                          <a:ea typeface="Calibri" pitchFamily="34" charset="-122"/>
                          <a:cs typeface="Calibri" pitchFamily="34" charset="-120"/>
                        </a:rPr>
                        <a:t>$1.64</a:t>
                      </a:r>
                      <a:endParaRPr lang="en-US" sz="1400" dirty="0">
                        <a:latin typeface="Calibri" charset="0"/>
                        <a:ea typeface="Calibri" charset="0"/>
                        <a:cs typeface="Calibri" charset="0"/>
                      </a:endParaRPr>
                    </a:p>
                  </a:txBody>
                  <a:tcPr marL="91440" marR="91440" marT="45720" marB="45720" anchor="ctr">
                    <a:lnL w="9525" cap="flat" cmpd="sng" algn="ctr">
                      <a:solidFill>
                        <a:srgbClr val="E2D6D9"/>
                      </a:solidFill>
                      <a:prstDash val="solid"/>
                      <a:round/>
                      <a:headEnd type="none" w="med" len="med"/>
                      <a:tailEnd type="none" w="med" len="med"/>
                    </a:lnL>
                    <a:lnR w="9525" cap="flat" cmpd="sng" algn="ctr">
                      <a:solidFill>
                        <a:srgbClr val="E2D6D9"/>
                      </a:solidFill>
                      <a:prstDash val="solid"/>
                      <a:round/>
                      <a:headEnd type="none" w="med" len="med"/>
                      <a:tailEnd type="none" w="med" len="med"/>
                    </a:lnR>
                    <a:lnT w="9525" cap="flat" cmpd="sng" algn="ctr">
                      <a:solidFill>
                        <a:srgbClr val="E2D6D9"/>
                      </a:solidFill>
                      <a:prstDash val="solid"/>
                      <a:round/>
                      <a:headEnd type="none" w="med" len="med"/>
                      <a:tailEnd type="none" w="med" len="med"/>
                    </a:lnT>
                    <a:lnB w="9525" cap="flat" cmpd="sng" algn="ctr">
                      <a:solidFill>
                        <a:srgbClr val="E2D6D9"/>
                      </a:solidFill>
                      <a:prstDash val="solid"/>
                      <a:round/>
                      <a:headEnd type="none" w="med" len="med"/>
                      <a:tailEnd type="none" w="med" len="med"/>
                    </a:lnB>
                    <a:solidFill>
                      <a:srgbClr val="F7EFF1"/>
                    </a:solidFill>
                  </a:tcPr>
                </a:tc>
              </a:tr>
            </a:tbl>
          </a:graphicData>
        </a:graphic>
      </p:graphicFrame>
      <p:sp>
        <p:nvSpPr>
          <p:cNvPr id="6" name="shared recipe"/>
          <p:cNvSpPr/>
          <p:nvPr/>
        </p:nvSpPr>
        <p:spPr>
          <a:xfrm>
            <a:off x="548640" y="4160520"/>
            <a:ext cx="11064240" cy="1920240"/>
          </a:xfrm>
          <a:prstGeom prst="roundRect">
            <a:avLst>
              <a:gd name="adj" fmla="val 3810"/>
            </a:avLst>
          </a:prstGeom>
          <a:solidFill>
            <a:schemeClr val="accent4"/>
          </a:solidFill>
          <a:ln/>
          <a:effectLst>
            <a:outerShdw sx="100000" sy="100000" kx="0" ky="0" algn="bl" rotWithShape="0" blurRad="76200" dist="25400" dir="5400000">
              <a:srgbClr val="9C8189">
                <a:alpha val="16000"/>
              </a:srgbClr>
            </a:outerShdw>
          </a:effectLst>
        </p:spPr>
      </p:sp>
      <p:sp>
        <p:nvSpPr>
          <p:cNvPr id="7" name="Text 4"/>
          <p:cNvSpPr txBox="1"/>
          <p:nvPr/>
        </p:nvSpPr>
        <p:spPr>
          <a:xfrm>
            <a:off x="822960" y="4297680"/>
            <a:ext cx="10515600" cy="365760"/>
          </a:xfrm>
          <a:prstGeom prst="rect">
            <a:avLst/>
          </a:prstGeom>
          <a:noFill/>
          <a:ln/>
        </p:spPr>
        <p:txBody>
          <a:bodyPr wrap="square" lIns="0" tIns="0" rIns="0" bIns="0" rtlCol="0" anchor="ctr"/>
          <a:lstStyle/>
          <a:p>
            <a:pPr indent="0" marL="0">
              <a:buNone/>
            </a:pPr>
            <a:r>
              <a:rPr lang="en-US" sz="1700" b="1" dirty="0">
                <a:solidFill>
                  <a:schemeClr val="accent3"/>
                </a:solidFill>
              </a:rPr>
              <a:t>Shared recipe for the +1M runs</a:t>
            </a:r>
            <a:endParaRPr lang="en-US" sz="1700" dirty="0"/>
          </a:p>
        </p:txBody>
      </p:sp>
      <p:sp>
        <p:nvSpPr>
          <p:cNvPr id="8" name="Text 5"/>
          <p:cNvSpPr txBox="1"/>
          <p:nvPr/>
        </p:nvSpPr>
        <p:spPr>
          <a:xfrm>
            <a:off x="822960" y="4709160"/>
            <a:ext cx="10515600" cy="1280160"/>
          </a:xfrm>
          <a:prstGeom prst="rect">
            <a:avLst/>
          </a:prstGeom>
          <a:noFill/>
          <a:ln/>
        </p:spPr>
        <p:txBody>
          <a:bodyPr wrap="square" lIns="0" tIns="0" rIns="0" bIns="0" rtlCol="0" anchor="t"/>
          <a:lstStyle/>
          <a:p>
            <a:pPr marL="228600" indent="-228600">
              <a:spcAft>
                <a:spcPts val="400"/>
              </a:spcAft>
              <a:buSzPct val="100000"/>
              <a:buChar char="•"/>
            </a:pPr>
            <a:r>
              <a:rPr lang="en-US" sz="1500" dirty="0">
                <a:solidFill>
                  <a:schemeClr val="tx1"/>
                </a:solidFill>
              </a:rPr>
              <a:t>1,020,000 ÷ 32 = 31,875 optimiser steps; AdamW, warm-up over the first 6%, then linear decay; bfloat16</a:t>
            </a:r>
            <a:endParaRPr lang="en-US" sz="1500" dirty="0"/>
          </a:p>
          <a:p>
            <a:pPr marL="228600" indent="-228600">
              <a:spcAft>
                <a:spcPts val="400"/>
              </a:spcAft>
              <a:buSzPct val="100000"/>
              <a:buChar char="•"/>
            </a:pPr>
            <a:r>
              <a:rPr lang="en-US" sz="1500" dirty="0">
                <a:solidFill>
                  <a:schemeClr val="tx1"/>
                </a:solidFill>
              </a:rPr>
              <a:t>Reviews over 512 tokens keep their first 128 and last 382 tokens; similar lengths are batched together</a:t>
            </a:r>
            <a:endParaRPr lang="en-US" sz="1500" dirty="0"/>
          </a:p>
          <a:p>
            <a:pPr marL="228600" indent="-228600">
              <a:spcAft>
                <a:spcPts val="400"/>
              </a:spcAft>
              <a:buSzPct val="100000"/>
              <a:buChar char="•"/>
            </a:pPr>
            <a:r>
              <a:rPr lang="en-US" sz="1500" dirty="0">
                <a:solidFill>
                  <a:schemeClr val="tx1"/>
                </a:solidFill>
              </a:rPr>
              <a:t>Every 2,000 steps, check accuracy on the 50k val_pool and keep the best checkpoint (never validation or test)</a:t>
            </a:r>
            <a:endParaRPr lang="en-US" sz="1500" dirty="0"/>
          </a:p>
        </p:txBody>
      </p:sp>
      <p:sp>
        <p:nvSpPr>
          <p:cNvPr id="25" name="Slide Number Placeholder 0"/>
          <p:cNvSpPr>
            <a:spLocks noGrp="1"/>
          </p:cNvSpPr>
          <p:nvPr>
            <p:ph type="sldNum" sz="quarter" idx="4294967295"/>
          </p:nvPr>
        </p:nvSpPr>
        <p:spPr>
          <a:xfrm>
            <a:off x="11274552" y="347472"/>
            <a:ext cx="384048" cy="384048"/>
          </a:xfrm>
          <a:prstGeom prst="rect">
            <a:avLst/>
          </a:prstGeom>
          <a:extLst>
            <a:ext uri="{C572A759-6A51-4108-AA02-DFA0A04FC94B}">
              <ma14:wrappingTextBoxFlag xmlns:ma14="http://schemas.microsoft.com/office/mac/drawingml/2011/main" val="0"/>
            </a:ext>
          </a:extLst>
        </p:spPr>
        <p:txBody>
          <a:bodyPr anchor="ctr"/>
          <a:lstStyle>
            <a:lvl1pPr>
              <a:defRPr sz="1200">
                <a:solidFill>
                  <a:srgbClr val="3A2E31"/>
                </a:solidFill>
              </a:defRPr>
            </a:lvl1pPr>
          </a:lstStyle>
          <a:p>
            <a:pPr algn="ct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1" type="body" hasCustomPrompt="1"/>
          </p:nvPr>
        </p:nvSpPr>
        <p:spPr>
          <a:xfrm>
            <a:off x="548640" y="365760"/>
            <a:ext cx="9601200" cy="292608"/>
          </a:xfrm>
          <a:prstGeom prst="rect">
            <a:avLst/>
          </a:prstGeom>
          <a:noFill/>
          <a:ln/>
        </p:spPr>
        <p:txBody>
          <a:bodyPr wrap="square" lIns="0" tIns="0" rIns="0" bIns="0" rtlCol="0"/>
          <a:lstStyle/>
          <a:p>
            <a:pPr indent="0" marL="0">
              <a:buNone/>
            </a:pPr>
            <a:r>
              <a:rPr lang="en-US" sz="1200" b="1" spc="200" kern="0" dirty="0">
                <a:solidFill>
                  <a:schemeClr val="accent6"/>
                </a:solidFill>
              </a:rPr>
              <a:t>THE MODELS  ·  DANYSON ANTONY</a:t>
            </a:r>
            <a:endParaRPr lang="en-US" sz="1200" dirty="0"/>
          </a:p>
        </p:txBody>
      </p:sp>
      <p:sp>
        <p:nvSpPr>
          <p:cNvPr id="3" name="Text 0"/>
          <p:cNvSpPr/>
          <p:nvPr>
            <p:ph idx="102" type="title" hasCustomPrompt="1"/>
          </p:nvPr>
        </p:nvSpPr>
        <p:spPr>
          <a:xfrm>
            <a:off x="548640" y="676656"/>
            <a:ext cx="10424160" cy="822960"/>
          </a:xfrm>
          <a:prstGeom prst="rect">
            <a:avLst/>
          </a:prstGeom>
          <a:noFill/>
          <a:ln/>
        </p:spPr>
        <p:txBody>
          <a:bodyPr wrap="square" lIns="0" tIns="0" rIns="0" bIns="0" rtlCol="0" anchor="t"/>
          <a:lstStyle/>
          <a:p>
            <a:pPr algn="l" indent="0" marL="0">
              <a:buNone/>
            </a:pPr>
            <a:r>
              <a:rPr lang="en-US" sz="3000" b="1" dirty="0">
                <a:solidFill>
                  <a:schemeClr val="tx2"/>
                </a:solidFill>
              </a:rPr>
              <a:t>More leak-free training data lifted every model</a:t>
            </a:r>
            <a:endParaRPr lang="en-US" sz="3000" dirty="0"/>
          </a:p>
        </p:txBody>
      </p:sp>
      <p:sp>
        <p:nvSpPr>
          <p:cNvPr id="4" name="Text 0"/>
          <p:cNvSpPr/>
          <p:nvPr>
            <p:ph idx="103" type="body" hasCustomPrompt="1"/>
          </p:nvPr>
        </p:nvSpPr>
        <p:spPr>
          <a:xfrm>
            <a:off x="548640" y="6355080"/>
            <a:ext cx="10515600" cy="310896"/>
          </a:xfrm>
          <a:prstGeom prst="rect">
            <a:avLst/>
          </a:prstGeom>
          <a:noFill/>
          <a:ln/>
        </p:spPr>
        <p:txBody>
          <a:bodyPr wrap="square" lIns="0" tIns="0" rIns="0" bIns="0" rtlCol="0"/>
          <a:lstStyle/>
          <a:p>
            <a:pPr indent="0" marL="0">
              <a:buNone/>
            </a:pPr>
            <a:r>
              <a:rPr lang="en-US" sz="1100" i="1" dirty="0">
                <a:solidFill>
                  <a:schemeClr val="accent6"/>
                </a:solidFill>
              </a:rPr>
              <a:t>Official IMDb test set; the ensemble (ELECTRA-large + DeBERTa-v3-large + 1 MB n-gram) is a reference ceiling, too big for the hub</a:t>
            </a:r>
            <a:endParaRPr lang="en-US" sz="1100" dirty="0"/>
          </a:p>
        </p:txBody>
      </p:sp>
      <p:graphicFrame>
        <p:nvGraphicFramePr>
          <p:cNvPr id="5" name="model accuracy chart" descr=""/>
          <p:cNvGraphicFramePr/>
          <p:nvPr/>
        </p:nvGraphicFramePr>
        <p:xfrm>
          <a:off x="548640" y="1691640"/>
          <a:ext cx="6949440" cy="4480560"/>
        </p:xfrm>
        <a:graphic xmlns:a="http://schemas.openxmlformats.org/drawingml/2006/main">
          <a:graphicData uri="http://schemas.openxmlformats.org/drawingml/2006/chart">
            <c:chart xmlns:c="http://schemas.openxmlformats.org/drawingml/2006/chart" r:id="rId1"/>
          </a:graphicData>
        </a:graphic>
      </p:graphicFrame>
      <p:sp>
        <p:nvSpPr>
          <p:cNvPr id="6" name="stat +2.3 pts"/>
          <p:cNvSpPr/>
          <p:nvPr/>
        </p:nvSpPr>
        <p:spPr>
          <a:xfrm>
            <a:off x="7863840" y="1783080"/>
            <a:ext cx="3749040" cy="1280160"/>
          </a:xfrm>
          <a:prstGeom prst="roundRect">
            <a:avLst>
              <a:gd name="adj" fmla="val 5714"/>
            </a:avLst>
          </a:prstGeom>
          <a:solidFill>
            <a:schemeClr val="bg2"/>
          </a:solidFill>
          <a:ln/>
          <a:effectLst>
            <a:outerShdw sx="100000" sy="100000" kx="0" ky="0" algn="bl" rotWithShape="0" blurRad="76200" dist="25400" dir="5400000">
              <a:srgbClr val="9C8189">
                <a:alpha val="16000"/>
              </a:srgbClr>
            </a:outerShdw>
          </a:effectLst>
        </p:spPr>
      </p:sp>
      <p:sp>
        <p:nvSpPr>
          <p:cNvPr id="7" name="Text 4"/>
          <p:cNvSpPr txBox="1"/>
          <p:nvPr/>
        </p:nvSpPr>
        <p:spPr>
          <a:xfrm>
            <a:off x="8138160" y="1920240"/>
            <a:ext cx="3200400" cy="548640"/>
          </a:xfrm>
          <a:prstGeom prst="rect">
            <a:avLst/>
          </a:prstGeom>
          <a:noFill/>
          <a:ln/>
        </p:spPr>
        <p:txBody>
          <a:bodyPr wrap="square" lIns="0" tIns="0" rIns="0" bIns="0" rtlCol="0" anchor="ctr"/>
          <a:lstStyle/>
          <a:p>
            <a:pPr indent="0" marL="0">
              <a:buNone/>
            </a:pPr>
            <a:r>
              <a:rPr lang="en-US" sz="3000" b="1" dirty="0">
                <a:solidFill>
                  <a:schemeClr val="accent2"/>
                </a:solidFill>
                <a:latin typeface="Cambria" pitchFamily="34" charset="0"/>
                <a:ea typeface="Cambria" pitchFamily="34" charset="-122"/>
                <a:cs typeface="Cambria" pitchFamily="34" charset="-120"/>
              </a:rPr>
              <a:t>+2.3 pts</a:t>
            </a:r>
            <a:endParaRPr lang="en-US" sz="3000" dirty="0"/>
          </a:p>
        </p:txBody>
      </p:sp>
      <p:sp>
        <p:nvSpPr>
          <p:cNvPr id="8" name="Text 5"/>
          <p:cNvSpPr txBox="1"/>
          <p:nvPr/>
        </p:nvSpPr>
        <p:spPr>
          <a:xfrm>
            <a:off x="8138160" y="2496312"/>
            <a:ext cx="3200400" cy="457200"/>
          </a:xfrm>
          <a:prstGeom prst="rect">
            <a:avLst/>
          </a:prstGeom>
          <a:noFill/>
          <a:ln/>
        </p:spPr>
        <p:txBody>
          <a:bodyPr wrap="square" lIns="0" tIns="0" rIns="0" bIns="0" rtlCol="0" anchor="t"/>
          <a:lstStyle/>
          <a:p>
            <a:pPr indent="0" marL="0">
              <a:buNone/>
            </a:pPr>
            <a:r>
              <a:rPr lang="en-US" sz="1400" b="1" dirty="0">
                <a:solidFill>
                  <a:schemeClr val="tx2"/>
                </a:solidFill>
              </a:rPr>
              <a:t>DistilBERT with 1M extra reviews</a:t>
            </a:r>
            <a:endParaRPr lang="en-US" sz="1400" dirty="0"/>
          </a:p>
        </p:txBody>
      </p:sp>
      <p:sp>
        <p:nvSpPr>
          <p:cNvPr id="9" name="stat 97.40%"/>
          <p:cNvSpPr/>
          <p:nvPr/>
        </p:nvSpPr>
        <p:spPr>
          <a:xfrm>
            <a:off x="7863840" y="3246120"/>
            <a:ext cx="3749040" cy="1280160"/>
          </a:xfrm>
          <a:prstGeom prst="roundRect">
            <a:avLst>
              <a:gd name="adj" fmla="val 5714"/>
            </a:avLst>
          </a:prstGeom>
          <a:solidFill>
            <a:schemeClr val="bg2"/>
          </a:solidFill>
          <a:ln/>
          <a:effectLst>
            <a:outerShdw sx="100000" sy="100000" kx="0" ky="0" algn="bl" rotWithShape="0" blurRad="76200" dist="25400" dir="5400000">
              <a:srgbClr val="9C8189">
                <a:alpha val="16000"/>
              </a:srgbClr>
            </a:outerShdw>
          </a:effectLst>
        </p:spPr>
      </p:sp>
      <p:sp>
        <p:nvSpPr>
          <p:cNvPr id="10" name="Text 7"/>
          <p:cNvSpPr txBox="1"/>
          <p:nvPr/>
        </p:nvSpPr>
        <p:spPr>
          <a:xfrm>
            <a:off x="8138160" y="3383280"/>
            <a:ext cx="3200400" cy="548640"/>
          </a:xfrm>
          <a:prstGeom prst="rect">
            <a:avLst/>
          </a:prstGeom>
          <a:noFill/>
          <a:ln/>
        </p:spPr>
        <p:txBody>
          <a:bodyPr wrap="square" lIns="0" tIns="0" rIns="0" bIns="0" rtlCol="0" anchor="ctr"/>
          <a:lstStyle/>
          <a:p>
            <a:pPr indent="0" marL="0">
              <a:buNone/>
            </a:pPr>
            <a:r>
              <a:rPr lang="en-US" sz="3000" b="1" dirty="0">
                <a:solidFill>
                  <a:schemeClr val="accent3"/>
                </a:solidFill>
                <a:latin typeface="Cambria" pitchFamily="34" charset="0"/>
                <a:ea typeface="Cambria" pitchFamily="34" charset="-122"/>
                <a:cs typeface="Cambria" pitchFamily="34" charset="-120"/>
              </a:rPr>
              <a:t>97.40%</a:t>
            </a:r>
            <a:endParaRPr lang="en-US" sz="3000" dirty="0"/>
          </a:p>
        </p:txBody>
      </p:sp>
      <p:sp>
        <p:nvSpPr>
          <p:cNvPr id="11" name="Text 8"/>
          <p:cNvSpPr txBox="1"/>
          <p:nvPr/>
        </p:nvSpPr>
        <p:spPr>
          <a:xfrm>
            <a:off x="8138160" y="3959352"/>
            <a:ext cx="3200400" cy="457200"/>
          </a:xfrm>
          <a:prstGeom prst="rect">
            <a:avLst/>
          </a:prstGeom>
          <a:noFill/>
          <a:ln/>
        </p:spPr>
        <p:txBody>
          <a:bodyPr wrap="square" lIns="0" tIns="0" rIns="0" bIns="0" rtlCol="0" anchor="t"/>
          <a:lstStyle/>
          <a:p>
            <a:pPr indent="0" marL="0">
              <a:buNone/>
            </a:pPr>
            <a:r>
              <a:rPr lang="en-US" sz="1400" b="1" dirty="0">
                <a:solidFill>
                  <a:schemeClr val="tx2"/>
                </a:solidFill>
              </a:rPr>
              <a:t>ensemble: above the best peer-reviewed 97.1%</a:t>
            </a:r>
            <a:endParaRPr lang="en-US" sz="1400" dirty="0"/>
          </a:p>
        </p:txBody>
      </p:sp>
      <p:sp>
        <p:nvSpPr>
          <p:cNvPr id="12" name="stat 24,180"/>
          <p:cNvSpPr/>
          <p:nvPr/>
        </p:nvSpPr>
        <p:spPr>
          <a:xfrm>
            <a:off x="7863840" y="4709160"/>
            <a:ext cx="3749040" cy="1280160"/>
          </a:xfrm>
          <a:prstGeom prst="roundRect">
            <a:avLst>
              <a:gd name="adj" fmla="val 5714"/>
            </a:avLst>
          </a:prstGeom>
          <a:solidFill>
            <a:schemeClr val="bg2"/>
          </a:solidFill>
          <a:ln/>
          <a:effectLst>
            <a:outerShdw sx="100000" sy="100000" kx="0" ky="0" algn="bl" rotWithShape="0" blurRad="76200" dist="25400" dir="5400000">
              <a:srgbClr val="9C8189">
                <a:alpha val="16000"/>
              </a:srgbClr>
            </a:outerShdw>
          </a:effectLst>
        </p:spPr>
      </p:sp>
      <p:sp>
        <p:nvSpPr>
          <p:cNvPr id="13" name="Text 10"/>
          <p:cNvSpPr txBox="1"/>
          <p:nvPr/>
        </p:nvSpPr>
        <p:spPr>
          <a:xfrm>
            <a:off x="8138160" y="4846320"/>
            <a:ext cx="3200400" cy="548640"/>
          </a:xfrm>
          <a:prstGeom prst="rect">
            <a:avLst/>
          </a:prstGeom>
          <a:noFill/>
          <a:ln/>
        </p:spPr>
        <p:txBody>
          <a:bodyPr wrap="square" lIns="0" tIns="0" rIns="0" bIns="0" rtlCol="0" anchor="ctr"/>
          <a:lstStyle/>
          <a:p>
            <a:pPr indent="0" marL="0">
              <a:buNone/>
            </a:pPr>
            <a:r>
              <a:rPr lang="en-US" sz="3000" b="1" dirty="0">
                <a:solidFill>
                  <a:schemeClr val="accent1"/>
                </a:solidFill>
                <a:latin typeface="Cambria" pitchFamily="34" charset="0"/>
                <a:ea typeface="Cambria" pitchFamily="34" charset="-122"/>
                <a:cs typeface="Cambria" pitchFamily="34" charset="-120"/>
              </a:rPr>
              <a:t>24,180</a:t>
            </a:r>
            <a:endParaRPr lang="en-US" sz="3000" dirty="0"/>
          </a:p>
        </p:txBody>
      </p:sp>
      <p:sp>
        <p:nvSpPr>
          <p:cNvPr id="14" name="Text 11"/>
          <p:cNvSpPr txBox="1"/>
          <p:nvPr/>
        </p:nvSpPr>
        <p:spPr>
          <a:xfrm>
            <a:off x="8138160" y="5422392"/>
            <a:ext cx="3200400" cy="457200"/>
          </a:xfrm>
          <a:prstGeom prst="rect">
            <a:avLst/>
          </a:prstGeom>
          <a:noFill/>
          <a:ln/>
        </p:spPr>
        <p:txBody>
          <a:bodyPr wrap="square" lIns="0" tIns="0" rIns="0" bIns="0" rtlCol="0" anchor="t"/>
          <a:lstStyle/>
          <a:p>
            <a:pPr indent="0" marL="0">
              <a:buNone/>
            </a:pPr>
            <a:r>
              <a:rPr lang="en-US" sz="1400" b="1" dirty="0">
                <a:solidFill>
                  <a:schemeClr val="tx2"/>
                </a:solidFill>
              </a:rPr>
              <a:t>of 25,000 test reviews right with RoBERTa-base</a:t>
            </a:r>
            <a:endParaRPr lang="en-US" sz="1400" dirty="0"/>
          </a:p>
        </p:txBody>
      </p:sp>
      <p:sp>
        <p:nvSpPr>
          <p:cNvPr id="25" name="Slide Number Placeholder 0"/>
          <p:cNvSpPr>
            <a:spLocks noGrp="1"/>
          </p:cNvSpPr>
          <p:nvPr>
            <p:ph type="sldNum" sz="quarter" idx="4294967295"/>
          </p:nvPr>
        </p:nvSpPr>
        <p:spPr>
          <a:xfrm>
            <a:off x="11274552" y="347472"/>
            <a:ext cx="384048" cy="384048"/>
          </a:xfrm>
          <a:prstGeom prst="rect">
            <a:avLst/>
          </a:prstGeom>
          <a:extLst>
            <a:ext uri="{C572A759-6A51-4108-AA02-DFA0A04FC94B}">
              <ma14:wrappingTextBoxFlag xmlns:ma14="http://schemas.microsoft.com/office/mac/drawingml/2011/main" val="0"/>
            </a:ext>
          </a:extLst>
        </p:spPr>
        <p:txBody>
          <a:bodyPr anchor="ctr"/>
          <a:lstStyle>
            <a:lvl1pPr>
              <a:defRPr sz="1200">
                <a:solidFill>
                  <a:srgbClr val="3A2E31"/>
                </a:solidFill>
              </a:defRPr>
            </a:lvl1pPr>
          </a:lstStyle>
          <a:p>
            <a:pPr algn="ct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1" type="body" hasCustomPrompt="1"/>
          </p:nvPr>
        </p:nvSpPr>
        <p:spPr>
          <a:xfrm>
            <a:off x="548640" y="365760"/>
            <a:ext cx="9601200" cy="292608"/>
          </a:xfrm>
          <a:prstGeom prst="rect">
            <a:avLst/>
          </a:prstGeom>
          <a:noFill/>
          <a:ln/>
        </p:spPr>
        <p:txBody>
          <a:bodyPr wrap="square" lIns="0" tIns="0" rIns="0" bIns="0" rtlCol="0"/>
          <a:lstStyle/>
          <a:p>
            <a:pPr indent="0" marL="0">
              <a:buNone/>
            </a:pPr>
            <a:r>
              <a:rPr lang="en-US" sz="1200" b="1" spc="200" kern="0" dirty="0">
                <a:solidFill>
                  <a:schemeClr val="accent6"/>
                </a:solidFill>
              </a:rPr>
              <a:t>COMPUTE COST  ·  DANYSON ANTONY</a:t>
            </a:r>
            <a:endParaRPr lang="en-US" sz="1200" dirty="0"/>
          </a:p>
        </p:txBody>
      </p:sp>
      <p:sp>
        <p:nvSpPr>
          <p:cNvPr id="3" name="Text 0"/>
          <p:cNvSpPr/>
          <p:nvPr>
            <p:ph idx="102" type="title" hasCustomPrompt="1"/>
          </p:nvPr>
        </p:nvSpPr>
        <p:spPr>
          <a:xfrm>
            <a:off x="548640" y="676656"/>
            <a:ext cx="10424160" cy="822960"/>
          </a:xfrm>
          <a:prstGeom prst="rect">
            <a:avLst/>
          </a:prstGeom>
          <a:noFill/>
          <a:ln/>
        </p:spPr>
        <p:txBody>
          <a:bodyPr wrap="square" lIns="0" tIns="0" rIns="0" bIns="0" rtlCol="0" anchor="t"/>
          <a:lstStyle/>
          <a:p>
            <a:pPr algn="l" indent="0" marL="0">
              <a:buNone/>
            </a:pPr>
            <a:r>
              <a:rPr lang="en-US" sz="3000" b="1" dirty="0">
                <a:solidFill>
                  <a:schemeClr val="tx2"/>
                </a:solidFill>
              </a:rPr>
              <a:t>The whole project cost $20.27 of cloud GPU time</a:t>
            </a:r>
            <a:endParaRPr lang="en-US" sz="3000" dirty="0"/>
          </a:p>
        </p:txBody>
      </p:sp>
      <p:sp>
        <p:nvSpPr>
          <p:cNvPr id="4" name="Text 0"/>
          <p:cNvSpPr/>
          <p:nvPr>
            <p:ph idx="103" type="body" hasCustomPrompt="1"/>
          </p:nvPr>
        </p:nvSpPr>
        <p:spPr>
          <a:xfrm>
            <a:off x="548640" y="6355080"/>
            <a:ext cx="10515600" cy="310896"/>
          </a:xfrm>
          <a:prstGeom prst="rect">
            <a:avLst/>
          </a:prstGeom>
          <a:noFill/>
          <a:ln/>
        </p:spPr>
        <p:txBody>
          <a:bodyPr wrap="square" lIns="0" tIns="0" rIns="0" bIns="0" rtlCol="0"/>
          <a:lstStyle/>
          <a:p>
            <a:pPr indent="0" marL="0">
              <a:buNone/>
            </a:pPr>
            <a:r>
              <a:rPr lang="en-US" sz="1100" i="1" dirty="0">
                <a:solidFill>
                  <a:schemeClr val="accent6"/>
                </a:solidFill>
              </a:rPr>
              <a:t>Itemised per run with `modal billing report`; paid from Modal credits, so $0 was billed. Every run had a hard time cap.</a:t>
            </a:r>
            <a:endParaRPr lang="en-US" sz="1100" dirty="0"/>
          </a:p>
        </p:txBody>
      </p:sp>
      <p:graphicFrame>
        <p:nvGraphicFramePr>
          <p:cNvPr id="5" name="cost chart" descr=""/>
          <p:cNvGraphicFramePr/>
          <p:nvPr/>
        </p:nvGraphicFramePr>
        <p:xfrm>
          <a:off x="457200" y="1691640"/>
          <a:ext cx="7040880" cy="4480560"/>
        </p:xfrm>
        <a:graphic xmlns:a="http://schemas.openxmlformats.org/drawingml/2006/main">
          <a:graphicData uri="http://schemas.openxmlformats.org/drawingml/2006/chart">
            <c:chart xmlns:c="http://schemas.openxmlformats.org/drawingml/2006/chart" r:id="rId1"/>
          </a:graphicData>
        </a:graphic>
      </p:graphicFrame>
      <p:sp>
        <p:nvSpPr>
          <p:cNvPr id="6" name="cost $2.56"/>
          <p:cNvSpPr/>
          <p:nvPr/>
        </p:nvSpPr>
        <p:spPr>
          <a:xfrm>
            <a:off x="7863840" y="1783080"/>
            <a:ext cx="3749040" cy="1280160"/>
          </a:xfrm>
          <a:prstGeom prst="roundRect">
            <a:avLst>
              <a:gd name="adj" fmla="val 5714"/>
            </a:avLst>
          </a:prstGeom>
          <a:solidFill>
            <a:schemeClr val="bg2"/>
          </a:solidFill>
          <a:ln/>
          <a:effectLst>
            <a:outerShdw sx="100000" sy="100000" kx="0" ky="0" algn="bl" rotWithShape="0" blurRad="76200" dist="25400" dir="5400000">
              <a:srgbClr val="9C8189">
                <a:alpha val="16000"/>
              </a:srgbClr>
            </a:outerShdw>
          </a:effectLst>
        </p:spPr>
      </p:sp>
      <p:sp>
        <p:nvSpPr>
          <p:cNvPr id="7" name="Text 4"/>
          <p:cNvSpPr txBox="1"/>
          <p:nvPr/>
        </p:nvSpPr>
        <p:spPr>
          <a:xfrm>
            <a:off x="8138160" y="1920240"/>
            <a:ext cx="3200400" cy="548640"/>
          </a:xfrm>
          <a:prstGeom prst="rect">
            <a:avLst/>
          </a:prstGeom>
          <a:noFill/>
          <a:ln/>
        </p:spPr>
        <p:txBody>
          <a:bodyPr wrap="square" lIns="0" tIns="0" rIns="0" bIns="0" rtlCol="0" anchor="ctr"/>
          <a:lstStyle/>
          <a:p>
            <a:pPr indent="0" marL="0">
              <a:buNone/>
            </a:pPr>
            <a:r>
              <a:rPr lang="en-US" sz="3000" b="1" dirty="0">
                <a:solidFill>
                  <a:schemeClr val="accent2"/>
                </a:solidFill>
                <a:latin typeface="Cambria" pitchFamily="34" charset="0"/>
                <a:ea typeface="Cambria" pitchFamily="34" charset="-122"/>
                <a:cs typeface="Cambria" pitchFamily="34" charset="-120"/>
              </a:rPr>
              <a:t>$2.56</a:t>
            </a:r>
            <a:endParaRPr lang="en-US" sz="3000" dirty="0"/>
          </a:p>
        </p:txBody>
      </p:sp>
      <p:sp>
        <p:nvSpPr>
          <p:cNvPr id="8" name="Text 5"/>
          <p:cNvSpPr txBox="1"/>
          <p:nvPr/>
        </p:nvSpPr>
        <p:spPr>
          <a:xfrm>
            <a:off x="8138160" y="2496312"/>
            <a:ext cx="3200400" cy="457200"/>
          </a:xfrm>
          <a:prstGeom prst="rect">
            <a:avLst/>
          </a:prstGeom>
          <a:noFill/>
          <a:ln/>
        </p:spPr>
        <p:txBody>
          <a:bodyPr wrap="square" lIns="0" tIns="0" rIns="0" bIns="0" rtlCol="0" anchor="t"/>
          <a:lstStyle/>
          <a:p>
            <a:pPr indent="0" marL="0">
              <a:buNone/>
            </a:pPr>
            <a:r>
              <a:rPr lang="en-US" sz="1400" b="1" dirty="0">
                <a:solidFill>
                  <a:schemeClr val="tx2"/>
                </a:solidFill>
              </a:rPr>
              <a:t>retraining both hubs (paper)</a:t>
            </a:r>
            <a:endParaRPr lang="en-US" sz="1400" dirty="0"/>
          </a:p>
        </p:txBody>
      </p:sp>
      <p:sp>
        <p:nvSpPr>
          <p:cNvPr id="9" name="cost $17.71"/>
          <p:cNvSpPr/>
          <p:nvPr/>
        </p:nvSpPr>
        <p:spPr>
          <a:xfrm>
            <a:off x="7863840" y="3246120"/>
            <a:ext cx="3749040" cy="1280160"/>
          </a:xfrm>
          <a:prstGeom prst="roundRect">
            <a:avLst>
              <a:gd name="adj" fmla="val 5714"/>
            </a:avLst>
          </a:prstGeom>
          <a:solidFill>
            <a:schemeClr val="bg2"/>
          </a:solidFill>
          <a:ln/>
          <a:effectLst>
            <a:outerShdw sx="100000" sy="100000" kx="0" ky="0" algn="bl" rotWithShape="0" blurRad="76200" dist="25400" dir="5400000">
              <a:srgbClr val="9C8189">
                <a:alpha val="16000"/>
              </a:srgbClr>
            </a:outerShdw>
          </a:effectLst>
        </p:spPr>
      </p:sp>
      <p:sp>
        <p:nvSpPr>
          <p:cNvPr id="10" name="Text 7"/>
          <p:cNvSpPr txBox="1"/>
          <p:nvPr/>
        </p:nvSpPr>
        <p:spPr>
          <a:xfrm>
            <a:off x="8138160" y="3383280"/>
            <a:ext cx="3200400" cy="548640"/>
          </a:xfrm>
          <a:prstGeom prst="rect">
            <a:avLst/>
          </a:prstGeom>
          <a:noFill/>
          <a:ln/>
        </p:spPr>
        <p:txBody>
          <a:bodyPr wrap="square" lIns="0" tIns="0" rIns="0" bIns="0" rtlCol="0" anchor="ctr"/>
          <a:lstStyle/>
          <a:p>
            <a:pPr indent="0" marL="0">
              <a:buNone/>
            </a:pPr>
            <a:r>
              <a:rPr lang="en-US" sz="3000" b="1" dirty="0">
                <a:solidFill>
                  <a:schemeClr val="accent1"/>
                </a:solidFill>
                <a:latin typeface="Cambria" pitchFamily="34" charset="0"/>
                <a:ea typeface="Cambria" pitchFamily="34" charset="-122"/>
                <a:cs typeface="Cambria" pitchFamily="34" charset="-120"/>
              </a:rPr>
              <a:t>$17.71</a:t>
            </a:r>
            <a:endParaRPr lang="en-US" sz="3000" dirty="0"/>
          </a:p>
        </p:txBody>
      </p:sp>
      <p:sp>
        <p:nvSpPr>
          <p:cNvPr id="11" name="Text 8"/>
          <p:cNvSpPr txBox="1"/>
          <p:nvPr/>
        </p:nvSpPr>
        <p:spPr>
          <a:xfrm>
            <a:off x="8138160" y="3959352"/>
            <a:ext cx="3200400" cy="457200"/>
          </a:xfrm>
          <a:prstGeom prst="rect">
            <a:avLst/>
          </a:prstGeom>
          <a:noFill/>
          <a:ln/>
        </p:spPr>
        <p:txBody>
          <a:bodyPr wrap="square" lIns="0" tIns="0" rIns="0" bIns="0" rtlCol="0" anchor="t"/>
          <a:lstStyle/>
          <a:p>
            <a:pPr indent="0" marL="0">
              <a:buNone/>
            </a:pPr>
            <a:r>
              <a:rPr lang="en-US" sz="1400" b="1" dirty="0">
                <a:solidFill>
                  <a:schemeClr val="tx2"/>
                </a:solidFill>
              </a:rPr>
              <a:t>large record-attempt models</a:t>
            </a:r>
            <a:endParaRPr lang="en-US" sz="1400" dirty="0"/>
          </a:p>
        </p:txBody>
      </p:sp>
      <p:sp>
        <p:nvSpPr>
          <p:cNvPr id="12" name="cost $0"/>
          <p:cNvSpPr/>
          <p:nvPr/>
        </p:nvSpPr>
        <p:spPr>
          <a:xfrm>
            <a:off x="7863840" y="4709160"/>
            <a:ext cx="3749040" cy="1280160"/>
          </a:xfrm>
          <a:prstGeom prst="roundRect">
            <a:avLst>
              <a:gd name="adj" fmla="val 5714"/>
            </a:avLst>
          </a:prstGeom>
          <a:solidFill>
            <a:schemeClr val="bg2"/>
          </a:solidFill>
          <a:ln/>
          <a:effectLst>
            <a:outerShdw sx="100000" sy="100000" kx="0" ky="0" algn="bl" rotWithShape="0" blurRad="76200" dist="25400" dir="5400000">
              <a:srgbClr val="9C8189">
                <a:alpha val="16000"/>
              </a:srgbClr>
            </a:outerShdw>
          </a:effectLst>
        </p:spPr>
      </p:sp>
      <p:sp>
        <p:nvSpPr>
          <p:cNvPr id="13" name="Text 10"/>
          <p:cNvSpPr txBox="1"/>
          <p:nvPr/>
        </p:nvSpPr>
        <p:spPr>
          <a:xfrm>
            <a:off x="8138160" y="4846320"/>
            <a:ext cx="3200400" cy="548640"/>
          </a:xfrm>
          <a:prstGeom prst="rect">
            <a:avLst/>
          </a:prstGeom>
          <a:noFill/>
          <a:ln/>
        </p:spPr>
        <p:txBody>
          <a:bodyPr wrap="square" lIns="0" tIns="0" rIns="0" bIns="0" rtlCol="0" anchor="ctr"/>
          <a:lstStyle/>
          <a:p>
            <a:pPr indent="0" marL="0">
              <a:buNone/>
            </a:pPr>
            <a:r>
              <a:rPr lang="en-US" sz="3000" b="1" dirty="0">
                <a:solidFill>
                  <a:schemeClr val="accent3"/>
                </a:solidFill>
                <a:latin typeface="Cambria" pitchFamily="34" charset="0"/>
                <a:ea typeface="Cambria" pitchFamily="34" charset="-122"/>
                <a:cs typeface="Cambria" pitchFamily="34" charset="-120"/>
              </a:rPr>
              <a:t>$0</a:t>
            </a:r>
            <a:endParaRPr lang="en-US" sz="3000" dirty="0"/>
          </a:p>
        </p:txBody>
      </p:sp>
      <p:sp>
        <p:nvSpPr>
          <p:cNvPr id="14" name="Text 11"/>
          <p:cNvSpPr txBox="1"/>
          <p:nvPr/>
        </p:nvSpPr>
        <p:spPr>
          <a:xfrm>
            <a:off x="8138160" y="5422392"/>
            <a:ext cx="3200400" cy="457200"/>
          </a:xfrm>
          <a:prstGeom prst="rect">
            <a:avLst/>
          </a:prstGeom>
          <a:noFill/>
          <a:ln/>
        </p:spPr>
        <p:txBody>
          <a:bodyPr wrap="square" lIns="0" tIns="0" rIns="0" bIns="0" rtlCol="0" anchor="t"/>
          <a:lstStyle/>
          <a:p>
            <a:pPr indent="0" marL="0">
              <a:buNone/>
            </a:pPr>
            <a:r>
              <a:rPr lang="en-US" sz="1400" b="1" dirty="0">
                <a:solidFill>
                  <a:schemeClr val="tx2"/>
                </a:solidFill>
              </a:rPr>
              <a:t>laptop work: device model, routers, analysis</a:t>
            </a:r>
            <a:endParaRPr lang="en-US" sz="1400" dirty="0"/>
          </a:p>
        </p:txBody>
      </p:sp>
      <p:sp>
        <p:nvSpPr>
          <p:cNvPr id="25" name="Slide Number Placeholder 0"/>
          <p:cNvSpPr>
            <a:spLocks noGrp="1"/>
          </p:cNvSpPr>
          <p:nvPr>
            <p:ph type="sldNum" sz="quarter" idx="4294967295"/>
          </p:nvPr>
        </p:nvSpPr>
        <p:spPr>
          <a:xfrm>
            <a:off x="11274552" y="347472"/>
            <a:ext cx="384048" cy="384048"/>
          </a:xfrm>
          <a:prstGeom prst="rect">
            <a:avLst/>
          </a:prstGeom>
          <a:extLst>
            <a:ext uri="{C572A759-6A51-4108-AA02-DFA0A04FC94B}">
              <ma14:wrappingTextBoxFlag xmlns:ma14="http://schemas.microsoft.com/office/mac/drawingml/2011/main" val="0"/>
            </a:ext>
          </a:extLst>
        </p:spPr>
        <p:txBody>
          <a:bodyPr anchor="ctr"/>
          <a:lstStyle>
            <a:lvl1pPr>
              <a:defRPr sz="1200">
                <a:solidFill>
                  <a:srgbClr val="3A2E31"/>
                </a:solidFill>
              </a:defRPr>
            </a:lvl1pPr>
          </a:lstStyle>
          <a:p>
            <a:pPr algn="ct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1" type="body" hasCustomPrompt="1"/>
          </p:nvPr>
        </p:nvSpPr>
        <p:spPr>
          <a:xfrm>
            <a:off x="548640" y="365760"/>
            <a:ext cx="9601200" cy="292608"/>
          </a:xfrm>
          <a:prstGeom prst="rect">
            <a:avLst/>
          </a:prstGeom>
          <a:noFill/>
          <a:ln/>
        </p:spPr>
        <p:txBody>
          <a:bodyPr wrap="square" lIns="0" tIns="0" rIns="0" bIns="0" rtlCol="0"/>
          <a:lstStyle/>
          <a:p>
            <a:pPr indent="0" marL="0">
              <a:buNone/>
            </a:pPr>
            <a:r>
              <a:rPr lang="en-US" sz="1200" b="1" spc="200" kern="0" dirty="0">
                <a:solidFill>
                  <a:schemeClr val="accent6"/>
                </a:solidFill>
              </a:rPr>
              <a:t>TRAINING THE ROUTER  ·  DANYSON ANTONY</a:t>
            </a:r>
            <a:endParaRPr lang="en-US" sz="1200" dirty="0"/>
          </a:p>
        </p:txBody>
      </p:sp>
      <p:sp>
        <p:nvSpPr>
          <p:cNvPr id="3" name="Text 0"/>
          <p:cNvSpPr/>
          <p:nvPr>
            <p:ph idx="102" type="title" hasCustomPrompt="1"/>
          </p:nvPr>
        </p:nvSpPr>
        <p:spPr>
          <a:xfrm>
            <a:off x="548640" y="676656"/>
            <a:ext cx="10424160" cy="822960"/>
          </a:xfrm>
          <a:prstGeom prst="rect">
            <a:avLst/>
          </a:prstGeom>
          <a:noFill/>
          <a:ln/>
        </p:spPr>
        <p:txBody>
          <a:bodyPr wrap="square" lIns="0" tIns="0" rIns="0" bIns="0" rtlCol="0" anchor="t"/>
          <a:lstStyle/>
          <a:p>
            <a:pPr algn="l" indent="0" marL="0">
              <a:buNone/>
            </a:pPr>
            <a:r>
              <a:rPr lang="en-US" sz="3000" b="1" dirty="0">
                <a:solidFill>
                  <a:schemeClr val="tx2"/>
                </a:solidFill>
              </a:rPr>
              <a:t>Learned deferral is trained on 300,000 reviews both models have answered</a:t>
            </a:r>
            <a:endParaRPr lang="en-US" sz="3000" dirty="0"/>
          </a:p>
        </p:txBody>
      </p:sp>
      <p:sp>
        <p:nvSpPr>
          <p:cNvPr id="4" name="Text 0"/>
          <p:cNvSpPr/>
          <p:nvPr>
            <p:ph idx="103" type="body" hasCustomPrompt="1"/>
          </p:nvPr>
        </p:nvSpPr>
        <p:spPr>
          <a:xfrm>
            <a:off x="548640" y="6355080"/>
            <a:ext cx="10515600" cy="310896"/>
          </a:xfrm>
          <a:prstGeom prst="rect">
            <a:avLst/>
          </a:prstGeom>
          <a:noFill/>
          <a:ln/>
        </p:spPr>
        <p:txBody>
          <a:bodyPr wrap="square" lIns="0" tIns="0" rIns="0" bIns="0" rtlCol="0"/>
          <a:lstStyle/>
          <a:p>
            <a:pPr indent="0" marL="0">
              <a:buNone/>
            </a:pPr>
            <a:r>
              <a:rPr lang="en-US" sz="1100" i="1" dirty="0">
                <a:solidFill>
                  <a:schemeClr val="accent6"/>
                </a:solidFill>
              </a:rPr>
              <a:t>Counts for the RoBERTa-base hub on the re-drawn deferral slice; regularisation chosen at 10% sent (C = 0.1)</a:t>
            </a:r>
            <a:endParaRPr lang="en-US" sz="1100" dirty="0"/>
          </a:p>
        </p:txBody>
      </p:sp>
      <p:sp>
        <p:nvSpPr>
          <p:cNvPr id="5" name="gain +1"/>
          <p:cNvSpPr/>
          <p:nvPr/>
        </p:nvSpPr>
        <p:spPr>
          <a:xfrm>
            <a:off x="548640" y="1783080"/>
            <a:ext cx="3474720" cy="1600200"/>
          </a:xfrm>
          <a:prstGeom prst="roundRect">
            <a:avLst>
              <a:gd name="adj" fmla="val 4571"/>
            </a:avLst>
          </a:prstGeom>
          <a:solidFill>
            <a:schemeClr val="bg2"/>
          </a:solidFill>
          <a:ln/>
          <a:effectLst>
            <a:outerShdw sx="100000" sy="100000" kx="0" ky="0" algn="bl" rotWithShape="0" blurRad="76200" dist="25400" dir="5400000">
              <a:srgbClr val="9C8189">
                <a:alpha val="16000"/>
              </a:srgbClr>
            </a:outerShdw>
          </a:effectLst>
        </p:spPr>
      </p:sp>
      <p:sp>
        <p:nvSpPr>
          <p:cNvPr id="6" name="Text 4"/>
          <p:cNvSpPr txBox="1"/>
          <p:nvPr/>
        </p:nvSpPr>
        <p:spPr>
          <a:xfrm>
            <a:off x="822960" y="1965960"/>
            <a:ext cx="822960" cy="685800"/>
          </a:xfrm>
          <a:prstGeom prst="rect">
            <a:avLst/>
          </a:prstGeom>
          <a:noFill/>
          <a:ln/>
        </p:spPr>
        <p:txBody>
          <a:bodyPr wrap="square" lIns="0" tIns="0" rIns="0" bIns="0" rtlCol="0" anchor="ctr"/>
          <a:lstStyle/>
          <a:p>
            <a:pPr indent="0" marL="0">
              <a:buNone/>
            </a:pPr>
            <a:r>
              <a:rPr lang="en-US" sz="3400" b="1" dirty="0">
                <a:solidFill>
                  <a:schemeClr val="accent3"/>
                </a:solidFill>
                <a:latin typeface="Cambria" pitchFamily="34" charset="0"/>
                <a:ea typeface="Cambria" pitchFamily="34" charset="-122"/>
                <a:cs typeface="Cambria" pitchFamily="34" charset="-120"/>
              </a:rPr>
              <a:t>+1</a:t>
            </a:r>
            <a:endParaRPr lang="en-US" sz="3400" dirty="0"/>
          </a:p>
        </p:txBody>
      </p:sp>
      <p:sp>
        <p:nvSpPr>
          <p:cNvPr id="7" name="Text 5"/>
          <p:cNvSpPr txBox="1"/>
          <p:nvPr/>
        </p:nvSpPr>
        <p:spPr>
          <a:xfrm>
            <a:off x="1691640" y="1965960"/>
            <a:ext cx="2103120" cy="685800"/>
          </a:xfrm>
          <a:prstGeom prst="rect">
            <a:avLst/>
          </a:prstGeom>
          <a:noFill/>
          <a:ln/>
        </p:spPr>
        <p:txBody>
          <a:bodyPr wrap="square" lIns="0" tIns="0" rIns="0" bIns="0" rtlCol="0" anchor="ctr"/>
          <a:lstStyle/>
          <a:p>
            <a:pPr indent="0" marL="0">
              <a:buNone/>
            </a:pPr>
            <a:r>
              <a:rPr lang="en-US" sz="3000" b="1" dirty="0">
                <a:solidFill>
                  <a:schemeClr val="tx2"/>
                </a:solidFill>
                <a:latin typeface="Cambria" pitchFamily="34" charset="0"/>
                <a:ea typeface="Cambria" pitchFamily="34" charset="-122"/>
                <a:cs typeface="Cambria" pitchFamily="34" charset="-120"/>
              </a:rPr>
              <a:t>16,276</a:t>
            </a:r>
            <a:endParaRPr lang="en-US" sz="3000" dirty="0"/>
          </a:p>
        </p:txBody>
      </p:sp>
      <p:sp>
        <p:nvSpPr>
          <p:cNvPr id="8" name="Text 6"/>
          <p:cNvSpPr txBox="1"/>
          <p:nvPr/>
        </p:nvSpPr>
        <p:spPr>
          <a:xfrm>
            <a:off x="822960" y="2743200"/>
            <a:ext cx="3017520" cy="457200"/>
          </a:xfrm>
          <a:prstGeom prst="rect">
            <a:avLst/>
          </a:prstGeom>
          <a:noFill/>
          <a:ln/>
        </p:spPr>
        <p:txBody>
          <a:bodyPr wrap="square" lIns="0" tIns="0" rIns="0" bIns="0" rtlCol="0" anchor="ctr"/>
          <a:lstStyle/>
          <a:p>
            <a:pPr indent="0" marL="0">
              <a:buNone/>
            </a:pPr>
            <a:r>
              <a:rPr lang="en-US" sz="1500" dirty="0">
                <a:solidFill>
                  <a:schemeClr val="tx1"/>
                </a:solidFill>
              </a:rPr>
              <a:t>hub fixes the device (5.43%)</a:t>
            </a:r>
            <a:endParaRPr lang="en-US" sz="1500" dirty="0"/>
          </a:p>
        </p:txBody>
      </p:sp>
      <p:sp>
        <p:nvSpPr>
          <p:cNvPr id="9" name="gain 0"/>
          <p:cNvSpPr/>
          <p:nvPr/>
        </p:nvSpPr>
        <p:spPr>
          <a:xfrm>
            <a:off x="4297680" y="1783080"/>
            <a:ext cx="3474720" cy="1600200"/>
          </a:xfrm>
          <a:prstGeom prst="roundRect">
            <a:avLst>
              <a:gd name="adj" fmla="val 4571"/>
            </a:avLst>
          </a:prstGeom>
          <a:solidFill>
            <a:schemeClr val="bg2"/>
          </a:solidFill>
          <a:ln/>
          <a:effectLst>
            <a:outerShdw sx="100000" sy="100000" kx="0" ky="0" algn="bl" rotWithShape="0" blurRad="76200" dist="25400" dir="5400000">
              <a:srgbClr val="9C8189">
                <a:alpha val="16000"/>
              </a:srgbClr>
            </a:outerShdw>
          </a:effectLst>
        </p:spPr>
      </p:sp>
      <p:sp>
        <p:nvSpPr>
          <p:cNvPr id="10" name="Text 8"/>
          <p:cNvSpPr txBox="1"/>
          <p:nvPr/>
        </p:nvSpPr>
        <p:spPr>
          <a:xfrm>
            <a:off x="4572000" y="1965960"/>
            <a:ext cx="822960" cy="685800"/>
          </a:xfrm>
          <a:prstGeom prst="rect">
            <a:avLst/>
          </a:prstGeom>
          <a:noFill/>
          <a:ln/>
        </p:spPr>
        <p:txBody>
          <a:bodyPr wrap="square" lIns="0" tIns="0" rIns="0" bIns="0" rtlCol="0" anchor="ctr"/>
          <a:lstStyle/>
          <a:p>
            <a:pPr indent="0" marL="0">
              <a:buNone/>
            </a:pPr>
            <a:r>
              <a:rPr lang="en-US" sz="3400" b="1" dirty="0">
                <a:solidFill>
                  <a:schemeClr val="accent1"/>
                </a:solidFill>
                <a:latin typeface="Cambria" pitchFamily="34" charset="0"/>
                <a:ea typeface="Cambria" pitchFamily="34" charset="-122"/>
                <a:cs typeface="Cambria" pitchFamily="34" charset="-120"/>
              </a:rPr>
              <a:t>0</a:t>
            </a:r>
            <a:endParaRPr lang="en-US" sz="3400" dirty="0"/>
          </a:p>
        </p:txBody>
      </p:sp>
      <p:sp>
        <p:nvSpPr>
          <p:cNvPr id="11" name="Text 9"/>
          <p:cNvSpPr txBox="1"/>
          <p:nvPr/>
        </p:nvSpPr>
        <p:spPr>
          <a:xfrm>
            <a:off x="5440680" y="1965960"/>
            <a:ext cx="2103120" cy="685800"/>
          </a:xfrm>
          <a:prstGeom prst="rect">
            <a:avLst/>
          </a:prstGeom>
          <a:noFill/>
          <a:ln/>
        </p:spPr>
        <p:txBody>
          <a:bodyPr wrap="square" lIns="0" tIns="0" rIns="0" bIns="0" rtlCol="0" anchor="ctr"/>
          <a:lstStyle/>
          <a:p>
            <a:pPr indent="0" marL="0">
              <a:buNone/>
            </a:pPr>
            <a:r>
              <a:rPr lang="en-US" sz="3000" b="1" dirty="0">
                <a:solidFill>
                  <a:schemeClr val="tx2"/>
                </a:solidFill>
                <a:latin typeface="Cambria" pitchFamily="34" charset="0"/>
                <a:ea typeface="Cambria" pitchFamily="34" charset="-122"/>
                <a:cs typeface="Cambria" pitchFamily="34" charset="-120"/>
              </a:rPr>
              <a:t>279,992</a:t>
            </a:r>
            <a:endParaRPr lang="en-US" sz="3000" dirty="0"/>
          </a:p>
        </p:txBody>
      </p:sp>
      <p:sp>
        <p:nvSpPr>
          <p:cNvPr id="12" name="Text 10"/>
          <p:cNvSpPr txBox="1"/>
          <p:nvPr/>
        </p:nvSpPr>
        <p:spPr>
          <a:xfrm>
            <a:off x="4572000" y="2743200"/>
            <a:ext cx="3017520" cy="457200"/>
          </a:xfrm>
          <a:prstGeom prst="rect">
            <a:avLst/>
          </a:prstGeom>
          <a:noFill/>
          <a:ln/>
        </p:spPr>
        <p:txBody>
          <a:bodyPr wrap="square" lIns="0" tIns="0" rIns="0" bIns="0" rtlCol="0" anchor="ctr"/>
          <a:lstStyle/>
          <a:p>
            <a:pPr indent="0" marL="0">
              <a:buNone/>
            </a:pPr>
            <a:r>
              <a:rPr lang="en-US" sz="1500" dirty="0">
                <a:solidFill>
                  <a:schemeClr val="tx1"/>
                </a:solidFill>
              </a:rPr>
              <a:t>no change (93.33%)</a:t>
            </a:r>
            <a:endParaRPr lang="en-US" sz="1500" dirty="0"/>
          </a:p>
        </p:txBody>
      </p:sp>
      <p:sp>
        <p:nvSpPr>
          <p:cNvPr id="13" name="gain −1"/>
          <p:cNvSpPr/>
          <p:nvPr/>
        </p:nvSpPr>
        <p:spPr>
          <a:xfrm>
            <a:off x="8046720" y="1783080"/>
            <a:ext cx="3474720" cy="1600200"/>
          </a:xfrm>
          <a:prstGeom prst="roundRect">
            <a:avLst>
              <a:gd name="adj" fmla="val 4571"/>
            </a:avLst>
          </a:prstGeom>
          <a:solidFill>
            <a:schemeClr val="bg2"/>
          </a:solidFill>
          <a:ln/>
          <a:effectLst>
            <a:outerShdw sx="100000" sy="100000" kx="0" ky="0" algn="bl" rotWithShape="0" blurRad="76200" dist="25400" dir="5400000">
              <a:srgbClr val="9C8189">
                <a:alpha val="16000"/>
              </a:srgbClr>
            </a:outerShdw>
          </a:effectLst>
        </p:spPr>
      </p:sp>
      <p:sp>
        <p:nvSpPr>
          <p:cNvPr id="14" name="Text 12"/>
          <p:cNvSpPr txBox="1"/>
          <p:nvPr/>
        </p:nvSpPr>
        <p:spPr>
          <a:xfrm>
            <a:off x="8321040" y="1965960"/>
            <a:ext cx="822960" cy="685800"/>
          </a:xfrm>
          <a:prstGeom prst="rect">
            <a:avLst/>
          </a:prstGeom>
          <a:noFill/>
          <a:ln/>
        </p:spPr>
        <p:txBody>
          <a:bodyPr wrap="square" lIns="0" tIns="0" rIns="0" bIns="0" rtlCol="0" anchor="ctr"/>
          <a:lstStyle/>
          <a:p>
            <a:pPr indent="0" marL="0">
              <a:buNone/>
            </a:pPr>
            <a:r>
              <a:rPr lang="en-US" sz="3400" b="1" dirty="0">
                <a:solidFill>
                  <a:schemeClr val="accent2"/>
                </a:solidFill>
                <a:latin typeface="Cambria" pitchFamily="34" charset="0"/>
                <a:ea typeface="Cambria" pitchFamily="34" charset="-122"/>
                <a:cs typeface="Cambria" pitchFamily="34" charset="-120"/>
              </a:rPr>
              <a:t>−1</a:t>
            </a:r>
            <a:endParaRPr lang="en-US" sz="3400" dirty="0"/>
          </a:p>
        </p:txBody>
      </p:sp>
      <p:sp>
        <p:nvSpPr>
          <p:cNvPr id="15" name="Text 13"/>
          <p:cNvSpPr txBox="1"/>
          <p:nvPr/>
        </p:nvSpPr>
        <p:spPr>
          <a:xfrm>
            <a:off x="9189720" y="1965960"/>
            <a:ext cx="2103120" cy="685800"/>
          </a:xfrm>
          <a:prstGeom prst="rect">
            <a:avLst/>
          </a:prstGeom>
          <a:noFill/>
          <a:ln/>
        </p:spPr>
        <p:txBody>
          <a:bodyPr wrap="square" lIns="0" tIns="0" rIns="0" bIns="0" rtlCol="0" anchor="ctr"/>
          <a:lstStyle/>
          <a:p>
            <a:pPr indent="0" marL="0">
              <a:buNone/>
            </a:pPr>
            <a:r>
              <a:rPr lang="en-US" sz="3000" b="1" dirty="0">
                <a:solidFill>
                  <a:schemeClr val="tx2"/>
                </a:solidFill>
                <a:latin typeface="Cambria" pitchFamily="34" charset="0"/>
                <a:ea typeface="Cambria" pitchFamily="34" charset="-122"/>
                <a:cs typeface="Cambria" pitchFamily="34" charset="-120"/>
              </a:rPr>
              <a:t>3,732</a:t>
            </a:r>
            <a:endParaRPr lang="en-US" sz="3000" dirty="0"/>
          </a:p>
        </p:txBody>
      </p:sp>
      <p:sp>
        <p:nvSpPr>
          <p:cNvPr id="16" name="Text 14"/>
          <p:cNvSpPr txBox="1"/>
          <p:nvPr/>
        </p:nvSpPr>
        <p:spPr>
          <a:xfrm>
            <a:off x="8321040" y="2743200"/>
            <a:ext cx="3017520" cy="457200"/>
          </a:xfrm>
          <a:prstGeom prst="rect">
            <a:avLst/>
          </a:prstGeom>
          <a:noFill/>
          <a:ln/>
        </p:spPr>
        <p:txBody>
          <a:bodyPr wrap="square" lIns="0" tIns="0" rIns="0" bIns="0" rtlCol="0" anchor="ctr"/>
          <a:lstStyle/>
          <a:p>
            <a:pPr indent="0" marL="0">
              <a:buNone/>
            </a:pPr>
            <a:r>
              <a:rPr lang="en-US" sz="1500" dirty="0">
                <a:solidFill>
                  <a:schemeClr val="tx1"/>
                </a:solidFill>
              </a:rPr>
              <a:t>hub breaks the device (1.24%)</a:t>
            </a:r>
            <a:endParaRPr lang="en-US" sz="1500" dirty="0"/>
          </a:p>
        </p:txBody>
      </p:sp>
      <p:sp>
        <p:nvSpPr>
          <p:cNvPr id="17" name="features"/>
          <p:cNvSpPr/>
          <p:nvPr/>
        </p:nvSpPr>
        <p:spPr>
          <a:xfrm>
            <a:off x="548640" y="3657600"/>
            <a:ext cx="5394960" cy="2423160"/>
          </a:xfrm>
          <a:prstGeom prst="roundRect">
            <a:avLst>
              <a:gd name="adj" fmla="val 3019"/>
            </a:avLst>
          </a:prstGeom>
          <a:solidFill>
            <a:schemeClr val="bg2"/>
          </a:solidFill>
          <a:ln/>
          <a:effectLst>
            <a:outerShdw sx="100000" sy="100000" kx="0" ky="0" algn="bl" rotWithShape="0" blurRad="76200" dist="25400" dir="5400000">
              <a:srgbClr val="9C8189">
                <a:alpha val="16000"/>
              </a:srgbClr>
            </a:outerShdw>
          </a:effectLst>
        </p:spPr>
      </p:sp>
      <p:sp>
        <p:nvSpPr>
          <p:cNvPr id="18" name="Text 16"/>
          <p:cNvSpPr txBox="1"/>
          <p:nvPr/>
        </p:nvSpPr>
        <p:spPr>
          <a:xfrm>
            <a:off x="822960" y="3840480"/>
            <a:ext cx="4937760" cy="365760"/>
          </a:xfrm>
          <a:prstGeom prst="rect">
            <a:avLst/>
          </a:prstGeom>
          <a:noFill/>
          <a:ln/>
        </p:spPr>
        <p:txBody>
          <a:bodyPr wrap="square" lIns="0" tIns="0" rIns="0" bIns="0" rtlCol="0" anchor="ctr"/>
          <a:lstStyle/>
          <a:p>
            <a:pPr indent="0" marL="0">
              <a:buNone/>
            </a:pPr>
            <a:r>
              <a:rPr lang="en-US" sz="1700" b="1" dirty="0">
                <a:solidFill>
                  <a:schemeClr val="accent2"/>
                </a:solidFill>
              </a:rPr>
              <a:t>What the router sees (fits the device)</a:t>
            </a:r>
            <a:endParaRPr lang="en-US" sz="1700" dirty="0"/>
          </a:p>
        </p:txBody>
      </p:sp>
      <p:sp>
        <p:nvSpPr>
          <p:cNvPr id="19" name="Text 17"/>
          <p:cNvSpPr txBox="1"/>
          <p:nvPr/>
        </p:nvSpPr>
        <p:spPr>
          <a:xfrm>
            <a:off x="822960" y="4343400"/>
            <a:ext cx="4937760" cy="1645920"/>
          </a:xfrm>
          <a:prstGeom prst="rect">
            <a:avLst/>
          </a:prstGeom>
          <a:noFill/>
          <a:ln/>
        </p:spPr>
        <p:txBody>
          <a:bodyPr wrap="square" lIns="0" tIns="0" rIns="0" bIns="0" rtlCol="0" anchor="t"/>
          <a:lstStyle/>
          <a:p>
            <a:pPr marL="228600" indent="-228600">
              <a:spcAft>
                <a:spcPts val="800"/>
              </a:spcAft>
              <a:buSzPct val="100000"/>
              <a:buChar char="•"/>
            </a:pPr>
            <a:r>
              <a:rPr lang="en-US" sz="1500" dirty="0">
                <a:solidFill>
                  <a:schemeClr val="tx1"/>
                </a:solidFill>
              </a:rPr>
              <a:t>65,536 hashed word buckets; two int8 tables = 128 KB</a:t>
            </a:r>
            <a:endParaRPr lang="en-US" sz="1500" dirty="0"/>
          </a:p>
          <a:p>
            <a:pPr marL="228600" indent="-228600">
              <a:spcAft>
                <a:spcPts val="800"/>
              </a:spcAft>
              <a:buSzPct val="100000"/>
              <a:buChar char="•"/>
            </a:pPr>
            <a:r>
              <a:rPr lang="en-US" sz="1500" dirty="0">
                <a:solidFill>
                  <a:schemeClr val="tx1"/>
                </a:solidFill>
              </a:rPr>
              <a:t>Device confidence in 10 bins (0.5 to 1.0)</a:t>
            </a:r>
            <a:endParaRPr lang="en-US" sz="1500" dirty="0"/>
          </a:p>
          <a:p>
            <a:pPr marL="228600" indent="-228600">
              <a:spcAft>
                <a:spcPts val="800"/>
              </a:spcAft>
              <a:buSzPct val="100000"/>
              <a:buChar char="•"/>
            </a:pPr>
            <a:r>
              <a:rPr lang="en-US" sz="1500" dirty="0">
                <a:solidFill>
                  <a:schemeClr val="tx1"/>
                </a:solidFill>
              </a:rPr>
              <a:t>Review length in 9 bins</a:t>
            </a:r>
            <a:endParaRPr lang="en-US" sz="1500" dirty="0"/>
          </a:p>
        </p:txBody>
      </p:sp>
      <p:sp>
        <p:nvSpPr>
          <p:cNvPr id="20" name="model"/>
          <p:cNvSpPr/>
          <p:nvPr/>
        </p:nvSpPr>
        <p:spPr>
          <a:xfrm>
            <a:off x="6217920" y="3657600"/>
            <a:ext cx="5394960" cy="2423160"/>
          </a:xfrm>
          <a:prstGeom prst="roundRect">
            <a:avLst>
              <a:gd name="adj" fmla="val 3019"/>
            </a:avLst>
          </a:prstGeom>
          <a:solidFill>
            <a:schemeClr val="bg2"/>
          </a:solidFill>
          <a:ln/>
          <a:effectLst>
            <a:outerShdw sx="100000" sy="100000" kx="0" ky="0" algn="bl" rotWithShape="0" blurRad="76200" dist="25400" dir="5400000">
              <a:srgbClr val="9C8189">
                <a:alpha val="16000"/>
              </a:srgbClr>
            </a:outerShdw>
          </a:effectLst>
        </p:spPr>
      </p:sp>
      <p:sp>
        <p:nvSpPr>
          <p:cNvPr id="21" name="Text 19"/>
          <p:cNvSpPr txBox="1"/>
          <p:nvPr/>
        </p:nvSpPr>
        <p:spPr>
          <a:xfrm>
            <a:off x="6492240" y="3840480"/>
            <a:ext cx="4937760" cy="365760"/>
          </a:xfrm>
          <a:prstGeom prst="rect">
            <a:avLst/>
          </a:prstGeom>
          <a:noFill/>
          <a:ln/>
        </p:spPr>
        <p:txBody>
          <a:bodyPr wrap="square" lIns="0" tIns="0" rIns="0" bIns="0" rtlCol="0" anchor="ctr"/>
          <a:lstStyle/>
          <a:p>
            <a:pPr indent="0" marL="0">
              <a:buNone/>
            </a:pPr>
            <a:r>
              <a:rPr lang="en-US" sz="1700" b="1" dirty="0">
                <a:solidFill>
                  <a:schemeClr val="accent3"/>
                </a:solidFill>
              </a:rPr>
              <a:t>How it is trained and used</a:t>
            </a:r>
            <a:endParaRPr lang="en-US" sz="1700" dirty="0"/>
          </a:p>
        </p:txBody>
      </p:sp>
      <p:sp>
        <p:nvSpPr>
          <p:cNvPr id="22" name="Text 20"/>
          <p:cNvSpPr txBox="1"/>
          <p:nvPr/>
        </p:nvSpPr>
        <p:spPr>
          <a:xfrm>
            <a:off x="6492240" y="4343400"/>
            <a:ext cx="4937760" cy="1645920"/>
          </a:xfrm>
          <a:prstGeom prst="rect">
            <a:avLst/>
          </a:prstGeom>
          <a:noFill/>
          <a:ln/>
        </p:spPr>
        <p:txBody>
          <a:bodyPr wrap="square" lIns="0" tIns="0" rIns="0" bIns="0" rtlCol="0" anchor="t"/>
          <a:lstStyle/>
          <a:p>
            <a:pPr marL="228600" indent="-228600">
              <a:spcAft>
                <a:spcPts val="800"/>
              </a:spcAft>
              <a:buSzPct val="100000"/>
              <a:buChar char="•"/>
            </a:pPr>
            <a:r>
              <a:rPr lang="en-US" sz="1500" dirty="0">
                <a:solidFill>
                  <a:schemeClr val="tx1"/>
                </a:solidFill>
              </a:rPr>
              <a:t>Gain = hub right − device right</a:t>
            </a:r>
            <a:endParaRPr lang="en-US" sz="1500" dirty="0"/>
          </a:p>
          <a:p>
            <a:pPr marL="228600" indent="-228600">
              <a:spcAft>
                <a:spcPts val="800"/>
              </a:spcAft>
              <a:buSzPct val="100000"/>
              <a:buChar char="•"/>
            </a:pPr>
            <a:r>
              <a:rPr lang="en-US" sz="1500" dirty="0">
                <a:solidFill>
                  <a:schemeClr val="tx1"/>
                </a:solidFill>
              </a:rPr>
              <a:t>3-class logistic regression on 250,000 reviews</a:t>
            </a:r>
            <a:endParaRPr lang="en-US" sz="1500" dirty="0"/>
          </a:p>
          <a:p>
            <a:pPr marL="228600" indent="-228600">
              <a:spcAft>
                <a:spcPts val="800"/>
              </a:spcAft>
              <a:buSzPct val="100000"/>
              <a:buChar char="•"/>
            </a:pPr>
            <a:r>
              <a:rPr lang="en-US" sz="1500" dirty="0">
                <a:solidFill>
                  <a:schemeClr val="tx1"/>
                </a:solidFill>
              </a:rPr>
              <a:t>Score: g(x) = P(+1) − P(−1)</a:t>
            </a:r>
            <a:endParaRPr lang="en-US" sz="1500" dirty="0"/>
          </a:p>
        </p:txBody>
      </p:sp>
      <p:sp>
        <p:nvSpPr>
          <p:cNvPr id="25" name="Slide Number Placeholder 0"/>
          <p:cNvSpPr>
            <a:spLocks noGrp="1"/>
          </p:cNvSpPr>
          <p:nvPr>
            <p:ph type="sldNum" sz="quarter" idx="4294967295"/>
          </p:nvPr>
        </p:nvSpPr>
        <p:spPr>
          <a:xfrm>
            <a:off x="11274552" y="347472"/>
            <a:ext cx="384048" cy="384048"/>
          </a:xfrm>
          <a:prstGeom prst="rect">
            <a:avLst/>
          </a:prstGeom>
          <a:extLst>
            <a:ext uri="{C572A759-6A51-4108-AA02-DFA0A04FC94B}">
              <ma14:wrappingTextBoxFlag xmlns:ma14="http://schemas.microsoft.com/office/mac/drawingml/2011/main" val="0"/>
            </a:ext>
          </a:extLst>
        </p:spPr>
        <p:txBody>
          <a:bodyPr anchor="ctr"/>
          <a:lstStyle>
            <a:lvl1pPr>
              <a:defRPr sz="1200">
                <a:solidFill>
                  <a:srgbClr val="3A2E31"/>
                </a:solidFill>
              </a:defRPr>
            </a:lvl1pPr>
          </a:lstStyle>
          <a:p>
            <a:pPr algn="ct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1" type="body" hasCustomPrompt="1"/>
          </p:nvPr>
        </p:nvSpPr>
        <p:spPr>
          <a:xfrm>
            <a:off x="548640" y="365760"/>
            <a:ext cx="9601200" cy="292608"/>
          </a:xfrm>
          <a:prstGeom prst="rect">
            <a:avLst/>
          </a:prstGeom>
          <a:noFill/>
          <a:ln/>
        </p:spPr>
        <p:txBody>
          <a:bodyPr wrap="square" lIns="0" tIns="0" rIns="0" bIns="0" rtlCol="0"/>
          <a:lstStyle/>
          <a:p>
            <a:pPr indent="0" marL="0">
              <a:buNone/>
            </a:pPr>
            <a:r>
              <a:rPr lang="en-US" sz="1200" b="1" spc="200" kern="0" dirty="0">
                <a:solidFill>
                  <a:schemeClr val="accent6"/>
                </a:solidFill>
              </a:rPr>
              <a:t>HOW EVERY NUMBER IS COMPUTED  ·  DANYSON ANTONY</a:t>
            </a:r>
            <a:endParaRPr lang="en-US" sz="1200" dirty="0"/>
          </a:p>
        </p:txBody>
      </p:sp>
      <p:sp>
        <p:nvSpPr>
          <p:cNvPr id="3" name="Text 0"/>
          <p:cNvSpPr/>
          <p:nvPr>
            <p:ph idx="102" type="title" hasCustomPrompt="1"/>
          </p:nvPr>
        </p:nvSpPr>
        <p:spPr>
          <a:xfrm>
            <a:off x="548640" y="676656"/>
            <a:ext cx="10424160" cy="822960"/>
          </a:xfrm>
          <a:prstGeom prst="rect">
            <a:avLst/>
          </a:prstGeom>
          <a:noFill/>
          <a:ln/>
        </p:spPr>
        <p:txBody>
          <a:bodyPr wrap="square" lIns="0" tIns="0" rIns="0" bIns="0" rtlCol="0" anchor="t"/>
          <a:lstStyle/>
          <a:p>
            <a:pPr algn="l" indent="0" marL="0">
              <a:buNone/>
            </a:pPr>
            <a:r>
              <a:rPr lang="en-US" sz="3000" b="1" dirty="0">
                <a:solidFill>
                  <a:schemeClr val="tx2"/>
                </a:solidFill>
              </a:rPr>
              <a:t>One operating point, from threshold to accuracy</a:t>
            </a:r>
            <a:endParaRPr lang="en-US" sz="3000" dirty="0"/>
          </a:p>
        </p:txBody>
      </p:sp>
      <p:sp>
        <p:nvSpPr>
          <p:cNvPr id="4" name="Text 0"/>
          <p:cNvSpPr/>
          <p:nvPr>
            <p:ph idx="103" type="body" hasCustomPrompt="1"/>
          </p:nvPr>
        </p:nvSpPr>
        <p:spPr>
          <a:xfrm>
            <a:off x="548640" y="6355080"/>
            <a:ext cx="10515600" cy="310896"/>
          </a:xfrm>
          <a:prstGeom prst="rect">
            <a:avLst/>
          </a:prstGeom>
          <a:noFill/>
          <a:ln/>
        </p:spPr>
        <p:txBody>
          <a:bodyPr wrap="square" lIns="0" tIns="0" rIns="0" bIns="0" rtlCol="0"/>
          <a:lstStyle/>
          <a:p>
            <a:pPr indent="0" marL="0">
              <a:buNone/>
            </a:pPr>
            <a:r>
              <a:rPr lang="en-US" sz="1100" i="1" dirty="0">
                <a:solidFill>
                  <a:schemeClr val="accent6"/>
                </a:solidFill>
              </a:rPr>
              <a:t>RoBERTa-base hub, confidence routing, 10% target; device v2 alone gets 23,079 of 25,000 test reviews right</a:t>
            </a:r>
            <a:endParaRPr lang="en-US" sz="1100" dirty="0"/>
          </a:p>
        </p:txBody>
      </p:sp>
      <p:sp>
        <p:nvSpPr>
          <p:cNvPr id="5" name="Shape 3"/>
          <p:cNvSpPr/>
          <p:nvPr/>
        </p:nvSpPr>
        <p:spPr>
          <a:xfrm>
            <a:off x="548640" y="1783080"/>
            <a:ext cx="548640" cy="548640"/>
          </a:xfrm>
          <a:prstGeom prst="ellipse">
            <a:avLst/>
          </a:prstGeom>
          <a:solidFill>
            <a:schemeClr val="accent2"/>
          </a:solidFill>
          <a:ln/>
        </p:spPr>
      </p:sp>
      <p:sp>
        <p:nvSpPr>
          <p:cNvPr id="6" name="Text 4"/>
          <p:cNvSpPr txBox="1"/>
          <p:nvPr/>
        </p:nvSpPr>
        <p:spPr>
          <a:xfrm>
            <a:off x="548640" y="1783080"/>
            <a:ext cx="548640" cy="548640"/>
          </a:xfrm>
          <a:prstGeom prst="rect">
            <a:avLst/>
          </a:prstGeom>
          <a:noFill/>
          <a:ln/>
        </p:spPr>
        <p:txBody>
          <a:bodyPr wrap="square" lIns="0" tIns="0" rIns="0" bIns="0" rtlCol="0" anchor="ctr"/>
          <a:lstStyle/>
          <a:p>
            <a:pPr algn="ctr" indent="0" marL="0">
              <a:buNone/>
            </a:pPr>
            <a:r>
              <a:rPr lang="en-US" sz="2200" b="1" dirty="0">
                <a:solidFill>
                  <a:schemeClr val="bg1"/>
                </a:solidFill>
                <a:latin typeface="Cambria" pitchFamily="34" charset="0"/>
                <a:ea typeface="Cambria" pitchFamily="34" charset="-122"/>
                <a:cs typeface="Cambria" pitchFamily="34" charset="-120"/>
              </a:rPr>
              <a:t>1</a:t>
            </a:r>
            <a:endParaRPr lang="en-US" sz="2200" dirty="0"/>
          </a:p>
        </p:txBody>
      </p:sp>
      <p:sp>
        <p:nvSpPr>
          <p:cNvPr id="7" name="Text 5"/>
          <p:cNvSpPr txBox="1"/>
          <p:nvPr/>
        </p:nvSpPr>
        <p:spPr>
          <a:xfrm>
            <a:off x="1280160" y="1764792"/>
            <a:ext cx="5120640" cy="411480"/>
          </a:xfrm>
          <a:prstGeom prst="rect">
            <a:avLst/>
          </a:prstGeom>
          <a:noFill/>
          <a:ln/>
        </p:spPr>
        <p:txBody>
          <a:bodyPr wrap="square" lIns="0" tIns="0" rIns="0" bIns="0" rtlCol="0" anchor="ctr"/>
          <a:lstStyle/>
          <a:p>
            <a:pPr indent="0" marL="0">
              <a:buNone/>
            </a:pPr>
            <a:r>
              <a:rPr lang="en-US" sz="1800" b="1" dirty="0">
                <a:solidFill>
                  <a:schemeClr val="tx2"/>
                </a:solidFill>
              </a:rPr>
              <a:t>Pick the threshold on validation</a:t>
            </a:r>
            <a:endParaRPr lang="en-US" sz="1800" dirty="0"/>
          </a:p>
        </p:txBody>
      </p:sp>
      <p:sp>
        <p:nvSpPr>
          <p:cNvPr id="8" name="Text 6"/>
          <p:cNvSpPr txBox="1"/>
          <p:nvPr/>
        </p:nvSpPr>
        <p:spPr>
          <a:xfrm>
            <a:off x="1280160" y="2194560"/>
            <a:ext cx="5120640" cy="777240"/>
          </a:xfrm>
          <a:prstGeom prst="rect">
            <a:avLst/>
          </a:prstGeom>
          <a:noFill/>
          <a:ln/>
        </p:spPr>
        <p:txBody>
          <a:bodyPr wrap="square" lIns="0" tIns="0" rIns="0" bIns="0" rtlCol="0" anchor="t"/>
          <a:lstStyle/>
          <a:p>
            <a:pPr indent="0" marL="0">
              <a:buNone/>
            </a:pPr>
            <a:r>
              <a:rPr lang="en-US" sz="1500" dirty="0">
                <a:solidFill>
                  <a:schemeClr val="tx1"/>
                </a:solidFill>
              </a:rPr>
              <a:t>90th percentile of the 5,000 validation scores = 0.255, so send when the device's confidence is below 0.745</a:t>
            </a:r>
            <a:endParaRPr lang="en-US" sz="1500" dirty="0"/>
          </a:p>
        </p:txBody>
      </p:sp>
      <p:sp>
        <p:nvSpPr>
          <p:cNvPr id="9" name="Shape 7"/>
          <p:cNvSpPr/>
          <p:nvPr/>
        </p:nvSpPr>
        <p:spPr>
          <a:xfrm>
            <a:off x="548640" y="3200400"/>
            <a:ext cx="548640" cy="548640"/>
          </a:xfrm>
          <a:prstGeom prst="ellipse">
            <a:avLst/>
          </a:prstGeom>
          <a:solidFill>
            <a:schemeClr val="accent2"/>
          </a:solidFill>
          <a:ln/>
        </p:spPr>
      </p:sp>
      <p:sp>
        <p:nvSpPr>
          <p:cNvPr id="10" name="Text 8"/>
          <p:cNvSpPr txBox="1"/>
          <p:nvPr/>
        </p:nvSpPr>
        <p:spPr>
          <a:xfrm>
            <a:off x="548640" y="3200400"/>
            <a:ext cx="548640" cy="548640"/>
          </a:xfrm>
          <a:prstGeom prst="rect">
            <a:avLst/>
          </a:prstGeom>
          <a:noFill/>
          <a:ln/>
        </p:spPr>
        <p:txBody>
          <a:bodyPr wrap="square" lIns="0" tIns="0" rIns="0" bIns="0" rtlCol="0" anchor="ctr"/>
          <a:lstStyle/>
          <a:p>
            <a:pPr algn="ctr" indent="0" marL="0">
              <a:buNone/>
            </a:pPr>
            <a:r>
              <a:rPr lang="en-US" sz="2200" b="1" dirty="0">
                <a:solidFill>
                  <a:schemeClr val="bg1"/>
                </a:solidFill>
                <a:latin typeface="Cambria" pitchFamily="34" charset="0"/>
                <a:ea typeface="Cambria" pitchFamily="34" charset="-122"/>
                <a:cs typeface="Cambria" pitchFamily="34" charset="-120"/>
              </a:rPr>
              <a:t>2</a:t>
            </a:r>
            <a:endParaRPr lang="en-US" sz="2200" dirty="0"/>
          </a:p>
        </p:txBody>
      </p:sp>
      <p:sp>
        <p:nvSpPr>
          <p:cNvPr id="11" name="Text 9"/>
          <p:cNvSpPr txBox="1"/>
          <p:nvPr/>
        </p:nvSpPr>
        <p:spPr>
          <a:xfrm>
            <a:off x="1280160" y="3182112"/>
            <a:ext cx="5120640" cy="411480"/>
          </a:xfrm>
          <a:prstGeom prst="rect">
            <a:avLst/>
          </a:prstGeom>
          <a:noFill/>
          <a:ln/>
        </p:spPr>
        <p:txBody>
          <a:bodyPr wrap="square" lIns="0" tIns="0" rIns="0" bIns="0" rtlCol="0" anchor="ctr"/>
          <a:lstStyle/>
          <a:p>
            <a:pPr indent="0" marL="0">
              <a:buNone/>
            </a:pPr>
            <a:r>
              <a:rPr lang="en-US" sz="1800" b="1" dirty="0">
                <a:solidFill>
                  <a:schemeClr val="tx2"/>
                </a:solidFill>
              </a:rPr>
              <a:t>Apply it to the test set once</a:t>
            </a:r>
            <a:endParaRPr lang="en-US" sz="1800" dirty="0"/>
          </a:p>
        </p:txBody>
      </p:sp>
      <p:sp>
        <p:nvSpPr>
          <p:cNvPr id="12" name="Text 10"/>
          <p:cNvSpPr txBox="1"/>
          <p:nvPr/>
        </p:nvSpPr>
        <p:spPr>
          <a:xfrm>
            <a:off x="1280160" y="3611880"/>
            <a:ext cx="5120640" cy="777240"/>
          </a:xfrm>
          <a:prstGeom prst="rect">
            <a:avLst/>
          </a:prstGeom>
          <a:noFill/>
          <a:ln/>
        </p:spPr>
        <p:txBody>
          <a:bodyPr wrap="square" lIns="0" tIns="0" rIns="0" bIns="0" rtlCol="0" anchor="t"/>
          <a:lstStyle/>
          <a:p>
            <a:pPr indent="0" marL="0">
              <a:buNone/>
            </a:pPr>
            <a:r>
              <a:rPr lang="en-US" sz="1500" dirty="0">
                <a:solidFill>
                  <a:schemeClr val="tx1"/>
                </a:solidFill>
              </a:rPr>
              <a:t>It sends 2,625 of 25,000 reviews (10.50%)</a:t>
            </a:r>
            <a:endParaRPr lang="en-US" sz="1500" dirty="0"/>
          </a:p>
        </p:txBody>
      </p:sp>
      <p:sp>
        <p:nvSpPr>
          <p:cNvPr id="13" name="Shape 11"/>
          <p:cNvSpPr/>
          <p:nvPr/>
        </p:nvSpPr>
        <p:spPr>
          <a:xfrm>
            <a:off x="548640" y="4617720"/>
            <a:ext cx="548640" cy="548640"/>
          </a:xfrm>
          <a:prstGeom prst="ellipse">
            <a:avLst/>
          </a:prstGeom>
          <a:solidFill>
            <a:schemeClr val="accent2"/>
          </a:solidFill>
          <a:ln/>
        </p:spPr>
      </p:sp>
      <p:sp>
        <p:nvSpPr>
          <p:cNvPr id="14" name="Text 12"/>
          <p:cNvSpPr txBox="1"/>
          <p:nvPr/>
        </p:nvSpPr>
        <p:spPr>
          <a:xfrm>
            <a:off x="548640" y="4617720"/>
            <a:ext cx="548640" cy="548640"/>
          </a:xfrm>
          <a:prstGeom prst="rect">
            <a:avLst/>
          </a:prstGeom>
          <a:noFill/>
          <a:ln/>
        </p:spPr>
        <p:txBody>
          <a:bodyPr wrap="square" lIns="0" tIns="0" rIns="0" bIns="0" rtlCol="0" anchor="ctr"/>
          <a:lstStyle/>
          <a:p>
            <a:pPr algn="ctr" indent="0" marL="0">
              <a:buNone/>
            </a:pPr>
            <a:r>
              <a:rPr lang="en-US" sz="2200" b="1" dirty="0">
                <a:solidFill>
                  <a:schemeClr val="bg1"/>
                </a:solidFill>
                <a:latin typeface="Cambria" pitchFamily="34" charset="0"/>
                <a:ea typeface="Cambria" pitchFamily="34" charset="-122"/>
                <a:cs typeface="Cambria" pitchFamily="34" charset="-120"/>
              </a:rPr>
              <a:t>3</a:t>
            </a:r>
            <a:endParaRPr lang="en-US" sz="2200" dirty="0"/>
          </a:p>
        </p:txBody>
      </p:sp>
      <p:sp>
        <p:nvSpPr>
          <p:cNvPr id="15" name="Text 13"/>
          <p:cNvSpPr txBox="1"/>
          <p:nvPr/>
        </p:nvSpPr>
        <p:spPr>
          <a:xfrm>
            <a:off x="1280160" y="4599432"/>
            <a:ext cx="5120640" cy="411480"/>
          </a:xfrm>
          <a:prstGeom prst="rect">
            <a:avLst/>
          </a:prstGeom>
          <a:noFill/>
          <a:ln/>
        </p:spPr>
        <p:txBody>
          <a:bodyPr wrap="square" lIns="0" tIns="0" rIns="0" bIns="0" rtlCol="0" anchor="ctr"/>
          <a:lstStyle/>
          <a:p>
            <a:pPr indent="0" marL="0">
              <a:buNone/>
            </a:pPr>
            <a:r>
              <a:rPr lang="en-US" sz="1800" b="1" dirty="0">
                <a:solidFill>
                  <a:schemeClr val="tx2"/>
                </a:solidFill>
              </a:rPr>
              <a:t>Count right answers</a:t>
            </a:r>
            <a:endParaRPr lang="en-US" sz="1800" dirty="0"/>
          </a:p>
        </p:txBody>
      </p:sp>
      <p:sp>
        <p:nvSpPr>
          <p:cNvPr id="16" name="Text 14"/>
          <p:cNvSpPr txBox="1"/>
          <p:nvPr/>
        </p:nvSpPr>
        <p:spPr>
          <a:xfrm>
            <a:off x="1280160" y="5029200"/>
            <a:ext cx="5120640" cy="777240"/>
          </a:xfrm>
          <a:prstGeom prst="rect">
            <a:avLst/>
          </a:prstGeom>
          <a:noFill/>
          <a:ln/>
        </p:spPr>
        <p:txBody>
          <a:bodyPr wrap="square" lIns="0" tIns="0" rIns="0" bIns="0" rtlCol="0" anchor="t"/>
          <a:lstStyle/>
          <a:p>
            <a:pPr indent="0" marL="0">
              <a:buNone/>
            </a:pPr>
            <a:r>
              <a:rPr lang="en-US" sz="1500" dirty="0">
                <a:solidFill>
                  <a:schemeClr val="tx1"/>
                </a:solidFill>
              </a:rPr>
              <a:t>(23,079 + 832 − 127) ÷ 25,000 = 95.14%</a:t>
            </a:r>
            <a:endParaRPr lang="en-US" sz="1500" dirty="0"/>
          </a:p>
        </p:txBody>
      </p:sp>
      <p:graphicFrame>
        <p:nvGraphicFramePr>
          <p:cNvPr id="17" name="sent breakdown" descr=""/>
          <p:cNvGraphicFramePr/>
          <p:nvPr/>
        </p:nvGraphicFramePr>
        <p:xfrm>
          <a:off x="6766560" y="1645920"/>
          <a:ext cx="4846320" cy="4480560"/>
        </p:xfrm>
        <a:graphic xmlns:a="http://schemas.openxmlformats.org/drawingml/2006/main">
          <a:graphicData uri="http://schemas.openxmlformats.org/drawingml/2006/chart">
            <c:chart xmlns:c="http://schemas.openxmlformats.org/drawingml/2006/chart" r:id="rId1"/>
          </a:graphicData>
        </a:graphic>
      </p:graphicFrame>
      <p:sp>
        <p:nvSpPr>
          <p:cNvPr id="25" name="Slide Number Placeholder 0"/>
          <p:cNvSpPr>
            <a:spLocks noGrp="1"/>
          </p:cNvSpPr>
          <p:nvPr>
            <p:ph type="sldNum" sz="quarter" idx="4294967295"/>
          </p:nvPr>
        </p:nvSpPr>
        <p:spPr>
          <a:xfrm>
            <a:off x="11274552" y="347472"/>
            <a:ext cx="384048" cy="384048"/>
          </a:xfrm>
          <a:prstGeom prst="rect">
            <a:avLst/>
          </a:prstGeom>
          <a:extLst>
            <a:ext uri="{C572A759-6A51-4108-AA02-DFA0A04FC94B}">
              <ma14:wrappingTextBoxFlag xmlns:ma14="http://schemas.microsoft.com/office/mac/drawingml/2011/main" val="0"/>
            </a:ext>
          </a:extLst>
        </p:spPr>
        <p:txBody>
          <a:bodyPr anchor="ctr"/>
          <a:lstStyle>
            <a:lvl1pPr>
              <a:defRPr sz="1200">
                <a:solidFill>
                  <a:srgbClr val="3A2E31"/>
                </a:solidFill>
              </a:defRPr>
            </a:lvl1pPr>
          </a:lstStyle>
          <a:p>
            <a:pPr algn="ct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1" type="body" hasCustomPrompt="1"/>
          </p:nvPr>
        </p:nvSpPr>
        <p:spPr>
          <a:xfrm>
            <a:off x="548640" y="365760"/>
            <a:ext cx="9601200" cy="292608"/>
          </a:xfrm>
          <a:prstGeom prst="rect">
            <a:avLst/>
          </a:prstGeom>
          <a:noFill/>
          <a:ln/>
        </p:spPr>
        <p:txBody>
          <a:bodyPr wrap="square" lIns="0" tIns="0" rIns="0" bIns="0" rtlCol="0"/>
          <a:lstStyle/>
          <a:p>
            <a:pPr indent="0" marL="0">
              <a:buNone/>
            </a:pPr>
            <a:r>
              <a:rPr lang="en-US" sz="1200" b="1" spc="200" kern="0" dirty="0">
                <a:solidFill>
                  <a:schemeClr val="accent6"/>
                </a:solidFill>
              </a:rPr>
              <a:t>MAIN RESULT  ·  DANYSON ANTONY</a:t>
            </a:r>
            <a:endParaRPr lang="en-US" sz="1200" dirty="0"/>
          </a:p>
        </p:txBody>
      </p:sp>
      <p:sp>
        <p:nvSpPr>
          <p:cNvPr id="3" name="Text 0"/>
          <p:cNvSpPr/>
          <p:nvPr>
            <p:ph idx="102" type="title" hasCustomPrompt="1"/>
          </p:nvPr>
        </p:nvSpPr>
        <p:spPr>
          <a:xfrm>
            <a:off x="548640" y="676656"/>
            <a:ext cx="10424160" cy="822960"/>
          </a:xfrm>
          <a:prstGeom prst="rect">
            <a:avLst/>
          </a:prstGeom>
          <a:noFill/>
          <a:ln/>
        </p:spPr>
        <p:txBody>
          <a:bodyPr wrap="square" lIns="0" tIns="0" rIns="0" bIns="0" rtlCol="0" anchor="t"/>
          <a:lstStyle/>
          <a:p>
            <a:pPr algn="l" indent="0" marL="0">
              <a:buNone/>
            </a:pPr>
            <a:r>
              <a:rPr lang="en-US" sz="3000" b="1" dirty="0">
                <a:solidFill>
                  <a:schemeClr val="tx2"/>
                </a:solidFill>
              </a:rPr>
              <a:t>Learned deferral matches confidence routing, but doesn't beat it</a:t>
            </a:r>
            <a:endParaRPr lang="en-US" sz="3000" dirty="0"/>
          </a:p>
        </p:txBody>
      </p:sp>
      <p:sp>
        <p:nvSpPr>
          <p:cNvPr id="4" name="Text 0"/>
          <p:cNvSpPr/>
          <p:nvPr>
            <p:ph idx="103" type="body" hasCustomPrompt="1"/>
          </p:nvPr>
        </p:nvSpPr>
        <p:spPr>
          <a:xfrm>
            <a:off x="548640" y="6355080"/>
            <a:ext cx="10515600" cy="310896"/>
          </a:xfrm>
          <a:prstGeom prst="rect">
            <a:avLst/>
          </a:prstGeom>
          <a:noFill/>
          <a:ln/>
        </p:spPr>
        <p:txBody>
          <a:bodyPr wrap="square" lIns="0" tIns="0" rIns="0" bIns="0" rtlCol="0"/>
          <a:lstStyle/>
          <a:p>
            <a:pPr indent="0" marL="0">
              <a:buNone/>
            </a:pPr>
            <a:r>
              <a:rPr lang="en-US" sz="1100" i="1" dirty="0">
                <a:solidFill>
                  <a:schemeClr val="accent6"/>
                </a:solidFill>
              </a:rPr>
              <a:t>Hub: RoBERTa-base trained with 1M extra reviews; test-set curves (operating points on the next slide use validation thresholds)</a:t>
            </a:r>
            <a:endParaRPr lang="en-US" sz="1100" dirty="0"/>
          </a:p>
        </p:txBody>
      </p:sp>
      <p:graphicFrame>
        <p:nvGraphicFramePr>
          <p:cNvPr id="5" name="routing curves" descr=""/>
          <p:cNvGraphicFramePr/>
          <p:nvPr/>
        </p:nvGraphicFramePr>
        <p:xfrm>
          <a:off x="457200" y="1645920"/>
          <a:ext cx="7406640" cy="4572000"/>
        </p:xfrm>
        <a:graphic xmlns:a="http://schemas.openxmlformats.org/drawingml/2006/main">
          <a:graphicData uri="http://schemas.openxmlformats.org/drawingml/2006/chart">
            <c:chart xmlns:c="http://schemas.openxmlformats.org/drawingml/2006/chart" r:id="rId1"/>
          </a:graphicData>
        </a:graphic>
      </p:graphicFrame>
      <p:sp>
        <p:nvSpPr>
          <p:cNvPr id="6" name="stat ≤ 0.14 pts"/>
          <p:cNvSpPr/>
          <p:nvPr/>
        </p:nvSpPr>
        <p:spPr>
          <a:xfrm>
            <a:off x="8183880" y="1783080"/>
            <a:ext cx="3429000" cy="2011680"/>
          </a:xfrm>
          <a:prstGeom prst="roundRect">
            <a:avLst>
              <a:gd name="adj" fmla="val 3636"/>
            </a:avLst>
          </a:prstGeom>
          <a:solidFill>
            <a:schemeClr val="bg2"/>
          </a:solidFill>
          <a:ln/>
          <a:effectLst>
            <a:outerShdw sx="100000" sy="100000" kx="0" ky="0" algn="bl" rotWithShape="0" blurRad="76200" dist="25400" dir="5400000">
              <a:srgbClr val="9C8189">
                <a:alpha val="16000"/>
              </a:srgbClr>
            </a:outerShdw>
          </a:effectLst>
        </p:spPr>
      </p:sp>
      <p:sp>
        <p:nvSpPr>
          <p:cNvPr id="7" name="Text 4"/>
          <p:cNvSpPr txBox="1"/>
          <p:nvPr/>
        </p:nvSpPr>
        <p:spPr>
          <a:xfrm>
            <a:off x="8458200" y="2057400"/>
            <a:ext cx="2880360" cy="822960"/>
          </a:xfrm>
          <a:prstGeom prst="rect">
            <a:avLst/>
          </a:prstGeom>
          <a:noFill/>
          <a:ln/>
        </p:spPr>
        <p:txBody>
          <a:bodyPr wrap="square" lIns="0" tIns="0" rIns="0" bIns="0" rtlCol="0" anchor="ctr"/>
          <a:lstStyle/>
          <a:p>
            <a:pPr indent="0" marL="0">
              <a:buNone/>
            </a:pPr>
            <a:r>
              <a:rPr lang="en-US" sz="4000" b="1" dirty="0">
                <a:solidFill>
                  <a:schemeClr val="accent2"/>
                </a:solidFill>
                <a:latin typeface="Cambria" pitchFamily="34" charset="0"/>
                <a:ea typeface="Cambria" pitchFamily="34" charset="-122"/>
                <a:cs typeface="Cambria" pitchFamily="34" charset="-120"/>
              </a:rPr>
              <a:t>≤ 0.14 pts</a:t>
            </a:r>
            <a:endParaRPr lang="en-US" sz="4000" dirty="0"/>
          </a:p>
        </p:txBody>
      </p:sp>
      <p:sp>
        <p:nvSpPr>
          <p:cNvPr id="8" name="Text 5"/>
          <p:cNvSpPr txBox="1"/>
          <p:nvPr/>
        </p:nvSpPr>
        <p:spPr>
          <a:xfrm>
            <a:off x="8458200" y="2926080"/>
            <a:ext cx="2880360" cy="685800"/>
          </a:xfrm>
          <a:prstGeom prst="rect">
            <a:avLst/>
          </a:prstGeom>
          <a:noFill/>
          <a:ln/>
        </p:spPr>
        <p:txBody>
          <a:bodyPr wrap="square" lIns="0" tIns="0" rIns="0" bIns="0" rtlCol="0" anchor="t"/>
          <a:lstStyle/>
          <a:p>
            <a:pPr indent="0" marL="0">
              <a:buNone/>
            </a:pPr>
            <a:r>
              <a:rPr lang="en-US" sz="1600" b="1" dirty="0">
                <a:solidFill>
                  <a:schemeClr val="tx2"/>
                </a:solidFill>
              </a:rPr>
              <a:t>largest gap at the tested send rates, across 3 hubs</a:t>
            </a:r>
            <a:endParaRPr lang="en-US" sz="1600" dirty="0"/>
          </a:p>
        </p:txBody>
      </p:sp>
      <p:sp>
        <p:nvSpPr>
          <p:cNvPr id="9" name="stat 0 of 15"/>
          <p:cNvSpPr/>
          <p:nvPr/>
        </p:nvSpPr>
        <p:spPr>
          <a:xfrm>
            <a:off x="8183880" y="4023360"/>
            <a:ext cx="3429000" cy="2011680"/>
          </a:xfrm>
          <a:prstGeom prst="roundRect">
            <a:avLst>
              <a:gd name="adj" fmla="val 3636"/>
            </a:avLst>
          </a:prstGeom>
          <a:solidFill>
            <a:schemeClr val="bg2"/>
          </a:solidFill>
          <a:ln/>
          <a:effectLst>
            <a:outerShdw sx="100000" sy="100000" kx="0" ky="0" algn="bl" rotWithShape="0" blurRad="76200" dist="25400" dir="5400000">
              <a:srgbClr val="9C8189">
                <a:alpha val="16000"/>
              </a:srgbClr>
            </a:outerShdw>
          </a:effectLst>
        </p:spPr>
      </p:sp>
      <p:sp>
        <p:nvSpPr>
          <p:cNvPr id="10" name="Text 7"/>
          <p:cNvSpPr txBox="1"/>
          <p:nvPr/>
        </p:nvSpPr>
        <p:spPr>
          <a:xfrm>
            <a:off x="8458200" y="4297680"/>
            <a:ext cx="2880360" cy="822960"/>
          </a:xfrm>
          <a:prstGeom prst="rect">
            <a:avLst/>
          </a:prstGeom>
          <a:noFill/>
          <a:ln/>
        </p:spPr>
        <p:txBody>
          <a:bodyPr wrap="square" lIns="0" tIns="0" rIns="0" bIns="0" rtlCol="0" anchor="ctr"/>
          <a:lstStyle/>
          <a:p>
            <a:pPr indent="0" marL="0">
              <a:buNone/>
            </a:pPr>
            <a:r>
              <a:rPr lang="en-US" sz="4000" b="1" dirty="0">
                <a:solidFill>
                  <a:schemeClr val="accent3"/>
                </a:solidFill>
                <a:latin typeface="Cambria" pitchFamily="34" charset="0"/>
                <a:ea typeface="Cambria" pitchFamily="34" charset="-122"/>
                <a:cs typeface="Cambria" pitchFamily="34" charset="-120"/>
              </a:rPr>
              <a:t>0 of 15</a:t>
            </a:r>
            <a:endParaRPr lang="en-US" sz="4000" dirty="0"/>
          </a:p>
        </p:txBody>
      </p:sp>
      <p:sp>
        <p:nvSpPr>
          <p:cNvPr id="11" name="Text 8"/>
          <p:cNvSpPr txBox="1"/>
          <p:nvPr/>
        </p:nvSpPr>
        <p:spPr>
          <a:xfrm>
            <a:off x="8458200" y="5166360"/>
            <a:ext cx="2880360" cy="685800"/>
          </a:xfrm>
          <a:prstGeom prst="rect">
            <a:avLst/>
          </a:prstGeom>
          <a:noFill/>
          <a:ln/>
        </p:spPr>
        <p:txBody>
          <a:bodyPr wrap="square" lIns="0" tIns="0" rIns="0" bIns="0" rtlCol="0" anchor="t"/>
          <a:lstStyle/>
          <a:p>
            <a:pPr indent="0" marL="0">
              <a:buNone/>
            </a:pPr>
            <a:r>
              <a:rPr lang="en-US" sz="1600" b="1" dirty="0">
                <a:solidFill>
                  <a:schemeClr val="tx2"/>
                </a:solidFill>
              </a:rPr>
              <a:t>differences significant after Bonferroni correction</a:t>
            </a:r>
            <a:endParaRPr lang="en-US" sz="1600" dirty="0"/>
          </a:p>
        </p:txBody>
      </p:sp>
      <p:sp>
        <p:nvSpPr>
          <p:cNvPr id="25" name="Slide Number Placeholder 0"/>
          <p:cNvSpPr>
            <a:spLocks noGrp="1"/>
          </p:cNvSpPr>
          <p:nvPr>
            <p:ph type="sldNum" sz="quarter" idx="4294967295"/>
          </p:nvPr>
        </p:nvSpPr>
        <p:spPr>
          <a:xfrm>
            <a:off x="11274552" y="347472"/>
            <a:ext cx="384048" cy="384048"/>
          </a:xfrm>
          <a:prstGeom prst="rect">
            <a:avLst/>
          </a:prstGeom>
          <a:extLst>
            <a:ext uri="{C572A759-6A51-4108-AA02-DFA0A04FC94B}">
              <ma14:wrappingTextBoxFlag xmlns:ma14="http://schemas.microsoft.com/office/mac/drawingml/2011/main" val="0"/>
            </a:ext>
          </a:extLst>
        </p:spPr>
        <p:txBody>
          <a:bodyPr anchor="ctr"/>
          <a:lstStyle>
            <a:lvl1pPr>
              <a:defRPr sz="1200">
                <a:solidFill>
                  <a:srgbClr val="3A2E31"/>
                </a:solidFill>
              </a:defRPr>
            </a:lvl1pPr>
          </a:lstStyle>
          <a:p>
            <a:pPr algn="ct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1" type="body" hasCustomPrompt="1"/>
          </p:nvPr>
        </p:nvSpPr>
        <p:spPr>
          <a:xfrm>
            <a:off x="548640" y="365760"/>
            <a:ext cx="9601200" cy="292608"/>
          </a:xfrm>
          <a:prstGeom prst="rect">
            <a:avLst/>
          </a:prstGeom>
          <a:noFill/>
          <a:ln/>
        </p:spPr>
        <p:txBody>
          <a:bodyPr wrap="square" lIns="0" tIns="0" rIns="0" bIns="0" rtlCol="0"/>
          <a:lstStyle/>
          <a:p>
            <a:pPr indent="0" marL="0">
              <a:buNone/>
            </a:pPr>
            <a:r>
              <a:rPr lang="en-US" sz="1200" b="1" spc="200" kern="0" dirty="0">
                <a:solidFill>
                  <a:schemeClr val="accent6"/>
                </a:solidFill>
              </a:rPr>
              <a:t>ALL THREE HUBS  ·  EHSAN ABDULKHADER</a:t>
            </a:r>
            <a:endParaRPr lang="en-US" sz="1200" dirty="0"/>
          </a:p>
        </p:txBody>
      </p:sp>
      <p:sp>
        <p:nvSpPr>
          <p:cNvPr id="3" name="Text 0"/>
          <p:cNvSpPr/>
          <p:nvPr>
            <p:ph idx="102" type="title" hasCustomPrompt="1"/>
          </p:nvPr>
        </p:nvSpPr>
        <p:spPr>
          <a:xfrm>
            <a:off x="548640" y="676656"/>
            <a:ext cx="10424160" cy="822960"/>
          </a:xfrm>
          <a:prstGeom prst="rect">
            <a:avLst/>
          </a:prstGeom>
          <a:noFill/>
          <a:ln/>
        </p:spPr>
        <p:txBody>
          <a:bodyPr wrap="square" lIns="0" tIns="0" rIns="0" bIns="0" rtlCol="0" anchor="t"/>
          <a:lstStyle/>
          <a:p>
            <a:pPr algn="l" indent="0" marL="0">
              <a:buNone/>
            </a:pPr>
            <a:r>
              <a:rPr lang="en-US" sz="3000" b="1" dirty="0">
                <a:solidFill>
                  <a:schemeClr val="tx2"/>
                </a:solidFill>
              </a:rPr>
              <a:t>The same picture holds for every hub we tried</a:t>
            </a:r>
            <a:endParaRPr lang="en-US" sz="3000" dirty="0"/>
          </a:p>
        </p:txBody>
      </p:sp>
      <p:sp>
        <p:nvSpPr>
          <p:cNvPr id="4" name="Text 0"/>
          <p:cNvSpPr/>
          <p:nvPr>
            <p:ph idx="103" type="body" hasCustomPrompt="1"/>
          </p:nvPr>
        </p:nvSpPr>
        <p:spPr>
          <a:xfrm>
            <a:off x="548640" y="6355080"/>
            <a:ext cx="10515600" cy="310896"/>
          </a:xfrm>
          <a:prstGeom prst="rect">
            <a:avLst/>
          </a:prstGeom>
          <a:noFill/>
          <a:ln/>
        </p:spPr>
        <p:txBody>
          <a:bodyPr wrap="square" lIns="0" tIns="0" rIns="0" bIns="0" rtlCol="0"/>
          <a:lstStyle/>
          <a:p>
            <a:pPr indent="0" marL="0">
              <a:buNone/>
            </a:pPr>
            <a:r>
              <a:rPr lang="en-US" sz="1100" i="1" dirty="0">
                <a:solidFill>
                  <a:schemeClr val="accent6"/>
                </a:solidFill>
              </a:rPr>
              <a:t>Thresholds chosen on validation data; exact McNemar test on 25,000 paired test predictions; Bonferroni level 0.05 ÷ 15 = 0.0033</a:t>
            </a:r>
            <a:endParaRPr lang="en-US" sz="1100" dirty="0"/>
          </a:p>
        </p:txBody>
      </p:sp>
      <p:graphicFrame>
        <p:nvGraphicFramePr>
          <p:cNvPr id="17" name="router comparison table"/>
          <p:cNvGraphicFramePr>
            <a:graphicFrameLocks noGrp="1"/>
          </p:cNvGraphicFramePr>
          <p:nvPr>
            <p:extLst>
              <p:ext uri="{D42A27DB-BD31-4B8C-83A1-F6EECF244321}">
                <p14:modId xmlns:p14="http://schemas.microsoft.com/office/powerpoint/2010/main" val="1579011935"/>
              </p:ext>
            </p:extLst>
          </p:nvPr>
        </p:nvGraphicFramePr>
        <p:xfrm>
          <a:off x="548640" y="1783080"/>
          <a:ext cx="11064240" cy="914400"/>
        </p:xfrm>
        <a:graphic>
          <a:graphicData uri="http://schemas.openxmlformats.org/drawingml/2006/table">
            <a:tbl>
              <a:tblPr/>
              <a:tblGrid>
                <a:gridCol w="2834640"/>
                <a:gridCol w="1508760"/>
                <a:gridCol w="1417320"/>
                <a:gridCol w="868680"/>
                <a:gridCol w="1508760"/>
                <a:gridCol w="1417320"/>
                <a:gridCol w="1508760"/>
              </a:tblGrid>
              <a:tr h="502920">
                <a:tc>
                  <a:txBody>
                    <a:bodyPr/>
                    <a:lstStyle/>
                    <a:p>
                      <a:pPr algn="ctr" indent="0" marL="0">
                        <a:buNone/>
                      </a:pPr>
                      <a:r>
                        <a:rPr lang="en-US" sz="1500" b="1" dirty="0">
                          <a:solidFill>
                            <a:schemeClr val="bg1"/>
                          </a:solidFill>
                          <a:latin typeface="Calibri" pitchFamily="34" charset="0"/>
                          <a:ea typeface="Calibri" pitchFamily="34" charset="-122"/>
                          <a:cs typeface="Calibri" pitchFamily="34" charset="-120"/>
                        </a:rPr>
                        <a:t>Hub (accuracy alone)</a:t>
                      </a:r>
                      <a:endParaRPr lang="en-US" sz="1500" dirty="0">
                        <a:latin typeface="Calibri" charset="0"/>
                        <a:ea typeface="Calibri" charset="0"/>
                        <a:cs typeface="Calibri" charset="0"/>
                      </a:endParaRPr>
                    </a:p>
                  </a:txBody>
                  <a:tcPr marL="91440" marR="91440" marT="45720" marB="45720" anchor="ctr">
                    <a:lnL w="9525" cap="flat" cmpd="sng" algn="ctr">
                      <a:solidFill>
                        <a:srgbClr val="E2D6D9"/>
                      </a:solidFill>
                      <a:prstDash val="solid"/>
                      <a:round/>
                      <a:headEnd type="none" w="med" len="med"/>
                      <a:tailEnd type="none" w="med" len="med"/>
                    </a:lnL>
                    <a:lnR w="9525" cap="flat" cmpd="sng" algn="ctr">
                      <a:solidFill>
                        <a:srgbClr val="E2D6D9"/>
                      </a:solidFill>
                      <a:prstDash val="solid"/>
                      <a:round/>
                      <a:headEnd type="none" w="med" len="med"/>
                      <a:tailEnd type="none" w="med" len="med"/>
                    </a:lnR>
                    <a:lnT w="9525" cap="flat" cmpd="sng" algn="ctr">
                      <a:solidFill>
                        <a:srgbClr val="E2D6D9"/>
                      </a:solidFill>
                      <a:prstDash val="solid"/>
                      <a:round/>
                      <a:headEnd type="none" w="med" len="med"/>
                      <a:tailEnd type="none" w="med" len="med"/>
                    </a:lnT>
                    <a:lnB w="9525" cap="flat" cmpd="sng" algn="ctr">
                      <a:solidFill>
                        <a:srgbClr val="E2D6D9"/>
                      </a:solidFill>
                      <a:prstDash val="solid"/>
                      <a:round/>
                      <a:headEnd type="none" w="med" len="med"/>
                      <a:tailEnd type="none" w="med" len="med"/>
                    </a:lnB>
                    <a:solidFill>
                      <a:schemeClr val="accent1"/>
                    </a:solidFill>
                  </a:tcPr>
                </a:tc>
                <a:tc>
                  <a:txBody>
                    <a:bodyPr/>
                    <a:lstStyle/>
                    <a:p>
                      <a:pPr algn="ctr" indent="0" marL="0">
                        <a:buNone/>
                      </a:pPr>
                      <a:r>
                        <a:rPr lang="en-US" sz="1500" b="1" dirty="0">
                          <a:solidFill>
                            <a:schemeClr val="bg1"/>
                          </a:solidFill>
                          <a:latin typeface="Calibri" pitchFamily="34" charset="0"/>
                          <a:ea typeface="Calibri" pitchFamily="34" charset="-122"/>
                          <a:cs typeface="Calibri" pitchFamily="34" charset="-120"/>
                        </a:rPr>
                        <a:t>10% sent: confidence</a:t>
                      </a:r>
                      <a:endParaRPr lang="en-US" sz="1500" dirty="0">
                        <a:latin typeface="Calibri" charset="0"/>
                        <a:ea typeface="Calibri" charset="0"/>
                        <a:cs typeface="Calibri" charset="0"/>
                      </a:endParaRPr>
                    </a:p>
                  </a:txBody>
                  <a:tcPr marL="91440" marR="91440" marT="45720" marB="45720" anchor="ctr">
                    <a:lnL w="9525" cap="flat" cmpd="sng" algn="ctr">
                      <a:solidFill>
                        <a:srgbClr val="E2D6D9"/>
                      </a:solidFill>
                      <a:prstDash val="solid"/>
                      <a:round/>
                      <a:headEnd type="none" w="med" len="med"/>
                      <a:tailEnd type="none" w="med" len="med"/>
                    </a:lnL>
                    <a:lnR w="9525" cap="flat" cmpd="sng" algn="ctr">
                      <a:solidFill>
                        <a:srgbClr val="E2D6D9"/>
                      </a:solidFill>
                      <a:prstDash val="solid"/>
                      <a:round/>
                      <a:headEnd type="none" w="med" len="med"/>
                      <a:tailEnd type="none" w="med" len="med"/>
                    </a:lnR>
                    <a:lnT w="9525" cap="flat" cmpd="sng" algn="ctr">
                      <a:solidFill>
                        <a:srgbClr val="E2D6D9"/>
                      </a:solidFill>
                      <a:prstDash val="solid"/>
                      <a:round/>
                      <a:headEnd type="none" w="med" len="med"/>
                      <a:tailEnd type="none" w="med" len="med"/>
                    </a:lnT>
                    <a:lnB w="9525" cap="flat" cmpd="sng" algn="ctr">
                      <a:solidFill>
                        <a:srgbClr val="E2D6D9"/>
                      </a:solidFill>
                      <a:prstDash val="solid"/>
                      <a:round/>
                      <a:headEnd type="none" w="med" len="med"/>
                      <a:tailEnd type="none" w="med" len="med"/>
                    </a:lnB>
                    <a:solidFill>
                      <a:schemeClr val="accent1"/>
                    </a:solidFill>
                  </a:tcPr>
                </a:tc>
                <a:tc>
                  <a:txBody>
                    <a:bodyPr/>
                    <a:lstStyle/>
                    <a:p>
                      <a:pPr algn="ctr" indent="0" marL="0">
                        <a:buNone/>
                      </a:pPr>
                      <a:r>
                        <a:rPr lang="en-US" sz="1500" b="1" dirty="0">
                          <a:solidFill>
                            <a:schemeClr val="bg1"/>
                          </a:solidFill>
                          <a:latin typeface="Calibri" pitchFamily="34" charset="0"/>
                          <a:ea typeface="Calibri" pitchFamily="34" charset="-122"/>
                          <a:cs typeface="Calibri" pitchFamily="34" charset="-120"/>
                        </a:rPr>
                        <a:t>10% sent: learned</a:t>
                      </a:r>
                      <a:endParaRPr lang="en-US" sz="1500" dirty="0">
                        <a:latin typeface="Calibri" charset="0"/>
                        <a:ea typeface="Calibri" charset="0"/>
                        <a:cs typeface="Calibri" charset="0"/>
                      </a:endParaRPr>
                    </a:p>
                  </a:txBody>
                  <a:tcPr marL="91440" marR="91440" marT="45720" marB="45720" anchor="ctr">
                    <a:lnL w="9525" cap="flat" cmpd="sng" algn="ctr">
                      <a:solidFill>
                        <a:srgbClr val="E2D6D9"/>
                      </a:solidFill>
                      <a:prstDash val="solid"/>
                      <a:round/>
                      <a:headEnd type="none" w="med" len="med"/>
                      <a:tailEnd type="none" w="med" len="med"/>
                    </a:lnL>
                    <a:lnR w="9525" cap="flat" cmpd="sng" algn="ctr">
                      <a:solidFill>
                        <a:srgbClr val="E2D6D9"/>
                      </a:solidFill>
                      <a:prstDash val="solid"/>
                      <a:round/>
                      <a:headEnd type="none" w="med" len="med"/>
                      <a:tailEnd type="none" w="med" len="med"/>
                    </a:lnR>
                    <a:lnT w="9525" cap="flat" cmpd="sng" algn="ctr">
                      <a:solidFill>
                        <a:srgbClr val="E2D6D9"/>
                      </a:solidFill>
                      <a:prstDash val="solid"/>
                      <a:round/>
                      <a:headEnd type="none" w="med" len="med"/>
                      <a:tailEnd type="none" w="med" len="med"/>
                    </a:lnT>
                    <a:lnB w="9525" cap="flat" cmpd="sng" algn="ctr">
                      <a:solidFill>
                        <a:srgbClr val="E2D6D9"/>
                      </a:solidFill>
                      <a:prstDash val="solid"/>
                      <a:round/>
                      <a:headEnd type="none" w="med" len="med"/>
                      <a:tailEnd type="none" w="med" len="med"/>
                    </a:lnB>
                    <a:solidFill>
                      <a:schemeClr val="accent1"/>
                    </a:solidFill>
                  </a:tcPr>
                </a:tc>
                <a:tc>
                  <a:txBody>
                    <a:bodyPr/>
                    <a:lstStyle/>
                    <a:p>
                      <a:pPr algn="ctr" indent="0" marL="0">
                        <a:buNone/>
                      </a:pPr>
                      <a:r>
                        <a:rPr lang="en-US" sz="1500" b="1" dirty="0">
                          <a:solidFill>
                            <a:schemeClr val="bg1"/>
                          </a:solidFill>
                          <a:latin typeface="Calibri" pitchFamily="34" charset="0"/>
                          <a:ea typeface="Calibri" pitchFamily="34" charset="-122"/>
                          <a:cs typeface="Calibri" pitchFamily="34" charset="-120"/>
                        </a:rPr>
                        <a:t>p</a:t>
                      </a:r>
                      <a:endParaRPr lang="en-US" sz="1500" dirty="0">
                        <a:latin typeface="Calibri" charset="0"/>
                        <a:ea typeface="Calibri" charset="0"/>
                        <a:cs typeface="Calibri" charset="0"/>
                      </a:endParaRPr>
                    </a:p>
                  </a:txBody>
                  <a:tcPr marL="91440" marR="91440" marT="45720" marB="45720" anchor="ctr">
                    <a:lnL w="9525" cap="flat" cmpd="sng" algn="ctr">
                      <a:solidFill>
                        <a:srgbClr val="E2D6D9"/>
                      </a:solidFill>
                      <a:prstDash val="solid"/>
                      <a:round/>
                      <a:headEnd type="none" w="med" len="med"/>
                      <a:tailEnd type="none" w="med" len="med"/>
                    </a:lnL>
                    <a:lnR w="9525" cap="flat" cmpd="sng" algn="ctr">
                      <a:solidFill>
                        <a:srgbClr val="E2D6D9"/>
                      </a:solidFill>
                      <a:prstDash val="solid"/>
                      <a:round/>
                      <a:headEnd type="none" w="med" len="med"/>
                      <a:tailEnd type="none" w="med" len="med"/>
                    </a:lnR>
                    <a:lnT w="9525" cap="flat" cmpd="sng" algn="ctr">
                      <a:solidFill>
                        <a:srgbClr val="E2D6D9"/>
                      </a:solidFill>
                      <a:prstDash val="solid"/>
                      <a:round/>
                      <a:headEnd type="none" w="med" len="med"/>
                      <a:tailEnd type="none" w="med" len="med"/>
                    </a:lnT>
                    <a:lnB w="9525" cap="flat" cmpd="sng" algn="ctr">
                      <a:solidFill>
                        <a:srgbClr val="E2D6D9"/>
                      </a:solidFill>
                      <a:prstDash val="solid"/>
                      <a:round/>
                      <a:headEnd type="none" w="med" len="med"/>
                      <a:tailEnd type="none" w="med" len="med"/>
                    </a:lnB>
                    <a:solidFill>
                      <a:schemeClr val="accent1"/>
                    </a:solidFill>
                  </a:tcPr>
                </a:tc>
                <a:tc>
                  <a:txBody>
                    <a:bodyPr/>
                    <a:lstStyle/>
                    <a:p>
                      <a:pPr algn="ctr" indent="0" marL="0">
                        <a:buNone/>
                      </a:pPr>
                      <a:r>
                        <a:rPr lang="en-US" sz="1500" b="1" dirty="0">
                          <a:solidFill>
                            <a:schemeClr val="bg1"/>
                          </a:solidFill>
                          <a:latin typeface="Calibri" pitchFamily="34" charset="0"/>
                          <a:ea typeface="Calibri" pitchFamily="34" charset="-122"/>
                          <a:cs typeface="Calibri" pitchFamily="34" charset="-120"/>
                        </a:rPr>
                        <a:t>20% sent: confidence</a:t>
                      </a:r>
                      <a:endParaRPr lang="en-US" sz="1500" dirty="0">
                        <a:latin typeface="Calibri" charset="0"/>
                        <a:ea typeface="Calibri" charset="0"/>
                        <a:cs typeface="Calibri" charset="0"/>
                      </a:endParaRPr>
                    </a:p>
                  </a:txBody>
                  <a:tcPr marL="91440" marR="91440" marT="45720" marB="45720" anchor="ctr">
                    <a:lnL w="9525" cap="flat" cmpd="sng" algn="ctr">
                      <a:solidFill>
                        <a:srgbClr val="E2D6D9"/>
                      </a:solidFill>
                      <a:prstDash val="solid"/>
                      <a:round/>
                      <a:headEnd type="none" w="med" len="med"/>
                      <a:tailEnd type="none" w="med" len="med"/>
                    </a:lnL>
                    <a:lnR w="9525" cap="flat" cmpd="sng" algn="ctr">
                      <a:solidFill>
                        <a:srgbClr val="E2D6D9"/>
                      </a:solidFill>
                      <a:prstDash val="solid"/>
                      <a:round/>
                      <a:headEnd type="none" w="med" len="med"/>
                      <a:tailEnd type="none" w="med" len="med"/>
                    </a:lnR>
                    <a:lnT w="9525" cap="flat" cmpd="sng" algn="ctr">
                      <a:solidFill>
                        <a:srgbClr val="E2D6D9"/>
                      </a:solidFill>
                      <a:prstDash val="solid"/>
                      <a:round/>
                      <a:headEnd type="none" w="med" len="med"/>
                      <a:tailEnd type="none" w="med" len="med"/>
                    </a:lnT>
                    <a:lnB w="9525" cap="flat" cmpd="sng" algn="ctr">
                      <a:solidFill>
                        <a:srgbClr val="E2D6D9"/>
                      </a:solidFill>
                      <a:prstDash val="solid"/>
                      <a:round/>
                      <a:headEnd type="none" w="med" len="med"/>
                      <a:tailEnd type="none" w="med" len="med"/>
                    </a:lnB>
                    <a:solidFill>
                      <a:schemeClr val="accent1"/>
                    </a:solidFill>
                  </a:tcPr>
                </a:tc>
                <a:tc>
                  <a:txBody>
                    <a:bodyPr/>
                    <a:lstStyle/>
                    <a:p>
                      <a:pPr algn="ctr" indent="0" marL="0">
                        <a:buNone/>
                      </a:pPr>
                      <a:r>
                        <a:rPr lang="en-US" sz="1500" b="1" dirty="0">
                          <a:solidFill>
                            <a:schemeClr val="bg1"/>
                          </a:solidFill>
                          <a:latin typeface="Calibri" pitchFamily="34" charset="0"/>
                          <a:ea typeface="Calibri" pitchFamily="34" charset="-122"/>
                          <a:cs typeface="Calibri" pitchFamily="34" charset="-120"/>
                        </a:rPr>
                        <a:t>20% sent: learned</a:t>
                      </a:r>
                      <a:endParaRPr lang="en-US" sz="1500" dirty="0">
                        <a:latin typeface="Calibri" charset="0"/>
                        <a:ea typeface="Calibri" charset="0"/>
                        <a:cs typeface="Calibri" charset="0"/>
                      </a:endParaRPr>
                    </a:p>
                  </a:txBody>
                  <a:tcPr marL="91440" marR="91440" marT="45720" marB="45720" anchor="ctr">
                    <a:lnL w="9525" cap="flat" cmpd="sng" algn="ctr">
                      <a:solidFill>
                        <a:srgbClr val="E2D6D9"/>
                      </a:solidFill>
                      <a:prstDash val="solid"/>
                      <a:round/>
                      <a:headEnd type="none" w="med" len="med"/>
                      <a:tailEnd type="none" w="med" len="med"/>
                    </a:lnL>
                    <a:lnR w="9525" cap="flat" cmpd="sng" algn="ctr">
                      <a:solidFill>
                        <a:srgbClr val="E2D6D9"/>
                      </a:solidFill>
                      <a:prstDash val="solid"/>
                      <a:round/>
                      <a:headEnd type="none" w="med" len="med"/>
                      <a:tailEnd type="none" w="med" len="med"/>
                    </a:lnR>
                    <a:lnT w="9525" cap="flat" cmpd="sng" algn="ctr">
                      <a:solidFill>
                        <a:srgbClr val="E2D6D9"/>
                      </a:solidFill>
                      <a:prstDash val="solid"/>
                      <a:round/>
                      <a:headEnd type="none" w="med" len="med"/>
                      <a:tailEnd type="none" w="med" len="med"/>
                    </a:lnT>
                    <a:lnB w="9525" cap="flat" cmpd="sng" algn="ctr">
                      <a:solidFill>
                        <a:srgbClr val="E2D6D9"/>
                      </a:solidFill>
                      <a:prstDash val="solid"/>
                      <a:round/>
                      <a:headEnd type="none" w="med" len="med"/>
                      <a:tailEnd type="none" w="med" len="med"/>
                    </a:lnB>
                    <a:solidFill>
                      <a:schemeClr val="accent1"/>
                    </a:solidFill>
                  </a:tcPr>
                </a:tc>
                <a:tc>
                  <a:txBody>
                    <a:bodyPr/>
                    <a:lstStyle/>
                    <a:p>
                      <a:pPr algn="ctr" indent="0" marL="0">
                        <a:buNone/>
                      </a:pPr>
                      <a:r>
                        <a:rPr lang="en-US" sz="1500" b="1" dirty="0">
                          <a:solidFill>
                            <a:schemeClr val="bg1"/>
                          </a:solidFill>
                          <a:latin typeface="Calibri" pitchFamily="34" charset="0"/>
                          <a:ea typeface="Calibri" pitchFamily="34" charset="-122"/>
                          <a:cs typeface="Calibri" pitchFamily="34" charset="-120"/>
                        </a:rPr>
                        <a:t>p</a:t>
                      </a:r>
                      <a:endParaRPr lang="en-US" sz="1500" dirty="0">
                        <a:latin typeface="Calibri" charset="0"/>
                        <a:ea typeface="Calibri" charset="0"/>
                        <a:cs typeface="Calibri" charset="0"/>
                      </a:endParaRPr>
                    </a:p>
                  </a:txBody>
                  <a:tcPr marL="91440" marR="91440" marT="45720" marB="45720" anchor="ctr">
                    <a:lnL w="9525" cap="flat" cmpd="sng" algn="ctr">
                      <a:solidFill>
                        <a:srgbClr val="E2D6D9"/>
                      </a:solidFill>
                      <a:prstDash val="solid"/>
                      <a:round/>
                      <a:headEnd type="none" w="med" len="med"/>
                      <a:tailEnd type="none" w="med" len="med"/>
                    </a:lnL>
                    <a:lnR w="9525" cap="flat" cmpd="sng" algn="ctr">
                      <a:solidFill>
                        <a:srgbClr val="E2D6D9"/>
                      </a:solidFill>
                      <a:prstDash val="solid"/>
                      <a:round/>
                      <a:headEnd type="none" w="med" len="med"/>
                      <a:tailEnd type="none" w="med" len="med"/>
                    </a:lnR>
                    <a:lnT w="9525" cap="flat" cmpd="sng" algn="ctr">
                      <a:solidFill>
                        <a:srgbClr val="E2D6D9"/>
                      </a:solidFill>
                      <a:prstDash val="solid"/>
                      <a:round/>
                      <a:headEnd type="none" w="med" len="med"/>
                      <a:tailEnd type="none" w="med" len="med"/>
                    </a:lnT>
                    <a:lnB w="9525" cap="flat" cmpd="sng" algn="ctr">
                      <a:solidFill>
                        <a:srgbClr val="E2D6D9"/>
                      </a:solidFill>
                      <a:prstDash val="solid"/>
                      <a:round/>
                      <a:headEnd type="none" w="med" len="med"/>
                      <a:tailEnd type="none" w="med" len="med"/>
                    </a:lnB>
                    <a:solidFill>
                      <a:schemeClr val="accent1"/>
                    </a:solidFill>
                  </a:tcPr>
                </a:tc>
              </a:tr>
              <a:tr h="502920">
                <a:tc>
                  <a:txBody>
                    <a:bodyPr/>
                    <a:lstStyle/>
                    <a:p>
                      <a:pPr indent="0" marL="0">
                        <a:buNone/>
                      </a:pPr>
                      <a:r>
                        <a:rPr lang="en-US" sz="1500" b="1" dirty="0">
                          <a:solidFill>
                            <a:srgbClr val="3A2E31"/>
                          </a:solidFill>
                          <a:latin typeface="Calibri" pitchFamily="34" charset="0"/>
                          <a:ea typeface="Calibri" pitchFamily="34" charset="-122"/>
                          <a:cs typeface="Calibri" pitchFamily="34" charset="-120"/>
                        </a:rPr>
                        <a:t>DistilBERT, 20k (93.51%)</a:t>
                      </a:r>
                      <a:endParaRPr lang="en-US" sz="1500" dirty="0">
                        <a:latin typeface="Calibri" charset="0"/>
                        <a:ea typeface="Calibri" charset="0"/>
                        <a:cs typeface="Calibri" charset="0"/>
                      </a:endParaRPr>
                    </a:p>
                  </a:txBody>
                  <a:tcPr marL="91440" marR="91440" marT="45720" marB="45720" anchor="ctr">
                    <a:lnL w="9525" cap="flat" cmpd="sng" algn="ctr">
                      <a:solidFill>
                        <a:srgbClr val="E2D6D9"/>
                      </a:solidFill>
                      <a:prstDash val="solid"/>
                      <a:round/>
                      <a:headEnd type="none" w="med" len="med"/>
                      <a:tailEnd type="none" w="med" len="med"/>
                    </a:lnL>
                    <a:lnR w="9525" cap="flat" cmpd="sng" algn="ctr">
                      <a:solidFill>
                        <a:srgbClr val="E2D6D9"/>
                      </a:solidFill>
                      <a:prstDash val="solid"/>
                      <a:round/>
                      <a:headEnd type="none" w="med" len="med"/>
                      <a:tailEnd type="none" w="med" len="med"/>
                    </a:lnR>
                    <a:lnT w="9525" cap="flat" cmpd="sng" algn="ctr">
                      <a:solidFill>
                        <a:srgbClr val="E2D6D9"/>
                      </a:solidFill>
                      <a:prstDash val="solid"/>
                      <a:round/>
                      <a:headEnd type="none" w="med" len="med"/>
                      <a:tailEnd type="none" w="med" len="med"/>
                    </a:lnT>
                    <a:lnB w="9525" cap="flat" cmpd="sng" algn="ctr">
                      <a:solidFill>
                        <a:srgbClr val="E2D6D9"/>
                      </a:solidFill>
                      <a:prstDash val="solid"/>
                      <a:round/>
                      <a:headEnd type="none" w="med" len="med"/>
                      <a:tailEnd type="none" w="med" len="med"/>
                    </a:lnB>
                    <a:solidFill>
                      <a:srgbClr val="F7EFF1"/>
                    </a:solidFill>
                  </a:tcPr>
                </a:tc>
                <a:tc>
                  <a:txBody>
                    <a:bodyPr/>
                    <a:lstStyle/>
                    <a:p>
                      <a:pPr algn="ctr" indent="0" marL="0">
                        <a:buNone/>
                      </a:pPr>
                      <a:r>
                        <a:rPr lang="en-US" sz="1500" dirty="0">
                          <a:solidFill>
                            <a:srgbClr val="3A2E31"/>
                          </a:solidFill>
                          <a:latin typeface="Calibri" pitchFamily="34" charset="0"/>
                          <a:ea typeface="Calibri" pitchFamily="34" charset="-122"/>
                          <a:cs typeface="Calibri" pitchFamily="34" charset="-120"/>
                        </a:rPr>
                        <a:t>94.05</a:t>
                      </a:r>
                      <a:endParaRPr lang="en-US" sz="1500" dirty="0">
                        <a:latin typeface="Calibri" charset="0"/>
                        <a:ea typeface="Calibri" charset="0"/>
                        <a:cs typeface="Calibri" charset="0"/>
                      </a:endParaRPr>
                    </a:p>
                  </a:txBody>
                  <a:tcPr marL="91440" marR="91440" marT="45720" marB="45720" anchor="ctr">
                    <a:lnL w="9525" cap="flat" cmpd="sng" algn="ctr">
                      <a:solidFill>
                        <a:srgbClr val="E2D6D9"/>
                      </a:solidFill>
                      <a:prstDash val="solid"/>
                      <a:round/>
                      <a:headEnd type="none" w="med" len="med"/>
                      <a:tailEnd type="none" w="med" len="med"/>
                    </a:lnL>
                    <a:lnR w="9525" cap="flat" cmpd="sng" algn="ctr">
                      <a:solidFill>
                        <a:srgbClr val="E2D6D9"/>
                      </a:solidFill>
                      <a:prstDash val="solid"/>
                      <a:round/>
                      <a:headEnd type="none" w="med" len="med"/>
                      <a:tailEnd type="none" w="med" len="med"/>
                    </a:lnR>
                    <a:lnT w="9525" cap="flat" cmpd="sng" algn="ctr">
                      <a:solidFill>
                        <a:srgbClr val="E2D6D9"/>
                      </a:solidFill>
                      <a:prstDash val="solid"/>
                      <a:round/>
                      <a:headEnd type="none" w="med" len="med"/>
                      <a:tailEnd type="none" w="med" len="med"/>
                    </a:lnT>
                    <a:lnB w="9525" cap="flat" cmpd="sng" algn="ctr">
                      <a:solidFill>
                        <a:srgbClr val="E2D6D9"/>
                      </a:solidFill>
                      <a:prstDash val="solid"/>
                      <a:round/>
                      <a:headEnd type="none" w="med" len="med"/>
                      <a:tailEnd type="none" w="med" len="med"/>
                    </a:lnB>
                    <a:solidFill>
                      <a:srgbClr val="F7EFF1"/>
                    </a:solidFill>
                  </a:tcPr>
                </a:tc>
                <a:tc>
                  <a:txBody>
                    <a:bodyPr/>
                    <a:lstStyle/>
                    <a:p>
                      <a:pPr algn="ctr" indent="0" marL="0">
                        <a:buNone/>
                      </a:pPr>
                      <a:r>
                        <a:rPr lang="en-US" sz="1500" dirty="0">
                          <a:solidFill>
                            <a:srgbClr val="3A2E31"/>
                          </a:solidFill>
                          <a:latin typeface="Calibri" pitchFamily="34" charset="0"/>
                          <a:ea typeface="Calibri" pitchFamily="34" charset="-122"/>
                          <a:cs typeface="Calibri" pitchFamily="34" charset="-120"/>
                        </a:rPr>
                        <a:t>93.92</a:t>
                      </a:r>
                      <a:endParaRPr lang="en-US" sz="1500" dirty="0">
                        <a:latin typeface="Calibri" charset="0"/>
                        <a:ea typeface="Calibri" charset="0"/>
                        <a:cs typeface="Calibri" charset="0"/>
                      </a:endParaRPr>
                    </a:p>
                  </a:txBody>
                  <a:tcPr marL="91440" marR="91440" marT="45720" marB="45720" anchor="ctr">
                    <a:lnL w="9525" cap="flat" cmpd="sng" algn="ctr">
                      <a:solidFill>
                        <a:srgbClr val="E2D6D9"/>
                      </a:solidFill>
                      <a:prstDash val="solid"/>
                      <a:round/>
                      <a:headEnd type="none" w="med" len="med"/>
                      <a:tailEnd type="none" w="med" len="med"/>
                    </a:lnL>
                    <a:lnR w="9525" cap="flat" cmpd="sng" algn="ctr">
                      <a:solidFill>
                        <a:srgbClr val="E2D6D9"/>
                      </a:solidFill>
                      <a:prstDash val="solid"/>
                      <a:round/>
                      <a:headEnd type="none" w="med" len="med"/>
                      <a:tailEnd type="none" w="med" len="med"/>
                    </a:lnR>
                    <a:lnT w="9525" cap="flat" cmpd="sng" algn="ctr">
                      <a:solidFill>
                        <a:srgbClr val="E2D6D9"/>
                      </a:solidFill>
                      <a:prstDash val="solid"/>
                      <a:round/>
                      <a:headEnd type="none" w="med" len="med"/>
                      <a:tailEnd type="none" w="med" len="med"/>
                    </a:lnT>
                    <a:lnB w="9525" cap="flat" cmpd="sng" algn="ctr">
                      <a:solidFill>
                        <a:srgbClr val="E2D6D9"/>
                      </a:solidFill>
                      <a:prstDash val="solid"/>
                      <a:round/>
                      <a:headEnd type="none" w="med" len="med"/>
                      <a:tailEnd type="none" w="med" len="med"/>
                    </a:lnB>
                    <a:solidFill>
                      <a:srgbClr val="F7EFF1"/>
                    </a:solidFill>
                  </a:tcPr>
                </a:tc>
                <a:tc>
                  <a:txBody>
                    <a:bodyPr/>
                    <a:lstStyle/>
                    <a:p>
                      <a:pPr algn="ctr" indent="0" marL="0">
                        <a:buNone/>
                      </a:pPr>
                      <a:r>
                        <a:rPr lang="en-US" sz="1500" dirty="0">
                          <a:solidFill>
                            <a:srgbClr val="3A2E31"/>
                          </a:solidFill>
                          <a:latin typeface="Calibri" pitchFamily="34" charset="0"/>
                          <a:ea typeface="Calibri" pitchFamily="34" charset="-122"/>
                          <a:cs typeface="Calibri" pitchFamily="34" charset="-120"/>
                        </a:rPr>
                        <a:t>0.04</a:t>
                      </a:r>
                      <a:endParaRPr lang="en-US" sz="1500" dirty="0">
                        <a:latin typeface="Calibri" charset="0"/>
                        <a:ea typeface="Calibri" charset="0"/>
                        <a:cs typeface="Calibri" charset="0"/>
                      </a:endParaRPr>
                    </a:p>
                  </a:txBody>
                  <a:tcPr marL="91440" marR="91440" marT="45720" marB="45720" anchor="ctr">
                    <a:lnL w="9525" cap="flat" cmpd="sng" algn="ctr">
                      <a:solidFill>
                        <a:srgbClr val="E2D6D9"/>
                      </a:solidFill>
                      <a:prstDash val="solid"/>
                      <a:round/>
                      <a:headEnd type="none" w="med" len="med"/>
                      <a:tailEnd type="none" w="med" len="med"/>
                    </a:lnL>
                    <a:lnR w="9525" cap="flat" cmpd="sng" algn="ctr">
                      <a:solidFill>
                        <a:srgbClr val="E2D6D9"/>
                      </a:solidFill>
                      <a:prstDash val="solid"/>
                      <a:round/>
                      <a:headEnd type="none" w="med" len="med"/>
                      <a:tailEnd type="none" w="med" len="med"/>
                    </a:lnR>
                    <a:lnT w="9525" cap="flat" cmpd="sng" algn="ctr">
                      <a:solidFill>
                        <a:srgbClr val="E2D6D9"/>
                      </a:solidFill>
                      <a:prstDash val="solid"/>
                      <a:round/>
                      <a:headEnd type="none" w="med" len="med"/>
                      <a:tailEnd type="none" w="med" len="med"/>
                    </a:lnT>
                    <a:lnB w="9525" cap="flat" cmpd="sng" algn="ctr">
                      <a:solidFill>
                        <a:srgbClr val="E2D6D9"/>
                      </a:solidFill>
                      <a:prstDash val="solid"/>
                      <a:round/>
                      <a:headEnd type="none" w="med" len="med"/>
                      <a:tailEnd type="none" w="med" len="med"/>
                    </a:lnB>
                    <a:solidFill>
                      <a:srgbClr val="F7EFF1"/>
                    </a:solidFill>
                  </a:tcPr>
                </a:tc>
                <a:tc>
                  <a:txBody>
                    <a:bodyPr/>
                    <a:lstStyle/>
                    <a:p>
                      <a:pPr algn="ctr" indent="0" marL="0">
                        <a:buNone/>
                      </a:pPr>
                      <a:r>
                        <a:rPr lang="en-US" sz="1500" dirty="0">
                          <a:solidFill>
                            <a:srgbClr val="3A2E31"/>
                          </a:solidFill>
                          <a:latin typeface="Calibri" pitchFamily="34" charset="0"/>
                          <a:ea typeface="Calibri" pitchFamily="34" charset="-122"/>
                          <a:cs typeface="Calibri" pitchFamily="34" charset="-120"/>
                        </a:rPr>
                        <a:t>93.91</a:t>
                      </a:r>
                      <a:endParaRPr lang="en-US" sz="1500" dirty="0">
                        <a:latin typeface="Calibri" charset="0"/>
                        <a:ea typeface="Calibri" charset="0"/>
                        <a:cs typeface="Calibri" charset="0"/>
                      </a:endParaRPr>
                    </a:p>
                  </a:txBody>
                  <a:tcPr marL="91440" marR="91440" marT="45720" marB="45720" anchor="ctr">
                    <a:lnL w="9525" cap="flat" cmpd="sng" algn="ctr">
                      <a:solidFill>
                        <a:srgbClr val="E2D6D9"/>
                      </a:solidFill>
                      <a:prstDash val="solid"/>
                      <a:round/>
                      <a:headEnd type="none" w="med" len="med"/>
                      <a:tailEnd type="none" w="med" len="med"/>
                    </a:lnL>
                    <a:lnR w="9525" cap="flat" cmpd="sng" algn="ctr">
                      <a:solidFill>
                        <a:srgbClr val="E2D6D9"/>
                      </a:solidFill>
                      <a:prstDash val="solid"/>
                      <a:round/>
                      <a:headEnd type="none" w="med" len="med"/>
                      <a:tailEnd type="none" w="med" len="med"/>
                    </a:lnR>
                    <a:lnT w="9525" cap="flat" cmpd="sng" algn="ctr">
                      <a:solidFill>
                        <a:srgbClr val="E2D6D9"/>
                      </a:solidFill>
                      <a:prstDash val="solid"/>
                      <a:round/>
                      <a:headEnd type="none" w="med" len="med"/>
                      <a:tailEnd type="none" w="med" len="med"/>
                    </a:lnT>
                    <a:lnB w="9525" cap="flat" cmpd="sng" algn="ctr">
                      <a:solidFill>
                        <a:srgbClr val="E2D6D9"/>
                      </a:solidFill>
                      <a:prstDash val="solid"/>
                      <a:round/>
                      <a:headEnd type="none" w="med" len="med"/>
                      <a:tailEnd type="none" w="med" len="med"/>
                    </a:lnB>
                    <a:solidFill>
                      <a:srgbClr val="F7EFF1"/>
                    </a:solidFill>
                  </a:tcPr>
                </a:tc>
                <a:tc>
                  <a:txBody>
                    <a:bodyPr/>
                    <a:lstStyle/>
                    <a:p>
                      <a:pPr algn="ctr" indent="0" marL="0">
                        <a:buNone/>
                      </a:pPr>
                      <a:r>
                        <a:rPr lang="en-US" sz="1500" dirty="0">
                          <a:solidFill>
                            <a:srgbClr val="3A2E31"/>
                          </a:solidFill>
                          <a:latin typeface="Calibri" pitchFamily="34" charset="0"/>
                          <a:ea typeface="Calibri" pitchFamily="34" charset="-122"/>
                          <a:cs typeface="Calibri" pitchFamily="34" charset="-120"/>
                        </a:rPr>
                        <a:t>93.98</a:t>
                      </a:r>
                      <a:endParaRPr lang="en-US" sz="1500" dirty="0">
                        <a:latin typeface="Calibri" charset="0"/>
                        <a:ea typeface="Calibri" charset="0"/>
                        <a:cs typeface="Calibri" charset="0"/>
                      </a:endParaRPr>
                    </a:p>
                  </a:txBody>
                  <a:tcPr marL="91440" marR="91440" marT="45720" marB="45720" anchor="ctr">
                    <a:lnL w="9525" cap="flat" cmpd="sng" algn="ctr">
                      <a:solidFill>
                        <a:srgbClr val="E2D6D9"/>
                      </a:solidFill>
                      <a:prstDash val="solid"/>
                      <a:round/>
                      <a:headEnd type="none" w="med" len="med"/>
                      <a:tailEnd type="none" w="med" len="med"/>
                    </a:lnL>
                    <a:lnR w="9525" cap="flat" cmpd="sng" algn="ctr">
                      <a:solidFill>
                        <a:srgbClr val="E2D6D9"/>
                      </a:solidFill>
                      <a:prstDash val="solid"/>
                      <a:round/>
                      <a:headEnd type="none" w="med" len="med"/>
                      <a:tailEnd type="none" w="med" len="med"/>
                    </a:lnR>
                    <a:lnT w="9525" cap="flat" cmpd="sng" algn="ctr">
                      <a:solidFill>
                        <a:srgbClr val="E2D6D9"/>
                      </a:solidFill>
                      <a:prstDash val="solid"/>
                      <a:round/>
                      <a:headEnd type="none" w="med" len="med"/>
                      <a:tailEnd type="none" w="med" len="med"/>
                    </a:lnT>
                    <a:lnB w="9525" cap="flat" cmpd="sng" algn="ctr">
                      <a:solidFill>
                        <a:srgbClr val="E2D6D9"/>
                      </a:solidFill>
                      <a:prstDash val="solid"/>
                      <a:round/>
                      <a:headEnd type="none" w="med" len="med"/>
                      <a:tailEnd type="none" w="med" len="med"/>
                    </a:lnB>
                    <a:solidFill>
                      <a:srgbClr val="F7EFF1"/>
                    </a:solidFill>
                  </a:tcPr>
                </a:tc>
                <a:tc>
                  <a:txBody>
                    <a:bodyPr/>
                    <a:lstStyle/>
                    <a:p>
                      <a:pPr algn="ctr" indent="0" marL="0">
                        <a:buNone/>
                      </a:pPr>
                      <a:r>
                        <a:rPr lang="en-US" sz="1500" dirty="0">
                          <a:solidFill>
                            <a:srgbClr val="3A2E31"/>
                          </a:solidFill>
                          <a:latin typeface="Calibri" pitchFamily="34" charset="0"/>
                          <a:ea typeface="Calibri" pitchFamily="34" charset="-122"/>
                          <a:cs typeface="Calibri" pitchFamily="34" charset="-120"/>
                        </a:rPr>
                        <a:t>0.28</a:t>
                      </a:r>
                      <a:endParaRPr lang="en-US" sz="1500" dirty="0">
                        <a:latin typeface="Calibri" charset="0"/>
                        <a:ea typeface="Calibri" charset="0"/>
                        <a:cs typeface="Calibri" charset="0"/>
                      </a:endParaRPr>
                    </a:p>
                  </a:txBody>
                  <a:tcPr marL="91440" marR="91440" marT="45720" marB="45720" anchor="ctr">
                    <a:lnL w="9525" cap="flat" cmpd="sng" algn="ctr">
                      <a:solidFill>
                        <a:srgbClr val="E2D6D9"/>
                      </a:solidFill>
                      <a:prstDash val="solid"/>
                      <a:round/>
                      <a:headEnd type="none" w="med" len="med"/>
                      <a:tailEnd type="none" w="med" len="med"/>
                    </a:lnL>
                    <a:lnR w="9525" cap="flat" cmpd="sng" algn="ctr">
                      <a:solidFill>
                        <a:srgbClr val="E2D6D9"/>
                      </a:solidFill>
                      <a:prstDash val="solid"/>
                      <a:round/>
                      <a:headEnd type="none" w="med" len="med"/>
                      <a:tailEnd type="none" w="med" len="med"/>
                    </a:lnR>
                    <a:lnT w="9525" cap="flat" cmpd="sng" algn="ctr">
                      <a:solidFill>
                        <a:srgbClr val="E2D6D9"/>
                      </a:solidFill>
                      <a:prstDash val="solid"/>
                      <a:round/>
                      <a:headEnd type="none" w="med" len="med"/>
                      <a:tailEnd type="none" w="med" len="med"/>
                    </a:lnT>
                    <a:lnB w="9525" cap="flat" cmpd="sng" algn="ctr">
                      <a:solidFill>
                        <a:srgbClr val="E2D6D9"/>
                      </a:solidFill>
                      <a:prstDash val="solid"/>
                      <a:round/>
                      <a:headEnd type="none" w="med" len="med"/>
                      <a:tailEnd type="none" w="med" len="med"/>
                    </a:lnB>
                    <a:solidFill>
                      <a:srgbClr val="F7EFF1"/>
                    </a:solidFill>
                  </a:tcPr>
                </a:tc>
              </a:tr>
              <a:tr h="502920">
                <a:tc>
                  <a:txBody>
                    <a:bodyPr/>
                    <a:lstStyle/>
                    <a:p>
                      <a:pPr indent="0" marL="0">
                        <a:buNone/>
                      </a:pPr>
                      <a:r>
                        <a:rPr lang="en-US" sz="1500" b="1" dirty="0">
                          <a:solidFill>
                            <a:srgbClr val="3A2E31"/>
                          </a:solidFill>
                          <a:latin typeface="Calibri" pitchFamily="34" charset="0"/>
                          <a:ea typeface="Calibri" pitchFamily="34" charset="-122"/>
                          <a:cs typeface="Calibri" pitchFamily="34" charset="-120"/>
                        </a:rPr>
                        <a:t>DistilBERT, +1M (95.83%)</a:t>
                      </a:r>
                      <a:endParaRPr lang="en-US" sz="1500" dirty="0">
                        <a:latin typeface="Calibri" charset="0"/>
                        <a:ea typeface="Calibri" charset="0"/>
                        <a:cs typeface="Calibri" charset="0"/>
                      </a:endParaRPr>
                    </a:p>
                  </a:txBody>
                  <a:tcPr marL="91440" marR="91440" marT="45720" marB="45720" anchor="ctr">
                    <a:lnL w="9525" cap="flat" cmpd="sng" algn="ctr">
                      <a:solidFill>
                        <a:srgbClr val="E2D6D9"/>
                      </a:solidFill>
                      <a:prstDash val="solid"/>
                      <a:round/>
                      <a:headEnd type="none" w="med" len="med"/>
                      <a:tailEnd type="none" w="med" len="med"/>
                    </a:lnL>
                    <a:lnR w="9525" cap="flat" cmpd="sng" algn="ctr">
                      <a:solidFill>
                        <a:srgbClr val="E2D6D9"/>
                      </a:solidFill>
                      <a:prstDash val="solid"/>
                      <a:round/>
                      <a:headEnd type="none" w="med" len="med"/>
                      <a:tailEnd type="none" w="med" len="med"/>
                    </a:lnR>
                    <a:lnT w="9525" cap="flat" cmpd="sng" algn="ctr">
                      <a:solidFill>
                        <a:srgbClr val="E2D6D9"/>
                      </a:solidFill>
                      <a:prstDash val="solid"/>
                      <a:round/>
                      <a:headEnd type="none" w="med" len="med"/>
                      <a:tailEnd type="none" w="med" len="med"/>
                    </a:lnT>
                    <a:lnB w="9525" cap="flat" cmpd="sng" algn="ctr">
                      <a:solidFill>
                        <a:srgbClr val="E2D6D9"/>
                      </a:solidFill>
                      <a:prstDash val="solid"/>
                      <a:round/>
                      <a:headEnd type="none" w="med" len="med"/>
                      <a:tailEnd type="none" w="med" len="med"/>
                    </a:lnB>
                    <a:solidFill>
                      <a:srgbClr val="F7EFF1"/>
                    </a:solidFill>
                  </a:tcPr>
                </a:tc>
                <a:tc>
                  <a:txBody>
                    <a:bodyPr/>
                    <a:lstStyle/>
                    <a:p>
                      <a:pPr algn="ctr" indent="0" marL="0">
                        <a:buNone/>
                      </a:pPr>
                      <a:r>
                        <a:rPr lang="en-US" sz="1500" dirty="0">
                          <a:solidFill>
                            <a:srgbClr val="3A2E31"/>
                          </a:solidFill>
                          <a:latin typeface="Calibri" pitchFamily="34" charset="0"/>
                          <a:ea typeface="Calibri" pitchFamily="34" charset="-122"/>
                          <a:cs typeface="Calibri" pitchFamily="34" charset="-120"/>
                        </a:rPr>
                        <a:t>94.70</a:t>
                      </a:r>
                      <a:endParaRPr lang="en-US" sz="1500" dirty="0">
                        <a:latin typeface="Calibri" charset="0"/>
                        <a:ea typeface="Calibri" charset="0"/>
                        <a:cs typeface="Calibri" charset="0"/>
                      </a:endParaRPr>
                    </a:p>
                  </a:txBody>
                  <a:tcPr marL="91440" marR="91440" marT="45720" marB="45720" anchor="ctr">
                    <a:lnL w="9525" cap="flat" cmpd="sng" algn="ctr">
                      <a:solidFill>
                        <a:srgbClr val="E2D6D9"/>
                      </a:solidFill>
                      <a:prstDash val="solid"/>
                      <a:round/>
                      <a:headEnd type="none" w="med" len="med"/>
                      <a:tailEnd type="none" w="med" len="med"/>
                    </a:lnL>
                    <a:lnR w="9525" cap="flat" cmpd="sng" algn="ctr">
                      <a:solidFill>
                        <a:srgbClr val="E2D6D9"/>
                      </a:solidFill>
                      <a:prstDash val="solid"/>
                      <a:round/>
                      <a:headEnd type="none" w="med" len="med"/>
                      <a:tailEnd type="none" w="med" len="med"/>
                    </a:lnR>
                    <a:lnT w="9525" cap="flat" cmpd="sng" algn="ctr">
                      <a:solidFill>
                        <a:srgbClr val="E2D6D9"/>
                      </a:solidFill>
                      <a:prstDash val="solid"/>
                      <a:round/>
                      <a:headEnd type="none" w="med" len="med"/>
                      <a:tailEnd type="none" w="med" len="med"/>
                    </a:lnT>
                    <a:lnB w="9525" cap="flat" cmpd="sng" algn="ctr">
                      <a:solidFill>
                        <a:srgbClr val="E2D6D9"/>
                      </a:solidFill>
                      <a:prstDash val="solid"/>
                      <a:round/>
                      <a:headEnd type="none" w="med" len="med"/>
                      <a:tailEnd type="none" w="med" len="med"/>
                    </a:lnB>
                    <a:solidFill>
                      <a:srgbClr val="F7EFF1"/>
                    </a:solidFill>
                  </a:tcPr>
                </a:tc>
                <a:tc>
                  <a:txBody>
                    <a:bodyPr/>
                    <a:lstStyle/>
                    <a:p>
                      <a:pPr algn="ctr" indent="0" marL="0">
                        <a:buNone/>
                      </a:pPr>
                      <a:r>
                        <a:rPr lang="en-US" sz="1500" dirty="0">
                          <a:solidFill>
                            <a:srgbClr val="3A2E31"/>
                          </a:solidFill>
                          <a:latin typeface="Calibri" pitchFamily="34" charset="0"/>
                          <a:ea typeface="Calibri" pitchFamily="34" charset="-122"/>
                          <a:cs typeface="Calibri" pitchFamily="34" charset="-120"/>
                        </a:rPr>
                        <a:t>94.75</a:t>
                      </a:r>
                      <a:endParaRPr lang="en-US" sz="1500" dirty="0">
                        <a:latin typeface="Calibri" charset="0"/>
                        <a:ea typeface="Calibri" charset="0"/>
                        <a:cs typeface="Calibri" charset="0"/>
                      </a:endParaRPr>
                    </a:p>
                  </a:txBody>
                  <a:tcPr marL="91440" marR="91440" marT="45720" marB="45720" anchor="ctr">
                    <a:lnL w="9525" cap="flat" cmpd="sng" algn="ctr">
                      <a:solidFill>
                        <a:srgbClr val="E2D6D9"/>
                      </a:solidFill>
                      <a:prstDash val="solid"/>
                      <a:round/>
                      <a:headEnd type="none" w="med" len="med"/>
                      <a:tailEnd type="none" w="med" len="med"/>
                    </a:lnL>
                    <a:lnR w="9525" cap="flat" cmpd="sng" algn="ctr">
                      <a:solidFill>
                        <a:srgbClr val="E2D6D9"/>
                      </a:solidFill>
                      <a:prstDash val="solid"/>
                      <a:round/>
                      <a:headEnd type="none" w="med" len="med"/>
                      <a:tailEnd type="none" w="med" len="med"/>
                    </a:lnR>
                    <a:lnT w="9525" cap="flat" cmpd="sng" algn="ctr">
                      <a:solidFill>
                        <a:srgbClr val="E2D6D9"/>
                      </a:solidFill>
                      <a:prstDash val="solid"/>
                      <a:round/>
                      <a:headEnd type="none" w="med" len="med"/>
                      <a:tailEnd type="none" w="med" len="med"/>
                    </a:lnT>
                    <a:lnB w="9525" cap="flat" cmpd="sng" algn="ctr">
                      <a:solidFill>
                        <a:srgbClr val="E2D6D9"/>
                      </a:solidFill>
                      <a:prstDash val="solid"/>
                      <a:round/>
                      <a:headEnd type="none" w="med" len="med"/>
                      <a:tailEnd type="none" w="med" len="med"/>
                    </a:lnB>
                    <a:solidFill>
                      <a:srgbClr val="F7EFF1"/>
                    </a:solidFill>
                  </a:tcPr>
                </a:tc>
                <a:tc>
                  <a:txBody>
                    <a:bodyPr/>
                    <a:lstStyle/>
                    <a:p>
                      <a:pPr algn="ctr" indent="0" marL="0">
                        <a:buNone/>
                      </a:pPr>
                      <a:r>
                        <a:rPr lang="en-US" sz="1500" dirty="0">
                          <a:solidFill>
                            <a:srgbClr val="3A2E31"/>
                          </a:solidFill>
                          <a:latin typeface="Calibri" pitchFamily="34" charset="0"/>
                          <a:ea typeface="Calibri" pitchFamily="34" charset="-122"/>
                          <a:cs typeface="Calibri" pitchFamily="34" charset="-120"/>
                        </a:rPr>
                        <a:t>0.24</a:t>
                      </a:r>
                      <a:endParaRPr lang="en-US" sz="1500" dirty="0">
                        <a:latin typeface="Calibri" charset="0"/>
                        <a:ea typeface="Calibri" charset="0"/>
                        <a:cs typeface="Calibri" charset="0"/>
                      </a:endParaRPr>
                    </a:p>
                  </a:txBody>
                  <a:tcPr marL="91440" marR="91440" marT="45720" marB="45720" anchor="ctr">
                    <a:lnL w="9525" cap="flat" cmpd="sng" algn="ctr">
                      <a:solidFill>
                        <a:srgbClr val="E2D6D9"/>
                      </a:solidFill>
                      <a:prstDash val="solid"/>
                      <a:round/>
                      <a:headEnd type="none" w="med" len="med"/>
                      <a:tailEnd type="none" w="med" len="med"/>
                    </a:lnL>
                    <a:lnR w="9525" cap="flat" cmpd="sng" algn="ctr">
                      <a:solidFill>
                        <a:srgbClr val="E2D6D9"/>
                      </a:solidFill>
                      <a:prstDash val="solid"/>
                      <a:round/>
                      <a:headEnd type="none" w="med" len="med"/>
                      <a:tailEnd type="none" w="med" len="med"/>
                    </a:lnR>
                    <a:lnT w="9525" cap="flat" cmpd="sng" algn="ctr">
                      <a:solidFill>
                        <a:srgbClr val="E2D6D9"/>
                      </a:solidFill>
                      <a:prstDash val="solid"/>
                      <a:round/>
                      <a:headEnd type="none" w="med" len="med"/>
                      <a:tailEnd type="none" w="med" len="med"/>
                    </a:lnT>
                    <a:lnB w="9525" cap="flat" cmpd="sng" algn="ctr">
                      <a:solidFill>
                        <a:srgbClr val="E2D6D9"/>
                      </a:solidFill>
                      <a:prstDash val="solid"/>
                      <a:round/>
                      <a:headEnd type="none" w="med" len="med"/>
                      <a:tailEnd type="none" w="med" len="med"/>
                    </a:lnB>
                    <a:solidFill>
                      <a:srgbClr val="F7EFF1"/>
                    </a:solidFill>
                  </a:tcPr>
                </a:tc>
                <a:tc>
                  <a:txBody>
                    <a:bodyPr/>
                    <a:lstStyle/>
                    <a:p>
                      <a:pPr algn="ctr" indent="0" marL="0">
                        <a:buNone/>
                      </a:pPr>
                      <a:r>
                        <a:rPr lang="en-US" sz="1500" dirty="0">
                          <a:solidFill>
                            <a:srgbClr val="3A2E31"/>
                          </a:solidFill>
                          <a:latin typeface="Calibri" pitchFamily="34" charset="0"/>
                          <a:ea typeface="Calibri" pitchFamily="34" charset="-122"/>
                          <a:cs typeface="Calibri" pitchFamily="34" charset="-120"/>
                        </a:rPr>
                        <a:t>95.48</a:t>
                      </a:r>
                      <a:endParaRPr lang="en-US" sz="1500" dirty="0">
                        <a:latin typeface="Calibri" charset="0"/>
                        <a:ea typeface="Calibri" charset="0"/>
                        <a:cs typeface="Calibri" charset="0"/>
                      </a:endParaRPr>
                    </a:p>
                  </a:txBody>
                  <a:tcPr marL="91440" marR="91440" marT="45720" marB="45720" anchor="ctr">
                    <a:lnL w="9525" cap="flat" cmpd="sng" algn="ctr">
                      <a:solidFill>
                        <a:srgbClr val="E2D6D9"/>
                      </a:solidFill>
                      <a:prstDash val="solid"/>
                      <a:round/>
                      <a:headEnd type="none" w="med" len="med"/>
                      <a:tailEnd type="none" w="med" len="med"/>
                    </a:lnL>
                    <a:lnR w="9525" cap="flat" cmpd="sng" algn="ctr">
                      <a:solidFill>
                        <a:srgbClr val="E2D6D9"/>
                      </a:solidFill>
                      <a:prstDash val="solid"/>
                      <a:round/>
                      <a:headEnd type="none" w="med" len="med"/>
                      <a:tailEnd type="none" w="med" len="med"/>
                    </a:lnR>
                    <a:lnT w="9525" cap="flat" cmpd="sng" algn="ctr">
                      <a:solidFill>
                        <a:srgbClr val="E2D6D9"/>
                      </a:solidFill>
                      <a:prstDash val="solid"/>
                      <a:round/>
                      <a:headEnd type="none" w="med" len="med"/>
                      <a:tailEnd type="none" w="med" len="med"/>
                    </a:lnT>
                    <a:lnB w="9525" cap="flat" cmpd="sng" algn="ctr">
                      <a:solidFill>
                        <a:srgbClr val="E2D6D9"/>
                      </a:solidFill>
                      <a:prstDash val="solid"/>
                      <a:round/>
                      <a:headEnd type="none" w="med" len="med"/>
                      <a:tailEnd type="none" w="med" len="med"/>
                    </a:lnB>
                    <a:solidFill>
                      <a:srgbClr val="F7EFF1"/>
                    </a:solidFill>
                  </a:tcPr>
                </a:tc>
                <a:tc>
                  <a:txBody>
                    <a:bodyPr/>
                    <a:lstStyle/>
                    <a:p>
                      <a:pPr algn="ctr" indent="0" marL="0">
                        <a:buNone/>
                      </a:pPr>
                      <a:r>
                        <a:rPr lang="en-US" sz="1500" dirty="0">
                          <a:solidFill>
                            <a:srgbClr val="3A2E31"/>
                          </a:solidFill>
                          <a:latin typeface="Calibri" pitchFamily="34" charset="0"/>
                          <a:ea typeface="Calibri" pitchFamily="34" charset="-122"/>
                          <a:cs typeface="Calibri" pitchFamily="34" charset="-120"/>
                        </a:rPr>
                        <a:t>95.54</a:t>
                      </a:r>
                      <a:endParaRPr lang="en-US" sz="1500" dirty="0">
                        <a:latin typeface="Calibri" charset="0"/>
                        <a:ea typeface="Calibri" charset="0"/>
                        <a:cs typeface="Calibri" charset="0"/>
                      </a:endParaRPr>
                    </a:p>
                  </a:txBody>
                  <a:tcPr marL="91440" marR="91440" marT="45720" marB="45720" anchor="ctr">
                    <a:lnL w="9525" cap="flat" cmpd="sng" algn="ctr">
                      <a:solidFill>
                        <a:srgbClr val="E2D6D9"/>
                      </a:solidFill>
                      <a:prstDash val="solid"/>
                      <a:round/>
                      <a:headEnd type="none" w="med" len="med"/>
                      <a:tailEnd type="none" w="med" len="med"/>
                    </a:lnL>
                    <a:lnR w="9525" cap="flat" cmpd="sng" algn="ctr">
                      <a:solidFill>
                        <a:srgbClr val="E2D6D9"/>
                      </a:solidFill>
                      <a:prstDash val="solid"/>
                      <a:round/>
                      <a:headEnd type="none" w="med" len="med"/>
                      <a:tailEnd type="none" w="med" len="med"/>
                    </a:lnR>
                    <a:lnT w="9525" cap="flat" cmpd="sng" algn="ctr">
                      <a:solidFill>
                        <a:srgbClr val="E2D6D9"/>
                      </a:solidFill>
                      <a:prstDash val="solid"/>
                      <a:round/>
                      <a:headEnd type="none" w="med" len="med"/>
                      <a:tailEnd type="none" w="med" len="med"/>
                    </a:lnT>
                    <a:lnB w="9525" cap="flat" cmpd="sng" algn="ctr">
                      <a:solidFill>
                        <a:srgbClr val="E2D6D9"/>
                      </a:solidFill>
                      <a:prstDash val="solid"/>
                      <a:round/>
                      <a:headEnd type="none" w="med" len="med"/>
                      <a:tailEnd type="none" w="med" len="med"/>
                    </a:lnB>
                    <a:solidFill>
                      <a:srgbClr val="F7EFF1"/>
                    </a:solidFill>
                  </a:tcPr>
                </a:tc>
                <a:tc>
                  <a:txBody>
                    <a:bodyPr/>
                    <a:lstStyle/>
                    <a:p>
                      <a:pPr algn="ctr" indent="0" marL="0">
                        <a:buNone/>
                      </a:pPr>
                      <a:r>
                        <a:rPr lang="en-US" sz="1500" dirty="0">
                          <a:solidFill>
                            <a:srgbClr val="3A2E31"/>
                          </a:solidFill>
                          <a:latin typeface="Calibri" pitchFamily="34" charset="0"/>
                          <a:ea typeface="Calibri" pitchFamily="34" charset="-122"/>
                          <a:cs typeface="Calibri" pitchFamily="34" charset="-120"/>
                        </a:rPr>
                        <a:t>0.07</a:t>
                      </a:r>
                      <a:endParaRPr lang="en-US" sz="1500" dirty="0">
                        <a:latin typeface="Calibri" charset="0"/>
                        <a:ea typeface="Calibri" charset="0"/>
                        <a:cs typeface="Calibri" charset="0"/>
                      </a:endParaRPr>
                    </a:p>
                  </a:txBody>
                  <a:tcPr marL="91440" marR="91440" marT="45720" marB="45720" anchor="ctr">
                    <a:lnL w="9525" cap="flat" cmpd="sng" algn="ctr">
                      <a:solidFill>
                        <a:srgbClr val="E2D6D9"/>
                      </a:solidFill>
                      <a:prstDash val="solid"/>
                      <a:round/>
                      <a:headEnd type="none" w="med" len="med"/>
                      <a:tailEnd type="none" w="med" len="med"/>
                    </a:lnL>
                    <a:lnR w="9525" cap="flat" cmpd="sng" algn="ctr">
                      <a:solidFill>
                        <a:srgbClr val="E2D6D9"/>
                      </a:solidFill>
                      <a:prstDash val="solid"/>
                      <a:round/>
                      <a:headEnd type="none" w="med" len="med"/>
                      <a:tailEnd type="none" w="med" len="med"/>
                    </a:lnR>
                    <a:lnT w="9525" cap="flat" cmpd="sng" algn="ctr">
                      <a:solidFill>
                        <a:srgbClr val="E2D6D9"/>
                      </a:solidFill>
                      <a:prstDash val="solid"/>
                      <a:round/>
                      <a:headEnd type="none" w="med" len="med"/>
                      <a:tailEnd type="none" w="med" len="med"/>
                    </a:lnT>
                    <a:lnB w="9525" cap="flat" cmpd="sng" algn="ctr">
                      <a:solidFill>
                        <a:srgbClr val="E2D6D9"/>
                      </a:solidFill>
                      <a:prstDash val="solid"/>
                      <a:round/>
                      <a:headEnd type="none" w="med" len="med"/>
                      <a:tailEnd type="none" w="med" len="med"/>
                    </a:lnB>
                    <a:solidFill>
                      <a:srgbClr val="F7EFF1"/>
                    </a:solidFill>
                  </a:tcPr>
                </a:tc>
              </a:tr>
              <a:tr h="502920">
                <a:tc>
                  <a:txBody>
                    <a:bodyPr/>
                    <a:lstStyle/>
                    <a:p>
                      <a:pPr indent="0" marL="0">
                        <a:buNone/>
                      </a:pPr>
                      <a:r>
                        <a:rPr lang="en-US" sz="1500" b="1" dirty="0">
                          <a:solidFill>
                            <a:srgbClr val="3A2E31"/>
                          </a:solidFill>
                          <a:latin typeface="Calibri" pitchFamily="34" charset="0"/>
                          <a:ea typeface="Calibri" pitchFamily="34" charset="-122"/>
                          <a:cs typeface="Calibri" pitchFamily="34" charset="-120"/>
                        </a:rPr>
                        <a:t>RoBERTa-base, +1M (96.72%)</a:t>
                      </a:r>
                      <a:endParaRPr lang="en-US" sz="1500" dirty="0">
                        <a:latin typeface="Calibri" charset="0"/>
                        <a:ea typeface="Calibri" charset="0"/>
                        <a:cs typeface="Calibri" charset="0"/>
                      </a:endParaRPr>
                    </a:p>
                  </a:txBody>
                  <a:tcPr marL="91440" marR="91440" marT="45720" marB="45720" anchor="ctr">
                    <a:lnL w="9525" cap="flat" cmpd="sng" algn="ctr">
                      <a:solidFill>
                        <a:srgbClr val="E2D6D9"/>
                      </a:solidFill>
                      <a:prstDash val="solid"/>
                      <a:round/>
                      <a:headEnd type="none" w="med" len="med"/>
                      <a:tailEnd type="none" w="med" len="med"/>
                    </a:lnL>
                    <a:lnR w="9525" cap="flat" cmpd="sng" algn="ctr">
                      <a:solidFill>
                        <a:srgbClr val="E2D6D9"/>
                      </a:solidFill>
                      <a:prstDash val="solid"/>
                      <a:round/>
                      <a:headEnd type="none" w="med" len="med"/>
                      <a:tailEnd type="none" w="med" len="med"/>
                    </a:lnR>
                    <a:lnT w="9525" cap="flat" cmpd="sng" algn="ctr">
                      <a:solidFill>
                        <a:srgbClr val="E2D6D9"/>
                      </a:solidFill>
                      <a:prstDash val="solid"/>
                      <a:round/>
                      <a:headEnd type="none" w="med" len="med"/>
                      <a:tailEnd type="none" w="med" len="med"/>
                    </a:lnT>
                    <a:lnB w="9525" cap="flat" cmpd="sng" algn="ctr">
                      <a:solidFill>
                        <a:srgbClr val="E2D6D9"/>
                      </a:solidFill>
                      <a:prstDash val="solid"/>
                      <a:round/>
                      <a:headEnd type="none" w="med" len="med"/>
                      <a:tailEnd type="none" w="med" len="med"/>
                    </a:lnB>
                    <a:solidFill>
                      <a:srgbClr val="F7EFF1"/>
                    </a:solidFill>
                  </a:tcPr>
                </a:tc>
                <a:tc>
                  <a:txBody>
                    <a:bodyPr/>
                    <a:lstStyle/>
                    <a:p>
                      <a:pPr algn="ctr" indent="0" marL="0">
                        <a:buNone/>
                      </a:pPr>
                      <a:r>
                        <a:rPr lang="en-US" sz="1500" dirty="0">
                          <a:solidFill>
                            <a:srgbClr val="3A2E31"/>
                          </a:solidFill>
                          <a:latin typeface="Calibri" pitchFamily="34" charset="0"/>
                          <a:ea typeface="Calibri" pitchFamily="34" charset="-122"/>
                          <a:cs typeface="Calibri" pitchFamily="34" charset="-120"/>
                        </a:rPr>
                        <a:t>95.14</a:t>
                      </a:r>
                      <a:endParaRPr lang="en-US" sz="1500" dirty="0">
                        <a:latin typeface="Calibri" charset="0"/>
                        <a:ea typeface="Calibri" charset="0"/>
                        <a:cs typeface="Calibri" charset="0"/>
                      </a:endParaRPr>
                    </a:p>
                  </a:txBody>
                  <a:tcPr marL="91440" marR="91440" marT="45720" marB="45720" anchor="ctr">
                    <a:lnL w="9525" cap="flat" cmpd="sng" algn="ctr">
                      <a:solidFill>
                        <a:srgbClr val="E2D6D9"/>
                      </a:solidFill>
                      <a:prstDash val="solid"/>
                      <a:round/>
                      <a:headEnd type="none" w="med" len="med"/>
                      <a:tailEnd type="none" w="med" len="med"/>
                    </a:lnL>
                    <a:lnR w="9525" cap="flat" cmpd="sng" algn="ctr">
                      <a:solidFill>
                        <a:srgbClr val="E2D6D9"/>
                      </a:solidFill>
                      <a:prstDash val="solid"/>
                      <a:round/>
                      <a:headEnd type="none" w="med" len="med"/>
                      <a:tailEnd type="none" w="med" len="med"/>
                    </a:lnR>
                    <a:lnT w="9525" cap="flat" cmpd="sng" algn="ctr">
                      <a:solidFill>
                        <a:srgbClr val="E2D6D9"/>
                      </a:solidFill>
                      <a:prstDash val="solid"/>
                      <a:round/>
                      <a:headEnd type="none" w="med" len="med"/>
                      <a:tailEnd type="none" w="med" len="med"/>
                    </a:lnT>
                    <a:lnB w="9525" cap="flat" cmpd="sng" algn="ctr">
                      <a:solidFill>
                        <a:srgbClr val="E2D6D9"/>
                      </a:solidFill>
                      <a:prstDash val="solid"/>
                      <a:round/>
                      <a:headEnd type="none" w="med" len="med"/>
                      <a:tailEnd type="none" w="med" len="med"/>
                    </a:lnB>
                    <a:solidFill>
                      <a:srgbClr val="F7EFF1"/>
                    </a:solidFill>
                  </a:tcPr>
                </a:tc>
                <a:tc>
                  <a:txBody>
                    <a:bodyPr/>
                    <a:lstStyle/>
                    <a:p>
                      <a:pPr algn="ctr" indent="0" marL="0">
                        <a:buNone/>
                      </a:pPr>
                      <a:r>
                        <a:rPr lang="en-US" sz="1500" dirty="0">
                          <a:solidFill>
                            <a:srgbClr val="3A2E31"/>
                          </a:solidFill>
                          <a:latin typeface="Calibri" pitchFamily="34" charset="0"/>
                          <a:ea typeface="Calibri" pitchFamily="34" charset="-122"/>
                          <a:cs typeface="Calibri" pitchFamily="34" charset="-120"/>
                        </a:rPr>
                        <a:t>95.23</a:t>
                      </a:r>
                      <a:endParaRPr lang="en-US" sz="1500" dirty="0">
                        <a:latin typeface="Calibri" charset="0"/>
                        <a:ea typeface="Calibri" charset="0"/>
                        <a:cs typeface="Calibri" charset="0"/>
                      </a:endParaRPr>
                    </a:p>
                  </a:txBody>
                  <a:tcPr marL="91440" marR="91440" marT="45720" marB="45720" anchor="ctr">
                    <a:lnL w="9525" cap="flat" cmpd="sng" algn="ctr">
                      <a:solidFill>
                        <a:srgbClr val="E2D6D9"/>
                      </a:solidFill>
                      <a:prstDash val="solid"/>
                      <a:round/>
                      <a:headEnd type="none" w="med" len="med"/>
                      <a:tailEnd type="none" w="med" len="med"/>
                    </a:lnL>
                    <a:lnR w="9525" cap="flat" cmpd="sng" algn="ctr">
                      <a:solidFill>
                        <a:srgbClr val="E2D6D9"/>
                      </a:solidFill>
                      <a:prstDash val="solid"/>
                      <a:round/>
                      <a:headEnd type="none" w="med" len="med"/>
                      <a:tailEnd type="none" w="med" len="med"/>
                    </a:lnR>
                    <a:lnT w="9525" cap="flat" cmpd="sng" algn="ctr">
                      <a:solidFill>
                        <a:srgbClr val="E2D6D9"/>
                      </a:solidFill>
                      <a:prstDash val="solid"/>
                      <a:round/>
                      <a:headEnd type="none" w="med" len="med"/>
                      <a:tailEnd type="none" w="med" len="med"/>
                    </a:lnT>
                    <a:lnB w="9525" cap="flat" cmpd="sng" algn="ctr">
                      <a:solidFill>
                        <a:srgbClr val="E2D6D9"/>
                      </a:solidFill>
                      <a:prstDash val="solid"/>
                      <a:round/>
                      <a:headEnd type="none" w="med" len="med"/>
                      <a:tailEnd type="none" w="med" len="med"/>
                    </a:lnB>
                    <a:solidFill>
                      <a:srgbClr val="F7EFF1"/>
                    </a:solidFill>
                  </a:tcPr>
                </a:tc>
                <a:tc>
                  <a:txBody>
                    <a:bodyPr/>
                    <a:lstStyle/>
                    <a:p>
                      <a:pPr algn="ctr" indent="0" marL="0">
                        <a:buNone/>
                      </a:pPr>
                      <a:r>
                        <a:rPr lang="en-US" sz="1500" dirty="0">
                          <a:solidFill>
                            <a:srgbClr val="3A2E31"/>
                          </a:solidFill>
                          <a:latin typeface="Calibri" pitchFamily="34" charset="0"/>
                          <a:ea typeface="Calibri" pitchFamily="34" charset="-122"/>
                          <a:cs typeface="Calibri" pitchFamily="34" charset="-120"/>
                        </a:rPr>
                        <a:t>0.03</a:t>
                      </a:r>
                      <a:endParaRPr lang="en-US" sz="1500" dirty="0">
                        <a:latin typeface="Calibri" charset="0"/>
                        <a:ea typeface="Calibri" charset="0"/>
                        <a:cs typeface="Calibri" charset="0"/>
                      </a:endParaRPr>
                    </a:p>
                  </a:txBody>
                  <a:tcPr marL="91440" marR="91440" marT="45720" marB="45720" anchor="ctr">
                    <a:lnL w="9525" cap="flat" cmpd="sng" algn="ctr">
                      <a:solidFill>
                        <a:srgbClr val="E2D6D9"/>
                      </a:solidFill>
                      <a:prstDash val="solid"/>
                      <a:round/>
                      <a:headEnd type="none" w="med" len="med"/>
                      <a:tailEnd type="none" w="med" len="med"/>
                    </a:lnL>
                    <a:lnR w="9525" cap="flat" cmpd="sng" algn="ctr">
                      <a:solidFill>
                        <a:srgbClr val="E2D6D9"/>
                      </a:solidFill>
                      <a:prstDash val="solid"/>
                      <a:round/>
                      <a:headEnd type="none" w="med" len="med"/>
                      <a:tailEnd type="none" w="med" len="med"/>
                    </a:lnR>
                    <a:lnT w="9525" cap="flat" cmpd="sng" algn="ctr">
                      <a:solidFill>
                        <a:srgbClr val="E2D6D9"/>
                      </a:solidFill>
                      <a:prstDash val="solid"/>
                      <a:round/>
                      <a:headEnd type="none" w="med" len="med"/>
                      <a:tailEnd type="none" w="med" len="med"/>
                    </a:lnT>
                    <a:lnB w="9525" cap="flat" cmpd="sng" algn="ctr">
                      <a:solidFill>
                        <a:srgbClr val="E2D6D9"/>
                      </a:solidFill>
                      <a:prstDash val="solid"/>
                      <a:round/>
                      <a:headEnd type="none" w="med" len="med"/>
                      <a:tailEnd type="none" w="med" len="med"/>
                    </a:lnB>
                    <a:solidFill>
                      <a:srgbClr val="F7EFF1"/>
                    </a:solidFill>
                  </a:tcPr>
                </a:tc>
                <a:tc>
                  <a:txBody>
                    <a:bodyPr/>
                    <a:lstStyle/>
                    <a:p>
                      <a:pPr algn="ctr" indent="0" marL="0">
                        <a:buNone/>
                      </a:pPr>
                      <a:r>
                        <a:rPr lang="en-US" sz="1500" dirty="0">
                          <a:solidFill>
                            <a:srgbClr val="3A2E31"/>
                          </a:solidFill>
                          <a:latin typeface="Calibri" pitchFamily="34" charset="0"/>
                          <a:ea typeface="Calibri" pitchFamily="34" charset="-122"/>
                          <a:cs typeface="Calibri" pitchFamily="34" charset="-120"/>
                        </a:rPr>
                        <a:t>96.12</a:t>
                      </a:r>
                      <a:endParaRPr lang="en-US" sz="1500" dirty="0">
                        <a:latin typeface="Calibri" charset="0"/>
                        <a:ea typeface="Calibri" charset="0"/>
                        <a:cs typeface="Calibri" charset="0"/>
                      </a:endParaRPr>
                    </a:p>
                  </a:txBody>
                  <a:tcPr marL="91440" marR="91440" marT="45720" marB="45720" anchor="ctr">
                    <a:lnL w="9525" cap="flat" cmpd="sng" algn="ctr">
                      <a:solidFill>
                        <a:srgbClr val="E2D6D9"/>
                      </a:solidFill>
                      <a:prstDash val="solid"/>
                      <a:round/>
                      <a:headEnd type="none" w="med" len="med"/>
                      <a:tailEnd type="none" w="med" len="med"/>
                    </a:lnL>
                    <a:lnR w="9525" cap="flat" cmpd="sng" algn="ctr">
                      <a:solidFill>
                        <a:srgbClr val="E2D6D9"/>
                      </a:solidFill>
                      <a:prstDash val="solid"/>
                      <a:round/>
                      <a:headEnd type="none" w="med" len="med"/>
                      <a:tailEnd type="none" w="med" len="med"/>
                    </a:lnR>
                    <a:lnT w="9525" cap="flat" cmpd="sng" algn="ctr">
                      <a:solidFill>
                        <a:srgbClr val="E2D6D9"/>
                      </a:solidFill>
                      <a:prstDash val="solid"/>
                      <a:round/>
                      <a:headEnd type="none" w="med" len="med"/>
                      <a:tailEnd type="none" w="med" len="med"/>
                    </a:lnT>
                    <a:lnB w="9525" cap="flat" cmpd="sng" algn="ctr">
                      <a:solidFill>
                        <a:srgbClr val="E2D6D9"/>
                      </a:solidFill>
                      <a:prstDash val="solid"/>
                      <a:round/>
                      <a:headEnd type="none" w="med" len="med"/>
                      <a:tailEnd type="none" w="med" len="med"/>
                    </a:lnB>
                    <a:solidFill>
                      <a:srgbClr val="F7EFF1"/>
                    </a:solidFill>
                  </a:tcPr>
                </a:tc>
                <a:tc>
                  <a:txBody>
                    <a:bodyPr/>
                    <a:lstStyle/>
                    <a:p>
                      <a:pPr algn="ctr" indent="0" marL="0">
                        <a:buNone/>
                      </a:pPr>
                      <a:r>
                        <a:rPr lang="en-US" sz="1500" dirty="0">
                          <a:solidFill>
                            <a:srgbClr val="3A2E31"/>
                          </a:solidFill>
                          <a:latin typeface="Calibri" pitchFamily="34" charset="0"/>
                          <a:ea typeface="Calibri" pitchFamily="34" charset="-122"/>
                          <a:cs typeface="Calibri" pitchFamily="34" charset="-120"/>
                        </a:rPr>
                        <a:t>96.16</a:t>
                      </a:r>
                      <a:endParaRPr lang="en-US" sz="1500" dirty="0">
                        <a:latin typeface="Calibri" charset="0"/>
                        <a:ea typeface="Calibri" charset="0"/>
                        <a:cs typeface="Calibri" charset="0"/>
                      </a:endParaRPr>
                    </a:p>
                  </a:txBody>
                  <a:tcPr marL="91440" marR="91440" marT="45720" marB="45720" anchor="ctr">
                    <a:lnL w="9525" cap="flat" cmpd="sng" algn="ctr">
                      <a:solidFill>
                        <a:srgbClr val="E2D6D9"/>
                      </a:solidFill>
                      <a:prstDash val="solid"/>
                      <a:round/>
                      <a:headEnd type="none" w="med" len="med"/>
                      <a:tailEnd type="none" w="med" len="med"/>
                    </a:lnL>
                    <a:lnR w="9525" cap="flat" cmpd="sng" algn="ctr">
                      <a:solidFill>
                        <a:srgbClr val="E2D6D9"/>
                      </a:solidFill>
                      <a:prstDash val="solid"/>
                      <a:round/>
                      <a:headEnd type="none" w="med" len="med"/>
                      <a:tailEnd type="none" w="med" len="med"/>
                    </a:lnR>
                    <a:lnT w="9525" cap="flat" cmpd="sng" algn="ctr">
                      <a:solidFill>
                        <a:srgbClr val="E2D6D9"/>
                      </a:solidFill>
                      <a:prstDash val="solid"/>
                      <a:round/>
                      <a:headEnd type="none" w="med" len="med"/>
                      <a:tailEnd type="none" w="med" len="med"/>
                    </a:lnT>
                    <a:lnB w="9525" cap="flat" cmpd="sng" algn="ctr">
                      <a:solidFill>
                        <a:srgbClr val="E2D6D9"/>
                      </a:solidFill>
                      <a:prstDash val="solid"/>
                      <a:round/>
                      <a:headEnd type="none" w="med" len="med"/>
                      <a:tailEnd type="none" w="med" len="med"/>
                    </a:lnB>
                    <a:solidFill>
                      <a:srgbClr val="F7EFF1"/>
                    </a:solidFill>
                  </a:tcPr>
                </a:tc>
                <a:tc>
                  <a:txBody>
                    <a:bodyPr/>
                    <a:lstStyle/>
                    <a:p>
                      <a:pPr algn="ctr" indent="0" marL="0">
                        <a:buNone/>
                      </a:pPr>
                      <a:r>
                        <a:rPr lang="en-US" sz="1500" dirty="0">
                          <a:solidFill>
                            <a:srgbClr val="3A2E31"/>
                          </a:solidFill>
                          <a:latin typeface="Calibri" pitchFamily="34" charset="0"/>
                          <a:ea typeface="Calibri" pitchFamily="34" charset="-122"/>
                          <a:cs typeface="Calibri" pitchFamily="34" charset="-120"/>
                        </a:rPr>
                        <a:t>0.28</a:t>
                      </a:r>
                      <a:endParaRPr lang="en-US" sz="1500" dirty="0">
                        <a:latin typeface="Calibri" charset="0"/>
                        <a:ea typeface="Calibri" charset="0"/>
                        <a:cs typeface="Calibri" charset="0"/>
                      </a:endParaRPr>
                    </a:p>
                  </a:txBody>
                  <a:tcPr marL="91440" marR="91440" marT="45720" marB="45720" anchor="ctr">
                    <a:lnL w="9525" cap="flat" cmpd="sng" algn="ctr">
                      <a:solidFill>
                        <a:srgbClr val="E2D6D9"/>
                      </a:solidFill>
                      <a:prstDash val="solid"/>
                      <a:round/>
                      <a:headEnd type="none" w="med" len="med"/>
                      <a:tailEnd type="none" w="med" len="med"/>
                    </a:lnL>
                    <a:lnR w="9525" cap="flat" cmpd="sng" algn="ctr">
                      <a:solidFill>
                        <a:srgbClr val="E2D6D9"/>
                      </a:solidFill>
                      <a:prstDash val="solid"/>
                      <a:round/>
                      <a:headEnd type="none" w="med" len="med"/>
                      <a:tailEnd type="none" w="med" len="med"/>
                    </a:lnR>
                    <a:lnT w="9525" cap="flat" cmpd="sng" algn="ctr">
                      <a:solidFill>
                        <a:srgbClr val="E2D6D9"/>
                      </a:solidFill>
                      <a:prstDash val="solid"/>
                      <a:round/>
                      <a:headEnd type="none" w="med" len="med"/>
                      <a:tailEnd type="none" w="med" len="med"/>
                    </a:lnT>
                    <a:lnB w="9525" cap="flat" cmpd="sng" algn="ctr">
                      <a:solidFill>
                        <a:srgbClr val="E2D6D9"/>
                      </a:solidFill>
                      <a:prstDash val="solid"/>
                      <a:round/>
                      <a:headEnd type="none" w="med" len="med"/>
                      <a:tailEnd type="none" w="med" len="med"/>
                    </a:lnB>
                    <a:solidFill>
                      <a:srgbClr val="F7EFF1"/>
                    </a:solidFill>
                  </a:tcPr>
                </a:tc>
              </a:tr>
            </a:tbl>
          </a:graphicData>
        </a:graphic>
      </p:graphicFrame>
      <p:sp>
        <p:nvSpPr>
          <p:cNvPr id="6" name="mcnemar worked"/>
          <p:cNvSpPr/>
          <p:nvPr/>
        </p:nvSpPr>
        <p:spPr>
          <a:xfrm>
            <a:off x="548640" y="4069080"/>
            <a:ext cx="11064240" cy="2011680"/>
          </a:xfrm>
          <a:prstGeom prst="roundRect">
            <a:avLst>
              <a:gd name="adj" fmla="val 3636"/>
            </a:avLst>
          </a:prstGeom>
          <a:solidFill>
            <a:schemeClr val="accent4"/>
          </a:solidFill>
          <a:ln/>
          <a:effectLst>
            <a:outerShdw sx="100000" sy="100000" kx="0" ky="0" algn="bl" rotWithShape="0" blurRad="76200" dist="25400" dir="5400000">
              <a:srgbClr val="9C8189">
                <a:alpha val="16000"/>
              </a:srgbClr>
            </a:outerShdw>
          </a:effectLst>
        </p:spPr>
      </p:sp>
      <p:sp>
        <p:nvSpPr>
          <p:cNvPr id="7" name="Text 4"/>
          <p:cNvSpPr txBox="1"/>
          <p:nvPr/>
        </p:nvSpPr>
        <p:spPr>
          <a:xfrm>
            <a:off x="822960" y="4069080"/>
            <a:ext cx="10515600" cy="2011680"/>
          </a:xfrm>
          <a:prstGeom prst="rect">
            <a:avLst/>
          </a:prstGeom>
          <a:noFill/>
          <a:ln/>
        </p:spPr>
        <p:txBody>
          <a:bodyPr wrap="square" lIns="0" tIns="0" rIns="0" bIns="0" rtlCol="0" anchor="ctr"/>
          <a:lstStyle/>
          <a:p>
            <a:pPr indent="0" marL="0">
              <a:spcAft>
                <a:spcPts val="600"/>
              </a:spcAft>
              <a:buNone/>
            </a:pPr>
            <a:r>
              <a:rPr lang="en-US" sz="1600" b="1" dirty="0">
                <a:solidFill>
                  <a:schemeClr val="accent3"/>
                </a:solidFill>
              </a:rPr>
              <a:t>The test, worked through (RoBERTa-base, 10% sent)</a:t>
            </a:r>
            <a:endParaRPr lang="en-US" sz="1600" dirty="0"/>
          </a:p>
          <a:p>
            <a:pPr indent="0" marL="0">
              <a:spcAft>
                <a:spcPts val="600"/>
              </a:spcAft>
              <a:buNone/>
            </a:pPr>
            <a:r>
              <a:rPr lang="en-US" sz="1600" dirty="0">
                <a:solidFill>
                  <a:schemeClr val="tx1"/>
                </a:solidFill>
              </a:rPr>
              <a:t>68 reviews are right only with learned deferral, 44 only with confidence routing. If the routers were equal these would split 50/50; seeing 44 or fewer of 112 has two-sided probability p = 0.029. That is above the corrected level of 0.0033, so it is not significant, and part of the gap comes from sending 10.7% instead of 10.5%.</a:t>
            </a:r>
            <a:endParaRPr lang="en-US" sz="1600" dirty="0"/>
          </a:p>
        </p:txBody>
      </p:sp>
      <p:sp>
        <p:nvSpPr>
          <p:cNvPr id="25" name="Slide Number Placeholder 0"/>
          <p:cNvSpPr>
            <a:spLocks noGrp="1"/>
          </p:cNvSpPr>
          <p:nvPr>
            <p:ph type="sldNum" sz="quarter" idx="4294967295"/>
          </p:nvPr>
        </p:nvSpPr>
        <p:spPr>
          <a:xfrm>
            <a:off x="11274552" y="347472"/>
            <a:ext cx="384048" cy="384048"/>
          </a:xfrm>
          <a:prstGeom prst="rect">
            <a:avLst/>
          </a:prstGeom>
          <a:extLst>
            <a:ext uri="{C572A759-6A51-4108-AA02-DFA0A04FC94B}">
              <ma14:wrappingTextBoxFlag xmlns:ma14="http://schemas.microsoft.com/office/mac/drawingml/2011/main" val="0"/>
            </a:ext>
          </a:extLst>
        </p:spPr>
        <p:txBody>
          <a:bodyPr anchor="ctr"/>
          <a:lstStyle>
            <a:lvl1pPr>
              <a:defRPr sz="1200">
                <a:solidFill>
                  <a:srgbClr val="3A2E31"/>
                </a:solidFill>
              </a:defRPr>
            </a:lvl1pPr>
          </a:lstStyle>
          <a:p>
            <a:pPr algn="ct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1" type="body" hasCustomPrompt="1"/>
          </p:nvPr>
        </p:nvSpPr>
        <p:spPr>
          <a:xfrm>
            <a:off x="548640" y="365760"/>
            <a:ext cx="9601200" cy="292608"/>
          </a:xfrm>
          <a:prstGeom prst="rect">
            <a:avLst/>
          </a:prstGeom>
          <a:noFill/>
          <a:ln/>
        </p:spPr>
        <p:txBody>
          <a:bodyPr wrap="square" lIns="0" tIns="0" rIns="0" bIns="0" rtlCol="0"/>
          <a:lstStyle/>
          <a:p>
            <a:pPr indent="0" marL="0">
              <a:buNone/>
            </a:pPr>
            <a:r>
              <a:rPr lang="en-US" sz="1200" b="1" spc="200" kern="0" dirty="0">
                <a:solidFill>
                  <a:schemeClr val="accent6"/>
                </a:solidFill>
              </a:rPr>
              <a:t>WHY IT DOESN'T HELP  ·  EHSAN ABDULKHADER</a:t>
            </a:r>
            <a:endParaRPr lang="en-US" sz="1200" dirty="0"/>
          </a:p>
        </p:txBody>
      </p:sp>
      <p:sp>
        <p:nvSpPr>
          <p:cNvPr id="3" name="Text 0"/>
          <p:cNvSpPr/>
          <p:nvPr>
            <p:ph idx="102" type="title" hasCustomPrompt="1"/>
          </p:nvPr>
        </p:nvSpPr>
        <p:spPr>
          <a:xfrm>
            <a:off x="548640" y="676656"/>
            <a:ext cx="10424160" cy="822960"/>
          </a:xfrm>
          <a:prstGeom prst="rect">
            <a:avLst/>
          </a:prstGeom>
          <a:noFill/>
          <a:ln/>
        </p:spPr>
        <p:txBody>
          <a:bodyPr wrap="square" lIns="0" tIns="0" rIns="0" bIns="0" rtlCol="0" anchor="t"/>
          <a:lstStyle/>
          <a:p>
            <a:pPr algn="l" indent="0" marL="0">
              <a:buNone/>
            </a:pPr>
            <a:r>
              <a:rPr lang="en-US" sz="3000" b="1" dirty="0">
                <a:solidFill>
                  <a:schemeClr val="tx2"/>
                </a:solidFill>
              </a:rPr>
              <a:t>A stronger hub rarely breaks a correct answer, so there is little to avoid</a:t>
            </a:r>
            <a:endParaRPr lang="en-US" sz="3000" dirty="0"/>
          </a:p>
        </p:txBody>
      </p:sp>
      <p:sp>
        <p:nvSpPr>
          <p:cNvPr id="4" name="Text 0"/>
          <p:cNvSpPr/>
          <p:nvPr>
            <p:ph idx="103" type="body" hasCustomPrompt="1"/>
          </p:nvPr>
        </p:nvSpPr>
        <p:spPr>
          <a:xfrm>
            <a:off x="548640" y="6355080"/>
            <a:ext cx="10515600" cy="310896"/>
          </a:xfrm>
          <a:prstGeom prst="rect">
            <a:avLst/>
          </a:prstGeom>
          <a:noFill/>
          <a:ln/>
        </p:spPr>
        <p:txBody>
          <a:bodyPr wrap="square" lIns="0" tIns="0" rIns="0" bIns="0" rtlCol="0"/>
          <a:lstStyle/>
          <a:p>
            <a:pPr indent="0" marL="0">
              <a:buNone/>
            </a:pPr>
            <a:r>
              <a:rPr lang="en-US" sz="1100" i="1" dirty="0">
                <a:solidFill>
                  <a:schemeClr val="accent6"/>
                </a:solidFill>
              </a:rPr>
              <a:t>Shares of the 300,000-review deferral slice; breakdown at 10% sent is for the RoBERTa-base hub on the test set</a:t>
            </a:r>
            <a:endParaRPr lang="en-US" sz="1100" dirty="0"/>
          </a:p>
        </p:txBody>
      </p:sp>
      <p:graphicFrame>
        <p:nvGraphicFramePr>
          <p:cNvPr id="5" name="fix break chart" descr=""/>
          <p:cNvGraphicFramePr/>
          <p:nvPr/>
        </p:nvGraphicFramePr>
        <p:xfrm>
          <a:off x="457200" y="1645920"/>
          <a:ext cx="6309360" cy="457200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7132320" y="1874520"/>
            <a:ext cx="640080" cy="640080"/>
          </a:xfrm>
          <a:prstGeom prst="ellipse">
            <a:avLst/>
          </a:prstGeom>
          <a:solidFill>
            <a:schemeClr val="accent3"/>
          </a:solidFill>
          <a:ln/>
        </p:spPr>
      </p:sp>
      <p:pic>
        <p:nvPicPr>
          <p:cNvPr id="7" name="Image 0" descr="preencoded.png">    </p:cNvPr>
          <p:cNvPicPr>
            <a:picLocks noChangeAspect="1"/>
          </p:cNvPicPr>
          <p:nvPr/>
        </p:nvPicPr>
        <p:blipFill>
          <a:blip r:embed="rId2"/>
          <a:stretch>
            <a:fillRect/>
          </a:stretch>
        </p:blipFill>
        <p:spPr>
          <a:xfrm>
            <a:off x="7292340" y="2034540"/>
            <a:ext cx="320040" cy="320040"/>
          </a:xfrm>
          <a:prstGeom prst="rect">
            <a:avLst/>
          </a:prstGeom>
        </p:spPr>
      </p:pic>
      <p:sp>
        <p:nvSpPr>
          <p:cNvPr id="8" name="Text 4"/>
          <p:cNvSpPr txBox="1"/>
          <p:nvPr/>
        </p:nvSpPr>
        <p:spPr>
          <a:xfrm>
            <a:off x="7955280" y="1783080"/>
            <a:ext cx="3657600" cy="457200"/>
          </a:xfrm>
          <a:prstGeom prst="rect">
            <a:avLst/>
          </a:prstGeom>
          <a:noFill/>
          <a:ln/>
        </p:spPr>
        <p:txBody>
          <a:bodyPr wrap="square" lIns="0" tIns="0" rIns="0" bIns="0" rtlCol="0" anchor="ctr"/>
          <a:lstStyle/>
          <a:p>
            <a:pPr indent="0" marL="0">
              <a:buNone/>
            </a:pPr>
            <a:r>
              <a:rPr lang="en-US" sz="2200" b="1" dirty="0">
                <a:solidFill>
                  <a:schemeClr val="accent3"/>
                </a:solidFill>
                <a:latin typeface="Cambria" pitchFamily="34" charset="0"/>
                <a:ea typeface="Cambria" pitchFamily="34" charset="-122"/>
                <a:cs typeface="Cambria" pitchFamily="34" charset="-120"/>
              </a:rPr>
              <a:t>58% already right</a:t>
            </a:r>
            <a:endParaRPr lang="en-US" sz="2200" dirty="0"/>
          </a:p>
        </p:txBody>
      </p:sp>
      <p:sp>
        <p:nvSpPr>
          <p:cNvPr id="9" name="Text 5"/>
          <p:cNvSpPr txBox="1"/>
          <p:nvPr/>
        </p:nvSpPr>
        <p:spPr>
          <a:xfrm>
            <a:off x="7955280" y="2240280"/>
            <a:ext cx="3657600" cy="777240"/>
          </a:xfrm>
          <a:prstGeom prst="rect">
            <a:avLst/>
          </a:prstGeom>
          <a:noFill/>
          <a:ln/>
        </p:spPr>
        <p:txBody>
          <a:bodyPr wrap="square" lIns="0" tIns="0" rIns="0" bIns="0" rtlCol="0" anchor="t"/>
          <a:lstStyle/>
          <a:p>
            <a:pPr indent="0" marL="0">
              <a:buNone/>
            </a:pPr>
            <a:r>
              <a:rPr lang="en-US" sz="1500" dirty="0">
                <a:solidFill>
                  <a:schemeClr val="tx1"/>
                </a:solidFill>
              </a:rPr>
              <a:t>of what either router sends at 10%; learned deferral doesn't lower it</a:t>
            </a:r>
            <a:endParaRPr lang="en-US" sz="1500" dirty="0"/>
          </a:p>
        </p:txBody>
      </p:sp>
      <p:sp>
        <p:nvSpPr>
          <p:cNvPr id="10" name="Shape 6"/>
          <p:cNvSpPr/>
          <p:nvPr/>
        </p:nvSpPr>
        <p:spPr>
          <a:xfrm>
            <a:off x="7132320" y="3337560"/>
            <a:ext cx="640080" cy="640080"/>
          </a:xfrm>
          <a:prstGeom prst="ellipse">
            <a:avLst/>
          </a:prstGeom>
          <a:solidFill>
            <a:schemeClr val="accent2"/>
          </a:solidFill>
          <a:ln/>
        </p:spPr>
      </p:sp>
      <p:pic>
        <p:nvPicPr>
          <p:cNvPr id="11" name="Image 1" descr="preencoded.png">    </p:cNvPr>
          <p:cNvPicPr>
            <a:picLocks noChangeAspect="1"/>
          </p:cNvPicPr>
          <p:nvPr/>
        </p:nvPicPr>
        <p:blipFill>
          <a:blip r:embed="rId3"/>
          <a:stretch>
            <a:fillRect/>
          </a:stretch>
        </p:blipFill>
        <p:spPr>
          <a:xfrm>
            <a:off x="7292340" y="3497580"/>
            <a:ext cx="320040" cy="320040"/>
          </a:xfrm>
          <a:prstGeom prst="rect">
            <a:avLst/>
          </a:prstGeom>
        </p:spPr>
      </p:pic>
      <p:sp>
        <p:nvSpPr>
          <p:cNvPr id="12" name="Text 7"/>
          <p:cNvSpPr txBox="1"/>
          <p:nvPr/>
        </p:nvSpPr>
        <p:spPr>
          <a:xfrm>
            <a:off x="7955280" y="3246120"/>
            <a:ext cx="3657600" cy="457200"/>
          </a:xfrm>
          <a:prstGeom prst="rect">
            <a:avLst/>
          </a:prstGeom>
          <a:noFill/>
          <a:ln/>
        </p:spPr>
        <p:txBody>
          <a:bodyPr wrap="square" lIns="0" tIns="0" rIns="0" bIns="0" rtlCol="0" anchor="ctr"/>
          <a:lstStyle/>
          <a:p>
            <a:pPr indent="0" marL="0">
              <a:buNone/>
            </a:pPr>
            <a:r>
              <a:rPr lang="en-US" sz="2200" b="1" dirty="0">
                <a:solidFill>
                  <a:schemeClr val="accent2"/>
                </a:solidFill>
                <a:latin typeface="Cambria" pitchFamily="34" charset="0"/>
                <a:ea typeface="Cambria" pitchFamily="34" charset="-122"/>
                <a:cs typeface="Cambria" pitchFamily="34" charset="-120"/>
              </a:rPr>
              <a:t>4.8% would break</a:t>
            </a:r>
            <a:endParaRPr lang="en-US" sz="2200" dirty="0"/>
          </a:p>
        </p:txBody>
      </p:sp>
      <p:sp>
        <p:nvSpPr>
          <p:cNvPr id="13" name="Text 8"/>
          <p:cNvSpPr txBox="1"/>
          <p:nvPr/>
        </p:nvSpPr>
        <p:spPr>
          <a:xfrm>
            <a:off x="7955280" y="3703320"/>
            <a:ext cx="3657600" cy="777240"/>
          </a:xfrm>
          <a:prstGeom prst="rect">
            <a:avLst/>
          </a:prstGeom>
          <a:noFill/>
          <a:ln/>
        </p:spPr>
        <p:txBody>
          <a:bodyPr wrap="square" lIns="0" tIns="0" rIns="0" bIns="0" rtlCol="0" anchor="t"/>
          <a:lstStyle/>
          <a:p>
            <a:pPr indent="0" marL="0">
              <a:buNone/>
            </a:pPr>
            <a:r>
              <a:rPr lang="en-US" sz="1500" dirty="0">
                <a:solidFill>
                  <a:schemeClr val="tx1"/>
                </a:solidFill>
              </a:rPr>
              <a:t>so avoiding breaks, the easy win, is almost gone</a:t>
            </a:r>
            <a:endParaRPr lang="en-US" sz="1500" dirty="0"/>
          </a:p>
        </p:txBody>
      </p:sp>
      <p:sp>
        <p:nvSpPr>
          <p:cNvPr id="14" name="Shape 9"/>
          <p:cNvSpPr/>
          <p:nvPr/>
        </p:nvSpPr>
        <p:spPr>
          <a:xfrm>
            <a:off x="7132320" y="4800600"/>
            <a:ext cx="640080" cy="640080"/>
          </a:xfrm>
          <a:prstGeom prst="ellipse">
            <a:avLst/>
          </a:prstGeom>
          <a:solidFill>
            <a:schemeClr val="accent1"/>
          </a:solidFill>
          <a:ln/>
        </p:spPr>
      </p:sp>
      <p:pic>
        <p:nvPicPr>
          <p:cNvPr id="15" name="Image 2" descr="preencoded.png">    </p:cNvPr>
          <p:cNvPicPr>
            <a:picLocks noChangeAspect="1"/>
          </p:cNvPicPr>
          <p:nvPr/>
        </p:nvPicPr>
        <p:blipFill>
          <a:blip r:embed="rId4"/>
          <a:stretch>
            <a:fillRect/>
          </a:stretch>
        </p:blipFill>
        <p:spPr>
          <a:xfrm>
            <a:off x="7292340" y="4960620"/>
            <a:ext cx="320040" cy="320040"/>
          </a:xfrm>
          <a:prstGeom prst="rect">
            <a:avLst/>
          </a:prstGeom>
        </p:spPr>
      </p:pic>
      <p:sp>
        <p:nvSpPr>
          <p:cNvPr id="16" name="Text 10"/>
          <p:cNvSpPr txBox="1"/>
          <p:nvPr/>
        </p:nvSpPr>
        <p:spPr>
          <a:xfrm>
            <a:off x="7955280" y="4709160"/>
            <a:ext cx="3657600" cy="457200"/>
          </a:xfrm>
          <a:prstGeom prst="rect">
            <a:avLst/>
          </a:prstGeom>
          <a:noFill/>
          <a:ln/>
        </p:spPr>
        <p:txBody>
          <a:bodyPr wrap="square" lIns="0" tIns="0" rIns="0" bIns="0" rtlCol="0" anchor="ctr"/>
          <a:lstStyle/>
          <a:p>
            <a:pPr indent="0" marL="0">
              <a:buNone/>
            </a:pPr>
            <a:r>
              <a:rPr lang="en-US" sz="2200" b="1" dirty="0">
                <a:solidFill>
                  <a:schemeClr val="accent1"/>
                </a:solidFill>
                <a:latin typeface="Cambria" pitchFamily="34" charset="0"/>
                <a:ea typeface="Cambria" pitchFamily="34" charset="-122"/>
                <a:cs typeface="Cambria" pitchFamily="34" charset="-120"/>
              </a:rPr>
              <a:t>97.3% possible</a:t>
            </a:r>
            <a:endParaRPr lang="en-US" sz="2200" dirty="0"/>
          </a:p>
        </p:txBody>
      </p:sp>
      <p:sp>
        <p:nvSpPr>
          <p:cNvPr id="17" name="Text 11"/>
          <p:cNvSpPr txBox="1"/>
          <p:nvPr/>
        </p:nvSpPr>
        <p:spPr>
          <a:xfrm>
            <a:off x="7955280" y="5166360"/>
            <a:ext cx="3657600" cy="777240"/>
          </a:xfrm>
          <a:prstGeom prst="rect">
            <a:avLst/>
          </a:prstGeom>
          <a:noFill/>
          <a:ln/>
        </p:spPr>
        <p:txBody>
          <a:bodyPr wrap="square" lIns="0" tIns="0" rIns="0" bIns="0" rtlCol="0" anchor="t"/>
          <a:lstStyle/>
          <a:p>
            <a:pPr indent="0" marL="0">
              <a:buNone/>
            </a:pPr>
            <a:r>
              <a:rPr lang="en-US" sz="1500" dirty="0">
                <a:solidFill>
                  <a:schemeClr val="tx1"/>
                </a:solidFill>
              </a:rPr>
              <a:t>a perfect router at 5% sent: 128 KB of word buckets can't find which reviews the hub fixes</a:t>
            </a:r>
            <a:endParaRPr lang="en-US" sz="1500" dirty="0"/>
          </a:p>
        </p:txBody>
      </p:sp>
      <p:sp>
        <p:nvSpPr>
          <p:cNvPr id="25" name="Slide Number Placeholder 0"/>
          <p:cNvSpPr>
            <a:spLocks noGrp="1"/>
          </p:cNvSpPr>
          <p:nvPr>
            <p:ph type="sldNum" sz="quarter" idx="4294967295"/>
          </p:nvPr>
        </p:nvSpPr>
        <p:spPr>
          <a:xfrm>
            <a:off x="11274552" y="347472"/>
            <a:ext cx="384048" cy="384048"/>
          </a:xfrm>
          <a:prstGeom prst="rect">
            <a:avLst/>
          </a:prstGeom>
          <a:extLst>
            <a:ext uri="{C572A759-6A51-4108-AA02-DFA0A04FC94B}">
              <ma14:wrappingTextBoxFlag xmlns:ma14="http://schemas.microsoft.com/office/mac/drawingml/2011/main" val="0"/>
            </a:ext>
          </a:extLst>
        </p:spPr>
        <p:txBody>
          <a:bodyPr anchor="ctr"/>
          <a:lstStyle>
            <a:lvl1pPr>
              <a:defRPr sz="1200">
                <a:solidFill>
                  <a:srgbClr val="3A2E31"/>
                </a:solidFill>
              </a:defRPr>
            </a:lvl1pPr>
          </a:lstStyle>
          <a:p>
            <a:pPr algn="ct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1" type="body" hasCustomPrompt="1"/>
          </p:nvPr>
        </p:nvSpPr>
        <p:spPr>
          <a:xfrm>
            <a:off x="548640" y="365760"/>
            <a:ext cx="9601200" cy="292608"/>
          </a:xfrm>
          <a:prstGeom prst="rect">
            <a:avLst/>
          </a:prstGeom>
          <a:noFill/>
          <a:ln/>
        </p:spPr>
        <p:txBody>
          <a:bodyPr wrap="square" lIns="0" tIns="0" rIns="0" bIns="0" rtlCol="0"/>
          <a:lstStyle/>
          <a:p>
            <a:pPr indent="0" marL="0">
              <a:buNone/>
            </a:pPr>
            <a:r>
              <a:rPr lang="en-US" sz="1200" b="1" spc="200" kern="0" dirty="0">
                <a:solidFill>
                  <a:schemeClr val="accent6"/>
                </a:solidFill>
              </a:rPr>
              <a:t>THE ENERGY MODEL  ·  EHSAN ABDULKHADER</a:t>
            </a:r>
            <a:endParaRPr lang="en-US" sz="1200" dirty="0"/>
          </a:p>
        </p:txBody>
      </p:sp>
      <p:sp>
        <p:nvSpPr>
          <p:cNvPr id="3" name="Text 0"/>
          <p:cNvSpPr/>
          <p:nvPr>
            <p:ph idx="102" type="title" hasCustomPrompt="1"/>
          </p:nvPr>
        </p:nvSpPr>
        <p:spPr>
          <a:xfrm>
            <a:off x="548640" y="676656"/>
            <a:ext cx="10424160" cy="822960"/>
          </a:xfrm>
          <a:prstGeom prst="rect">
            <a:avLst/>
          </a:prstGeom>
          <a:noFill/>
          <a:ln/>
        </p:spPr>
        <p:txBody>
          <a:bodyPr wrap="square" lIns="0" tIns="0" rIns="0" bIns="0" rtlCol="0" anchor="t"/>
          <a:lstStyle/>
          <a:p>
            <a:pPr algn="l" indent="0" marL="0">
              <a:buNone/>
            </a:pPr>
            <a:r>
              <a:rPr lang="en-US" sz="3000" b="1" dirty="0">
                <a:solidFill>
                  <a:schemeClr val="tx2"/>
                </a:solidFill>
              </a:rPr>
              <a:t>Every send costs the device about 300 mJ; answering locally costs under 1 mJ</a:t>
            </a:r>
            <a:endParaRPr lang="en-US" sz="3000" dirty="0"/>
          </a:p>
        </p:txBody>
      </p:sp>
      <p:sp>
        <p:nvSpPr>
          <p:cNvPr id="4" name="Text 0"/>
          <p:cNvSpPr/>
          <p:nvPr>
            <p:ph idx="103" type="body" hasCustomPrompt="1"/>
          </p:nvPr>
        </p:nvSpPr>
        <p:spPr>
          <a:xfrm>
            <a:off x="548640" y="6355080"/>
            <a:ext cx="10515600" cy="310896"/>
          </a:xfrm>
          <a:prstGeom prst="rect">
            <a:avLst/>
          </a:prstGeom>
          <a:noFill/>
          <a:ln/>
        </p:spPr>
        <p:txBody>
          <a:bodyPr wrap="square" lIns="0" tIns="0" rIns="0" bIns="0" rtlCol="0"/>
          <a:lstStyle/>
          <a:p>
            <a:pPr indent="0" marL="0">
              <a:buNone/>
            </a:pPr>
            <a:r>
              <a:rPr lang="en-US" sz="1100" i="1" dirty="0">
                <a:solidFill>
                  <a:schemeClr val="accent6"/>
                </a:solidFill>
              </a:rPr>
              <a:t>Currents: ESP32-S3 datasheet v2.2 (240 MHz one core; 802.11n MCS7 at 18.5 dBm; RX). Timings are placeholders until measured.</a:t>
            </a:r>
            <a:endParaRPr lang="en-US" sz="1100" dirty="0"/>
          </a:p>
        </p:txBody>
      </p:sp>
      <p:sp>
        <p:nvSpPr>
          <p:cNvPr id="5" name="formula"/>
          <p:cNvSpPr/>
          <p:nvPr/>
        </p:nvSpPr>
        <p:spPr>
          <a:xfrm>
            <a:off x="548640" y="1783080"/>
            <a:ext cx="11064240" cy="1097280"/>
          </a:xfrm>
          <a:prstGeom prst="roundRect">
            <a:avLst>
              <a:gd name="adj" fmla="val 6667"/>
            </a:avLst>
          </a:prstGeom>
          <a:solidFill>
            <a:schemeClr val="accent4"/>
          </a:solidFill>
          <a:ln/>
          <a:effectLst>
            <a:outerShdw sx="100000" sy="100000" kx="0" ky="0" algn="bl" rotWithShape="0" blurRad="76200" dist="25400" dir="5400000">
              <a:srgbClr val="9C8189">
                <a:alpha val="16000"/>
              </a:srgbClr>
            </a:outerShdw>
          </a:effectLst>
        </p:spPr>
      </p:sp>
      <p:sp>
        <p:nvSpPr>
          <p:cNvPr id="6" name="Text 4"/>
          <p:cNvSpPr txBox="1"/>
          <p:nvPr/>
        </p:nvSpPr>
        <p:spPr>
          <a:xfrm>
            <a:off x="822960" y="1783080"/>
            <a:ext cx="10515600" cy="1097280"/>
          </a:xfrm>
          <a:prstGeom prst="rect">
            <a:avLst/>
          </a:prstGeom>
          <a:noFill/>
          <a:ln/>
        </p:spPr>
        <p:txBody>
          <a:bodyPr wrap="square" lIns="0" tIns="0" rIns="0" bIns="0" rtlCol="0" anchor="ctr"/>
          <a:lstStyle/>
          <a:p>
            <a:pPr algn="ctr" indent="0" marL="0">
              <a:buNone/>
            </a:pPr>
            <a:r>
              <a:rPr lang="en-US" sz="2600" b="1" dirty="0">
                <a:solidFill>
                  <a:schemeClr val="accent3"/>
                </a:solidFill>
                <a:latin typeface="Cambria" pitchFamily="34" charset="0"/>
                <a:ea typeface="Cambria" pitchFamily="34" charset="-122"/>
                <a:cs typeface="Cambria" pitchFamily="34" charset="-120"/>
              </a:rPr>
              <a:t>E(s) = V × [ I_cpu × t_local  +  s × ( I_tx × t_tx  +  I_rx × t_wait ) ]</a:t>
            </a:r>
            <a:endParaRPr lang="en-US" sz="2600" dirty="0"/>
          </a:p>
        </p:txBody>
      </p:sp>
      <p:sp>
        <p:nvSpPr>
          <p:cNvPr id="7" name="Answer on the device"/>
          <p:cNvSpPr/>
          <p:nvPr/>
        </p:nvSpPr>
        <p:spPr>
          <a:xfrm>
            <a:off x="548640" y="3154680"/>
            <a:ext cx="3474720" cy="2926080"/>
          </a:xfrm>
          <a:prstGeom prst="roundRect">
            <a:avLst>
              <a:gd name="adj" fmla="val 2500"/>
            </a:avLst>
          </a:prstGeom>
          <a:solidFill>
            <a:schemeClr val="bg2"/>
          </a:solidFill>
          <a:ln/>
          <a:effectLst>
            <a:outerShdw sx="100000" sy="100000" kx="0" ky="0" algn="bl" rotWithShape="0" blurRad="76200" dist="25400" dir="5400000">
              <a:srgbClr val="9C8189">
                <a:alpha val="16000"/>
              </a:srgbClr>
            </a:outerShdw>
          </a:effectLst>
        </p:spPr>
      </p:sp>
      <p:sp>
        <p:nvSpPr>
          <p:cNvPr id="8" name="Text 6"/>
          <p:cNvSpPr txBox="1"/>
          <p:nvPr/>
        </p:nvSpPr>
        <p:spPr>
          <a:xfrm>
            <a:off x="822960" y="3383280"/>
            <a:ext cx="2926080" cy="411480"/>
          </a:xfrm>
          <a:prstGeom prst="rect">
            <a:avLst/>
          </a:prstGeom>
          <a:noFill/>
          <a:ln/>
        </p:spPr>
        <p:txBody>
          <a:bodyPr wrap="square" lIns="0" tIns="0" rIns="0" bIns="0" rtlCol="0" anchor="ctr"/>
          <a:lstStyle/>
          <a:p>
            <a:pPr indent="0" marL="0">
              <a:buNone/>
            </a:pPr>
            <a:r>
              <a:rPr lang="en-US" sz="1800" b="1" dirty="0">
                <a:solidFill>
                  <a:schemeClr val="tx2"/>
                </a:solidFill>
              </a:rPr>
              <a:t>Answer on the device</a:t>
            </a:r>
            <a:endParaRPr lang="en-US" sz="1800" dirty="0"/>
          </a:p>
        </p:txBody>
      </p:sp>
      <p:sp>
        <p:nvSpPr>
          <p:cNvPr id="9" name="Text 7"/>
          <p:cNvSpPr txBox="1"/>
          <p:nvPr/>
        </p:nvSpPr>
        <p:spPr>
          <a:xfrm>
            <a:off x="822960" y="3886200"/>
            <a:ext cx="2926080" cy="777240"/>
          </a:xfrm>
          <a:prstGeom prst="rect">
            <a:avLst/>
          </a:prstGeom>
          <a:noFill/>
          <a:ln/>
        </p:spPr>
        <p:txBody>
          <a:bodyPr wrap="square" lIns="0" tIns="0" rIns="0" bIns="0" rtlCol="0" anchor="t"/>
          <a:lstStyle/>
          <a:p>
            <a:pPr indent="0" marL="0">
              <a:buNone/>
            </a:pPr>
            <a:r>
              <a:rPr lang="en-US" sz="1500" dirty="0">
                <a:solidFill>
                  <a:schemeClr val="tx1"/>
                </a:solidFill>
              </a:rPr>
              <a:t>3.3 V × 51.2 mA × 5 ms</a:t>
            </a:r>
            <a:endParaRPr lang="en-US" sz="1500" dirty="0"/>
          </a:p>
        </p:txBody>
      </p:sp>
      <p:sp>
        <p:nvSpPr>
          <p:cNvPr id="10" name="Text 8"/>
          <p:cNvSpPr txBox="1"/>
          <p:nvPr/>
        </p:nvSpPr>
        <p:spPr>
          <a:xfrm>
            <a:off x="822960" y="4846320"/>
            <a:ext cx="2926080" cy="822960"/>
          </a:xfrm>
          <a:prstGeom prst="rect">
            <a:avLst/>
          </a:prstGeom>
          <a:noFill/>
          <a:ln/>
        </p:spPr>
        <p:txBody>
          <a:bodyPr wrap="square" lIns="0" tIns="0" rIns="0" bIns="0" rtlCol="0" anchor="ctr"/>
          <a:lstStyle/>
          <a:p>
            <a:pPr indent="0" marL="0">
              <a:buNone/>
            </a:pPr>
            <a:r>
              <a:rPr lang="en-US" sz="3400" b="1" dirty="0">
                <a:solidFill>
                  <a:schemeClr val="accent3"/>
                </a:solidFill>
                <a:latin typeface="Cambria" pitchFamily="34" charset="0"/>
                <a:ea typeface="Cambria" pitchFamily="34" charset="-122"/>
                <a:cs typeface="Cambria" pitchFamily="34" charset="-120"/>
              </a:rPr>
              <a:t>0.84 mJ</a:t>
            </a:r>
            <a:endParaRPr lang="en-US" sz="3400" dirty="0"/>
          </a:p>
        </p:txBody>
      </p:sp>
      <p:sp>
        <p:nvSpPr>
          <p:cNvPr id="11" name="Each send to the hub"/>
          <p:cNvSpPr/>
          <p:nvPr/>
        </p:nvSpPr>
        <p:spPr>
          <a:xfrm>
            <a:off x="4297680" y="3154680"/>
            <a:ext cx="3474720" cy="2926080"/>
          </a:xfrm>
          <a:prstGeom prst="roundRect">
            <a:avLst>
              <a:gd name="adj" fmla="val 2500"/>
            </a:avLst>
          </a:prstGeom>
          <a:solidFill>
            <a:schemeClr val="bg2"/>
          </a:solidFill>
          <a:ln/>
          <a:effectLst>
            <a:outerShdw sx="100000" sy="100000" kx="0" ky="0" algn="bl" rotWithShape="0" blurRad="76200" dist="25400" dir="5400000">
              <a:srgbClr val="9C8189">
                <a:alpha val="16000"/>
              </a:srgbClr>
            </a:outerShdw>
          </a:effectLst>
        </p:spPr>
      </p:sp>
      <p:sp>
        <p:nvSpPr>
          <p:cNvPr id="12" name="Text 10"/>
          <p:cNvSpPr txBox="1"/>
          <p:nvPr/>
        </p:nvSpPr>
        <p:spPr>
          <a:xfrm>
            <a:off x="4572000" y="3383280"/>
            <a:ext cx="2926080" cy="411480"/>
          </a:xfrm>
          <a:prstGeom prst="rect">
            <a:avLst/>
          </a:prstGeom>
          <a:noFill/>
          <a:ln/>
        </p:spPr>
        <p:txBody>
          <a:bodyPr wrap="square" lIns="0" tIns="0" rIns="0" bIns="0" rtlCol="0" anchor="ctr"/>
          <a:lstStyle/>
          <a:p>
            <a:pPr indent="0" marL="0">
              <a:buNone/>
            </a:pPr>
            <a:r>
              <a:rPr lang="en-US" sz="1800" b="1" dirty="0">
                <a:solidFill>
                  <a:schemeClr val="tx2"/>
                </a:solidFill>
              </a:rPr>
              <a:t>Each send to the hub</a:t>
            </a:r>
            <a:endParaRPr lang="en-US" sz="1800" dirty="0"/>
          </a:p>
        </p:txBody>
      </p:sp>
      <p:sp>
        <p:nvSpPr>
          <p:cNvPr id="13" name="Text 11"/>
          <p:cNvSpPr txBox="1"/>
          <p:nvPr/>
        </p:nvSpPr>
        <p:spPr>
          <a:xfrm>
            <a:off x="4572000" y="3886200"/>
            <a:ext cx="2926080" cy="777240"/>
          </a:xfrm>
          <a:prstGeom prst="rect">
            <a:avLst/>
          </a:prstGeom>
          <a:noFill/>
          <a:ln/>
        </p:spPr>
        <p:txBody>
          <a:bodyPr wrap="square" lIns="0" tIns="0" rIns="0" bIns="0" rtlCol="0" anchor="t"/>
          <a:lstStyle/>
          <a:p>
            <a:pPr indent="0" marL="0">
              <a:buNone/>
            </a:pPr>
            <a:r>
              <a:rPr lang="en-US" sz="1500" dirty="0">
                <a:solidFill>
                  <a:schemeClr val="tx1"/>
                </a:solidFill>
              </a:rPr>
              <a:t>3.3 V × (283 mA × 10 ms</a:t>
            </a:r>
            <a:endParaRPr lang="en-US" sz="1500" dirty="0"/>
          </a:p>
          <a:p>
            <a:pPr indent="0" marL="0">
              <a:buNone/>
            </a:pPr>
            <a:r>
              <a:rPr lang="en-US" sz="1500" dirty="0">
                <a:solidFill>
                  <a:schemeClr val="tx1"/>
                </a:solidFill>
              </a:rPr>
              <a:t>+ 88 mA × 1 s)</a:t>
            </a:r>
            <a:endParaRPr lang="en-US" sz="1500" dirty="0"/>
          </a:p>
        </p:txBody>
      </p:sp>
      <p:sp>
        <p:nvSpPr>
          <p:cNvPr id="14" name="Text 12"/>
          <p:cNvSpPr txBox="1"/>
          <p:nvPr/>
        </p:nvSpPr>
        <p:spPr>
          <a:xfrm>
            <a:off x="4572000" y="4846320"/>
            <a:ext cx="2926080" cy="822960"/>
          </a:xfrm>
          <a:prstGeom prst="rect">
            <a:avLst/>
          </a:prstGeom>
          <a:noFill/>
          <a:ln/>
        </p:spPr>
        <p:txBody>
          <a:bodyPr wrap="square" lIns="0" tIns="0" rIns="0" bIns="0" rtlCol="0" anchor="ctr"/>
          <a:lstStyle/>
          <a:p>
            <a:pPr indent="0" marL="0">
              <a:buNone/>
            </a:pPr>
            <a:r>
              <a:rPr lang="en-US" sz="3400" b="1" dirty="0">
                <a:solidFill>
                  <a:schemeClr val="accent2"/>
                </a:solidFill>
                <a:latin typeface="Cambria" pitchFamily="34" charset="0"/>
                <a:ea typeface="Cambria" pitchFamily="34" charset="-122"/>
                <a:cs typeface="Cambria" pitchFamily="34" charset="-120"/>
              </a:rPr>
              <a:t>299.74 mJ</a:t>
            </a:r>
            <a:endParaRPr lang="en-US" sz="3400" dirty="0"/>
          </a:p>
        </p:txBody>
      </p:sp>
      <p:sp>
        <p:nvSpPr>
          <p:cNvPr id="15" name="Send every review"/>
          <p:cNvSpPr/>
          <p:nvPr/>
        </p:nvSpPr>
        <p:spPr>
          <a:xfrm>
            <a:off x="8046720" y="3154680"/>
            <a:ext cx="3474720" cy="2926080"/>
          </a:xfrm>
          <a:prstGeom prst="roundRect">
            <a:avLst>
              <a:gd name="adj" fmla="val 2500"/>
            </a:avLst>
          </a:prstGeom>
          <a:solidFill>
            <a:schemeClr val="bg2"/>
          </a:solidFill>
          <a:ln/>
          <a:effectLst>
            <a:outerShdw sx="100000" sy="100000" kx="0" ky="0" algn="bl" rotWithShape="0" blurRad="76200" dist="25400" dir="5400000">
              <a:srgbClr val="9C8189">
                <a:alpha val="16000"/>
              </a:srgbClr>
            </a:outerShdw>
          </a:effectLst>
        </p:spPr>
      </p:sp>
      <p:sp>
        <p:nvSpPr>
          <p:cNvPr id="16" name="Text 14"/>
          <p:cNvSpPr txBox="1"/>
          <p:nvPr/>
        </p:nvSpPr>
        <p:spPr>
          <a:xfrm>
            <a:off x="8321040" y="3383280"/>
            <a:ext cx="2926080" cy="411480"/>
          </a:xfrm>
          <a:prstGeom prst="rect">
            <a:avLst/>
          </a:prstGeom>
          <a:noFill/>
          <a:ln/>
        </p:spPr>
        <p:txBody>
          <a:bodyPr wrap="square" lIns="0" tIns="0" rIns="0" bIns="0" rtlCol="0" anchor="ctr"/>
          <a:lstStyle/>
          <a:p>
            <a:pPr indent="0" marL="0">
              <a:buNone/>
            </a:pPr>
            <a:r>
              <a:rPr lang="en-US" sz="1800" b="1" dirty="0">
                <a:solidFill>
                  <a:schemeClr val="tx2"/>
                </a:solidFill>
              </a:rPr>
              <a:t>Send every review</a:t>
            </a:r>
            <a:endParaRPr lang="en-US" sz="1800" dirty="0"/>
          </a:p>
        </p:txBody>
      </p:sp>
      <p:sp>
        <p:nvSpPr>
          <p:cNvPr id="17" name="Text 15"/>
          <p:cNvSpPr txBox="1"/>
          <p:nvPr/>
        </p:nvSpPr>
        <p:spPr>
          <a:xfrm>
            <a:off x="8321040" y="3886200"/>
            <a:ext cx="2926080" cy="777240"/>
          </a:xfrm>
          <a:prstGeom prst="rect">
            <a:avLst/>
          </a:prstGeom>
          <a:noFill/>
          <a:ln/>
        </p:spPr>
        <p:txBody>
          <a:bodyPr wrap="square" lIns="0" tIns="0" rIns="0" bIns="0" rtlCol="0" anchor="t"/>
          <a:lstStyle/>
          <a:p>
            <a:pPr indent="0" marL="0">
              <a:buNone/>
            </a:pPr>
            <a:r>
              <a:rPr lang="en-US" sz="1500" dirty="0">
                <a:solidFill>
                  <a:schemeClr val="tx1"/>
                </a:solidFill>
              </a:rPr>
              <a:t>0.84 + 1.0 × 299.74</a:t>
            </a:r>
            <a:endParaRPr lang="en-US" sz="1500" dirty="0"/>
          </a:p>
        </p:txBody>
      </p:sp>
      <p:sp>
        <p:nvSpPr>
          <p:cNvPr id="18" name="Text 16"/>
          <p:cNvSpPr txBox="1"/>
          <p:nvPr/>
        </p:nvSpPr>
        <p:spPr>
          <a:xfrm>
            <a:off x="8321040" y="4846320"/>
            <a:ext cx="2926080" cy="822960"/>
          </a:xfrm>
          <a:prstGeom prst="rect">
            <a:avLst/>
          </a:prstGeom>
          <a:noFill/>
          <a:ln/>
        </p:spPr>
        <p:txBody>
          <a:bodyPr wrap="square" lIns="0" tIns="0" rIns="0" bIns="0" rtlCol="0" anchor="ctr"/>
          <a:lstStyle/>
          <a:p>
            <a:pPr indent="0" marL="0">
              <a:buNone/>
            </a:pPr>
            <a:r>
              <a:rPr lang="en-US" sz="3400" b="1" dirty="0">
                <a:solidFill>
                  <a:schemeClr val="accent1"/>
                </a:solidFill>
                <a:latin typeface="Cambria" pitchFamily="34" charset="0"/>
                <a:ea typeface="Cambria" pitchFamily="34" charset="-122"/>
                <a:cs typeface="Cambria" pitchFamily="34" charset="-120"/>
              </a:rPr>
              <a:t>300.58 mJ</a:t>
            </a:r>
            <a:endParaRPr lang="en-US" sz="3400" dirty="0"/>
          </a:p>
        </p:txBody>
      </p:sp>
      <p:sp>
        <p:nvSpPr>
          <p:cNvPr id="25" name="Slide Number Placeholder 0"/>
          <p:cNvSpPr>
            <a:spLocks noGrp="1"/>
          </p:cNvSpPr>
          <p:nvPr>
            <p:ph type="sldNum" sz="quarter" idx="4294967295"/>
          </p:nvPr>
        </p:nvSpPr>
        <p:spPr>
          <a:xfrm>
            <a:off x="11274552" y="347472"/>
            <a:ext cx="384048" cy="384048"/>
          </a:xfrm>
          <a:prstGeom prst="rect">
            <a:avLst/>
          </a:prstGeom>
          <a:extLst>
            <a:ext uri="{C572A759-6A51-4108-AA02-DFA0A04FC94B}">
              <ma14:wrappingTextBoxFlag xmlns:ma14="http://schemas.microsoft.com/office/mac/drawingml/2011/main" val="0"/>
            </a:ext>
          </a:extLst>
        </p:spPr>
        <p:txBody>
          <a:bodyPr anchor="ctr"/>
          <a:lstStyle>
            <a:lvl1pPr>
              <a:defRPr sz="1200">
                <a:solidFill>
                  <a:srgbClr val="3A2E31"/>
                </a:solidFill>
              </a:defRPr>
            </a:lvl1pPr>
          </a:lstStyle>
          <a:p>
            <a:pPr algn="ct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1" type="body" hasCustomPrompt="1"/>
          </p:nvPr>
        </p:nvSpPr>
        <p:spPr>
          <a:xfrm>
            <a:off x="548640" y="365760"/>
            <a:ext cx="9601200" cy="292608"/>
          </a:xfrm>
          <a:prstGeom prst="rect">
            <a:avLst/>
          </a:prstGeom>
          <a:noFill/>
          <a:ln/>
        </p:spPr>
        <p:txBody>
          <a:bodyPr wrap="square" lIns="0" tIns="0" rIns="0" bIns="0" rtlCol="0"/>
          <a:lstStyle/>
          <a:p>
            <a:pPr indent="0" marL="0">
              <a:buNone/>
            </a:pPr>
            <a:r>
              <a:rPr lang="en-US" sz="1200" b="1" spc="200" kern="0" dirty="0">
                <a:solidFill>
                  <a:schemeClr val="accent6"/>
                </a:solidFill>
              </a:rPr>
              <a:t>ENERGY RESULTS  ·  EHSAN ABDULKHADER</a:t>
            </a:r>
            <a:endParaRPr lang="en-US" sz="1200" dirty="0"/>
          </a:p>
        </p:txBody>
      </p:sp>
      <p:sp>
        <p:nvSpPr>
          <p:cNvPr id="3" name="Text 0"/>
          <p:cNvSpPr/>
          <p:nvPr>
            <p:ph idx="102" type="title" hasCustomPrompt="1"/>
          </p:nvPr>
        </p:nvSpPr>
        <p:spPr>
          <a:xfrm>
            <a:off x="548640" y="676656"/>
            <a:ext cx="10424160" cy="822960"/>
          </a:xfrm>
          <a:prstGeom prst="rect">
            <a:avLst/>
          </a:prstGeom>
          <a:noFill/>
          <a:ln/>
        </p:spPr>
        <p:txBody>
          <a:bodyPr wrap="square" lIns="0" tIns="0" rIns="0" bIns="0" rtlCol="0" anchor="t"/>
          <a:lstStyle/>
          <a:p>
            <a:pPr algn="l" indent="0" marL="0">
              <a:buNone/>
            </a:pPr>
            <a:r>
              <a:rPr lang="en-US" sz="3000" b="1" dirty="0">
                <a:solidFill>
                  <a:schemeClr val="tx2"/>
                </a:solidFill>
              </a:rPr>
              <a:t>Sending one review in six closes three quarters of the accuracy gap</a:t>
            </a:r>
            <a:endParaRPr lang="en-US" sz="3000" dirty="0"/>
          </a:p>
        </p:txBody>
      </p:sp>
      <p:sp>
        <p:nvSpPr>
          <p:cNvPr id="4" name="Text 0"/>
          <p:cNvSpPr/>
          <p:nvPr>
            <p:ph idx="103" type="body" hasCustomPrompt="1"/>
          </p:nvPr>
        </p:nvSpPr>
        <p:spPr>
          <a:xfrm>
            <a:off x="548640" y="6355080"/>
            <a:ext cx="10515600" cy="310896"/>
          </a:xfrm>
          <a:prstGeom prst="rect">
            <a:avLst/>
          </a:prstGeom>
          <a:noFill/>
          <a:ln/>
        </p:spPr>
        <p:txBody>
          <a:bodyPr wrap="square" lIns="0" tIns="0" rIns="0" bIns="0" rtlCol="0"/>
          <a:lstStyle/>
          <a:p>
            <a:pPr indent="0" marL="0">
              <a:buNone/>
            </a:pPr>
            <a:r>
              <a:rPr lang="en-US" sz="1100" i="1" dirty="0">
                <a:solidFill>
                  <a:schemeClr val="accent6"/>
                </a:solidFill>
              </a:rPr>
              <a:t>Targets chosen on validation data, then applied once to test; RoBERTa-base hub; 1 s hub wait (placeholder)</a:t>
            </a:r>
            <a:endParaRPr lang="en-US" sz="1100" dirty="0"/>
          </a:p>
        </p:txBody>
      </p:sp>
      <p:graphicFrame>
        <p:nvGraphicFramePr>
          <p:cNvPr id="5" name="energy chart" descr=""/>
          <p:cNvGraphicFramePr/>
          <p:nvPr/>
        </p:nvGraphicFramePr>
        <p:xfrm>
          <a:off x="457200" y="1645920"/>
          <a:ext cx="6766560" cy="4572000"/>
        </p:xfrm>
        <a:graphic xmlns:a="http://schemas.openxmlformats.org/drawingml/2006/main">
          <a:graphicData uri="http://schemas.openxmlformats.org/drawingml/2006/chart">
            <c:chart xmlns:c="http://schemas.openxmlformats.org/drawingml/2006/chart" r:id="rId1"/>
          </a:graphicData>
        </a:graphic>
      </p:graphicFrame>
      <p:sp>
        <p:nvSpPr>
          <p:cNvPr id="6" name="worked energy"/>
          <p:cNvSpPr/>
          <p:nvPr/>
        </p:nvSpPr>
        <p:spPr>
          <a:xfrm>
            <a:off x="7589520" y="1783080"/>
            <a:ext cx="4023360" cy="4297680"/>
          </a:xfrm>
          <a:prstGeom prst="roundRect">
            <a:avLst>
              <a:gd name="adj" fmla="val 1818"/>
            </a:avLst>
          </a:prstGeom>
          <a:solidFill>
            <a:schemeClr val="bg2"/>
          </a:solidFill>
          <a:ln/>
          <a:effectLst>
            <a:outerShdw sx="100000" sy="100000" kx="0" ky="0" algn="bl" rotWithShape="0" blurRad="76200" dist="25400" dir="5400000">
              <a:srgbClr val="9C8189">
                <a:alpha val="16000"/>
              </a:srgbClr>
            </a:outerShdw>
          </a:effectLst>
        </p:spPr>
      </p:sp>
      <p:sp>
        <p:nvSpPr>
          <p:cNvPr id="7" name="Text 4"/>
          <p:cNvSpPr txBox="1"/>
          <p:nvPr/>
        </p:nvSpPr>
        <p:spPr>
          <a:xfrm>
            <a:off x="7863840" y="1965960"/>
            <a:ext cx="3566160" cy="411480"/>
          </a:xfrm>
          <a:prstGeom prst="rect">
            <a:avLst/>
          </a:prstGeom>
          <a:noFill/>
          <a:ln/>
        </p:spPr>
        <p:txBody>
          <a:bodyPr wrap="square" lIns="0" tIns="0" rIns="0" bIns="0" rtlCol="0" anchor="ctr"/>
          <a:lstStyle/>
          <a:p>
            <a:pPr indent="0" marL="0">
              <a:buNone/>
            </a:pPr>
            <a:r>
              <a:rPr lang="en-US" sz="1800" b="1" dirty="0">
                <a:solidFill>
                  <a:schemeClr val="accent2"/>
                </a:solidFill>
              </a:rPr>
              <a:t>Worked: close 75% of the gap</a:t>
            </a:r>
            <a:endParaRPr lang="en-US" sz="1800" dirty="0"/>
          </a:p>
        </p:txBody>
      </p:sp>
      <p:sp>
        <p:nvSpPr>
          <p:cNvPr id="8" name="Text 5"/>
          <p:cNvSpPr txBox="1"/>
          <p:nvPr/>
        </p:nvSpPr>
        <p:spPr>
          <a:xfrm>
            <a:off x="7863840" y="2514600"/>
            <a:ext cx="3566160" cy="3474720"/>
          </a:xfrm>
          <a:prstGeom prst="rect">
            <a:avLst/>
          </a:prstGeom>
          <a:noFill/>
          <a:ln/>
        </p:spPr>
        <p:txBody>
          <a:bodyPr wrap="square" lIns="0" tIns="0" rIns="0" bIns="0" rtlCol="0" anchor="t"/>
          <a:lstStyle/>
          <a:p>
            <a:pPr marL="228600" indent="-228600">
              <a:spcAft>
                <a:spcPts val="700"/>
              </a:spcAft>
              <a:buSzPct val="100000"/>
              <a:buChar char="•"/>
            </a:pPr>
            <a:r>
              <a:rPr lang="en-US" sz="1500" dirty="0">
                <a:solidFill>
                  <a:schemeClr val="tx1"/>
                </a:solidFill>
              </a:rPr>
              <a:t>Target on validation: 92.56 + 0.75 × 3.90 = 95.485%</a:t>
            </a:r>
            <a:endParaRPr lang="en-US" sz="1500" dirty="0"/>
          </a:p>
          <a:p>
            <a:pPr marL="228600" indent="-228600">
              <a:spcAft>
                <a:spcPts val="700"/>
              </a:spcAft>
              <a:buSzPct val="100000"/>
              <a:buChar char="•"/>
            </a:pPr>
            <a:r>
              <a:rPr lang="en-US" sz="1500" dirty="0">
                <a:solidFill>
                  <a:schemeClr val="tx1"/>
                </a:solidFill>
              </a:rPr>
              <a:t>Needs 16% sent on validation</a:t>
            </a:r>
            <a:endParaRPr lang="en-US" sz="1500" dirty="0"/>
          </a:p>
          <a:p>
            <a:pPr marL="228600" indent="-228600">
              <a:spcAft>
                <a:spcPts val="700"/>
              </a:spcAft>
              <a:buSzPct val="100000"/>
              <a:buChar char="•"/>
            </a:pPr>
            <a:r>
              <a:rPr lang="en-US" sz="1500" dirty="0">
                <a:solidFill>
                  <a:schemeClr val="tx1"/>
                </a:solidFill>
              </a:rPr>
              <a:t>On test: 16.9% sent, 95.89% accurate</a:t>
            </a:r>
            <a:endParaRPr lang="en-US" sz="1500" dirty="0"/>
          </a:p>
          <a:p>
            <a:pPr marL="228600" indent="-228600">
              <a:spcAft>
                <a:spcPts val="700"/>
              </a:spcAft>
              <a:buSzPct val="100000"/>
              <a:buChar char="•"/>
            </a:pPr>
            <a:r>
              <a:rPr lang="en-US" sz="1500" dirty="0">
                <a:solidFill>
                  <a:schemeClr val="tx1"/>
                </a:solidFill>
              </a:rPr>
              <a:t>Energy: 0.84 + 0.169 × 299.74 = 51.5 mJ</a:t>
            </a:r>
            <a:endParaRPr lang="en-US" sz="1500" dirty="0"/>
          </a:p>
          <a:p>
            <a:pPr marL="228600" indent="-228600">
              <a:spcAft>
                <a:spcPts val="700"/>
              </a:spcAft>
              <a:buSzPct val="100000"/>
              <a:buChar char="•"/>
            </a:pPr>
            <a:r>
              <a:rPr lang="en-US" sz="1500" dirty="0">
                <a:solidFill>
                  <a:schemeClr val="tx1"/>
                </a:solidFill>
              </a:rPr>
              <a:t>300.58 ÷ 51.51 = 5.8× less than sending all</a:t>
            </a:r>
            <a:endParaRPr lang="en-US" sz="1500" dirty="0"/>
          </a:p>
        </p:txBody>
      </p:sp>
      <p:sp>
        <p:nvSpPr>
          <p:cNvPr id="25" name="Slide Number Placeholder 0"/>
          <p:cNvSpPr>
            <a:spLocks noGrp="1"/>
          </p:cNvSpPr>
          <p:nvPr>
            <p:ph type="sldNum" sz="quarter" idx="4294967295"/>
          </p:nvPr>
        </p:nvSpPr>
        <p:spPr>
          <a:xfrm>
            <a:off x="11274552" y="347472"/>
            <a:ext cx="384048" cy="384048"/>
          </a:xfrm>
          <a:prstGeom prst="rect">
            <a:avLst/>
          </a:prstGeom>
          <a:extLst>
            <a:ext uri="{C572A759-6A51-4108-AA02-DFA0A04FC94B}">
              <ma14:wrappingTextBoxFlag xmlns:ma14="http://schemas.microsoft.com/office/mac/drawingml/2011/main" val="0"/>
            </a:ext>
          </a:extLst>
        </p:spPr>
        <p:txBody>
          <a:bodyPr anchor="ctr"/>
          <a:lstStyle>
            <a:lvl1pPr>
              <a:defRPr sz="1200">
                <a:solidFill>
                  <a:srgbClr val="3A2E31"/>
                </a:solidFill>
              </a:defRPr>
            </a:lvl1pPr>
          </a:lstStyle>
          <a:p>
            <a:pPr algn="ct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1" type="body" hasCustomPrompt="1"/>
          </p:nvPr>
        </p:nvSpPr>
        <p:spPr>
          <a:xfrm>
            <a:off x="548640" y="365760"/>
            <a:ext cx="9601200" cy="292608"/>
          </a:xfrm>
          <a:prstGeom prst="rect">
            <a:avLst/>
          </a:prstGeom>
          <a:noFill/>
          <a:ln/>
        </p:spPr>
        <p:txBody>
          <a:bodyPr wrap="square" lIns="0" tIns="0" rIns="0" bIns="0" rtlCol="0"/>
          <a:lstStyle/>
          <a:p>
            <a:pPr indent="0" marL="0">
              <a:buNone/>
            </a:pPr>
            <a:r>
              <a:rPr lang="en-US" sz="1200" b="1" spc="200" kern="0" dirty="0">
                <a:solidFill>
                  <a:schemeClr val="accent6"/>
                </a:solidFill>
              </a:rPr>
              <a:t>WHAT IT MEANS FOR A BATTERY  ·  EHSAN ABDULKHADER</a:t>
            </a:r>
            <a:endParaRPr lang="en-US" sz="1200" dirty="0"/>
          </a:p>
        </p:txBody>
      </p:sp>
      <p:sp>
        <p:nvSpPr>
          <p:cNvPr id="3" name="Text 0"/>
          <p:cNvSpPr/>
          <p:nvPr>
            <p:ph idx="102" type="title" hasCustomPrompt="1"/>
          </p:nvPr>
        </p:nvSpPr>
        <p:spPr>
          <a:xfrm>
            <a:off x="548640" y="676656"/>
            <a:ext cx="10424160" cy="822960"/>
          </a:xfrm>
          <a:prstGeom prst="rect">
            <a:avLst/>
          </a:prstGeom>
          <a:noFill/>
          <a:ln/>
        </p:spPr>
        <p:txBody>
          <a:bodyPr wrap="square" lIns="0" tIns="0" rIns="0" bIns="0" rtlCol="0" anchor="t"/>
          <a:lstStyle/>
          <a:p>
            <a:pPr algn="l" indent="0" marL="0">
              <a:buNone/>
            </a:pPr>
            <a:r>
              <a:rPr lang="en-US" sz="3000" b="1" dirty="0">
                <a:solidFill>
                  <a:schemeClr val="tx2"/>
                </a:solidFill>
              </a:rPr>
              <a:t>Closing three quarters of the gap gives almost 6× more reviews per charge than sending everything</a:t>
            </a:r>
            <a:endParaRPr lang="en-US" sz="3000" dirty="0"/>
          </a:p>
        </p:txBody>
      </p:sp>
      <p:sp>
        <p:nvSpPr>
          <p:cNvPr id="4" name="Text 0"/>
          <p:cNvSpPr/>
          <p:nvPr>
            <p:ph idx="103" type="body" hasCustomPrompt="1"/>
          </p:nvPr>
        </p:nvSpPr>
        <p:spPr>
          <a:xfrm>
            <a:off x="548640" y="6355080"/>
            <a:ext cx="10515600" cy="310896"/>
          </a:xfrm>
          <a:prstGeom prst="rect">
            <a:avLst/>
          </a:prstGeom>
          <a:noFill/>
          <a:ln/>
        </p:spPr>
        <p:txBody>
          <a:bodyPr wrap="square" lIns="0" tIns="0" rIns="0" bIns="0" rtlCol="0"/>
          <a:lstStyle/>
          <a:p>
            <a:pPr indent="0" marL="0">
              <a:buNone/>
            </a:pPr>
            <a:r>
              <a:rPr lang="en-US" sz="1100" i="1" dirty="0">
                <a:solidFill>
                  <a:schemeClr val="accent6"/>
                </a:solidFill>
              </a:rPr>
              <a:t>Illustrative 2,000 mAh, 3.7 V cell = 26,640 J; energy per review only (idle and sleep power not included)</a:t>
            </a:r>
            <a:endParaRPr lang="en-US" sz="1100" dirty="0"/>
          </a:p>
        </p:txBody>
      </p:sp>
      <p:sp>
        <p:nvSpPr>
          <p:cNvPr id="5" name="Device only"/>
          <p:cNvSpPr/>
          <p:nvPr/>
        </p:nvSpPr>
        <p:spPr>
          <a:xfrm>
            <a:off x="548640" y="1783080"/>
            <a:ext cx="2606040" cy="3291840"/>
          </a:xfrm>
          <a:prstGeom prst="roundRect">
            <a:avLst>
              <a:gd name="adj" fmla="val 2807"/>
            </a:avLst>
          </a:prstGeom>
          <a:solidFill>
            <a:schemeClr val="bg2"/>
          </a:solidFill>
          <a:ln/>
          <a:effectLst>
            <a:outerShdw sx="100000" sy="100000" kx="0" ky="0" algn="bl" rotWithShape="0" blurRad="76200" dist="25400" dir="5400000">
              <a:srgbClr val="9C8189">
                <a:alpha val="16000"/>
              </a:srgbClr>
            </a:outerShdw>
          </a:effectLst>
        </p:spPr>
      </p:sp>
      <p:sp>
        <p:nvSpPr>
          <p:cNvPr id="6" name="Text 4"/>
          <p:cNvSpPr txBox="1"/>
          <p:nvPr/>
        </p:nvSpPr>
        <p:spPr>
          <a:xfrm>
            <a:off x="822960" y="2011680"/>
            <a:ext cx="2103120" cy="411480"/>
          </a:xfrm>
          <a:prstGeom prst="rect">
            <a:avLst/>
          </a:prstGeom>
          <a:noFill/>
          <a:ln/>
        </p:spPr>
        <p:txBody>
          <a:bodyPr wrap="square" lIns="0" tIns="0" rIns="0" bIns="0" rtlCol="0" anchor="ctr"/>
          <a:lstStyle/>
          <a:p>
            <a:pPr indent="0" marL="0">
              <a:buNone/>
            </a:pPr>
            <a:r>
              <a:rPr lang="en-US" sz="1700" b="1" dirty="0">
                <a:solidFill>
                  <a:schemeClr val="tx2"/>
                </a:solidFill>
              </a:rPr>
              <a:t>Device only</a:t>
            </a:r>
            <a:endParaRPr lang="en-US" sz="1700" dirty="0"/>
          </a:p>
        </p:txBody>
      </p:sp>
      <p:sp>
        <p:nvSpPr>
          <p:cNvPr id="7" name="Text 5"/>
          <p:cNvSpPr txBox="1"/>
          <p:nvPr/>
        </p:nvSpPr>
        <p:spPr>
          <a:xfrm>
            <a:off x="822960" y="2560320"/>
            <a:ext cx="2103120" cy="822960"/>
          </a:xfrm>
          <a:prstGeom prst="rect">
            <a:avLst/>
          </a:prstGeom>
          <a:noFill/>
          <a:ln/>
        </p:spPr>
        <p:txBody>
          <a:bodyPr wrap="square" lIns="0" tIns="0" rIns="0" bIns="0" rtlCol="0" anchor="ctr"/>
          <a:lstStyle/>
          <a:p>
            <a:pPr indent="0" marL="0">
              <a:buNone/>
            </a:pPr>
            <a:r>
              <a:rPr lang="en-US" sz="3800" b="1" dirty="0">
                <a:solidFill>
                  <a:schemeClr val="accent3"/>
                </a:solidFill>
                <a:latin typeface="Cambria" pitchFamily="34" charset="0"/>
                <a:ea typeface="Cambria" pitchFamily="34" charset="-122"/>
                <a:cs typeface="Cambria" pitchFamily="34" charset="-120"/>
              </a:rPr>
              <a:t>31.5M</a:t>
            </a:r>
            <a:endParaRPr lang="en-US" sz="3800" dirty="0"/>
          </a:p>
        </p:txBody>
      </p:sp>
      <p:sp>
        <p:nvSpPr>
          <p:cNvPr id="8" name="Text 6"/>
          <p:cNvSpPr txBox="1"/>
          <p:nvPr/>
        </p:nvSpPr>
        <p:spPr>
          <a:xfrm>
            <a:off x="822960" y="3383280"/>
            <a:ext cx="2103120" cy="320040"/>
          </a:xfrm>
          <a:prstGeom prst="rect">
            <a:avLst/>
          </a:prstGeom>
          <a:noFill/>
          <a:ln/>
        </p:spPr>
        <p:txBody>
          <a:bodyPr wrap="square" lIns="0" tIns="0" rIns="0" bIns="0" rtlCol="0" anchor="ctr"/>
          <a:lstStyle/>
          <a:p>
            <a:pPr indent="0" marL="0">
              <a:buNone/>
            </a:pPr>
            <a:r>
              <a:rPr lang="en-US" sz="1400" dirty="0">
                <a:solidFill>
                  <a:schemeClr val="tx1"/>
                </a:solidFill>
              </a:rPr>
              <a:t>reviews per charge</a:t>
            </a:r>
            <a:endParaRPr lang="en-US" sz="1400" dirty="0"/>
          </a:p>
        </p:txBody>
      </p:sp>
      <p:sp>
        <p:nvSpPr>
          <p:cNvPr id="9" name="Text 7"/>
          <p:cNvSpPr txBox="1"/>
          <p:nvPr/>
        </p:nvSpPr>
        <p:spPr>
          <a:xfrm>
            <a:off x="822960" y="4069080"/>
            <a:ext cx="2103120" cy="777240"/>
          </a:xfrm>
          <a:prstGeom prst="rect">
            <a:avLst/>
          </a:prstGeom>
          <a:noFill/>
          <a:ln/>
        </p:spPr>
        <p:txBody>
          <a:bodyPr wrap="square" lIns="0" tIns="0" rIns="0" bIns="0" rtlCol="0" anchor="t"/>
          <a:lstStyle/>
          <a:p>
            <a:pPr indent="0" marL="0">
              <a:buNone/>
            </a:pPr>
            <a:r>
              <a:rPr lang="en-US" sz="1300" dirty="0">
                <a:solidFill>
                  <a:schemeClr val="accent6"/>
                </a:solidFill>
              </a:rPr>
              <a:t>0.8 mJ each · 92.32% accurate</a:t>
            </a:r>
            <a:endParaRPr lang="en-US" sz="1300" dirty="0"/>
          </a:p>
        </p:txBody>
      </p:sp>
      <p:sp>
        <p:nvSpPr>
          <p:cNvPr id="10" name="Close 50% of gap"/>
          <p:cNvSpPr/>
          <p:nvPr/>
        </p:nvSpPr>
        <p:spPr>
          <a:xfrm>
            <a:off x="3360420" y="1783080"/>
            <a:ext cx="2606040" cy="3291840"/>
          </a:xfrm>
          <a:prstGeom prst="roundRect">
            <a:avLst>
              <a:gd name="adj" fmla="val 2807"/>
            </a:avLst>
          </a:prstGeom>
          <a:solidFill>
            <a:schemeClr val="bg2"/>
          </a:solidFill>
          <a:ln/>
          <a:effectLst>
            <a:outerShdw sx="100000" sy="100000" kx="0" ky="0" algn="bl" rotWithShape="0" blurRad="76200" dist="25400" dir="5400000">
              <a:srgbClr val="9C8189">
                <a:alpha val="16000"/>
              </a:srgbClr>
            </a:outerShdw>
          </a:effectLst>
        </p:spPr>
      </p:sp>
      <p:sp>
        <p:nvSpPr>
          <p:cNvPr id="11" name="Text 9"/>
          <p:cNvSpPr txBox="1"/>
          <p:nvPr/>
        </p:nvSpPr>
        <p:spPr>
          <a:xfrm>
            <a:off x="3634740" y="2011680"/>
            <a:ext cx="2103120" cy="411480"/>
          </a:xfrm>
          <a:prstGeom prst="rect">
            <a:avLst/>
          </a:prstGeom>
          <a:noFill/>
          <a:ln/>
        </p:spPr>
        <p:txBody>
          <a:bodyPr wrap="square" lIns="0" tIns="0" rIns="0" bIns="0" rtlCol="0" anchor="ctr"/>
          <a:lstStyle/>
          <a:p>
            <a:pPr indent="0" marL="0">
              <a:buNone/>
            </a:pPr>
            <a:r>
              <a:rPr lang="en-US" sz="1700" b="1" dirty="0">
                <a:solidFill>
                  <a:schemeClr val="tx2"/>
                </a:solidFill>
              </a:rPr>
              <a:t>Close 50% of gap</a:t>
            </a:r>
            <a:endParaRPr lang="en-US" sz="1700" dirty="0"/>
          </a:p>
        </p:txBody>
      </p:sp>
      <p:sp>
        <p:nvSpPr>
          <p:cNvPr id="12" name="Text 10"/>
          <p:cNvSpPr txBox="1"/>
          <p:nvPr/>
        </p:nvSpPr>
        <p:spPr>
          <a:xfrm>
            <a:off x="3634740" y="2560320"/>
            <a:ext cx="2103120" cy="822960"/>
          </a:xfrm>
          <a:prstGeom prst="rect">
            <a:avLst/>
          </a:prstGeom>
          <a:noFill/>
          <a:ln/>
        </p:spPr>
        <p:txBody>
          <a:bodyPr wrap="square" lIns="0" tIns="0" rIns="0" bIns="0" rtlCol="0" anchor="ctr"/>
          <a:lstStyle/>
          <a:p>
            <a:pPr indent="0" marL="0">
              <a:buNone/>
            </a:pPr>
            <a:r>
              <a:rPr lang="en-US" sz="3800" b="1" dirty="0">
                <a:solidFill>
                  <a:schemeClr val="accent1"/>
                </a:solidFill>
                <a:latin typeface="Cambria" pitchFamily="34" charset="0"/>
                <a:ea typeface="Cambria" pitchFamily="34" charset="-122"/>
                <a:cs typeface="Cambria" pitchFamily="34" charset="-120"/>
              </a:rPr>
              <a:t>1.03M</a:t>
            </a:r>
            <a:endParaRPr lang="en-US" sz="3800" dirty="0"/>
          </a:p>
        </p:txBody>
      </p:sp>
      <p:sp>
        <p:nvSpPr>
          <p:cNvPr id="13" name="Text 11"/>
          <p:cNvSpPr txBox="1"/>
          <p:nvPr/>
        </p:nvSpPr>
        <p:spPr>
          <a:xfrm>
            <a:off x="3634740" y="3383280"/>
            <a:ext cx="2103120" cy="320040"/>
          </a:xfrm>
          <a:prstGeom prst="rect">
            <a:avLst/>
          </a:prstGeom>
          <a:noFill/>
          <a:ln/>
        </p:spPr>
        <p:txBody>
          <a:bodyPr wrap="square" lIns="0" tIns="0" rIns="0" bIns="0" rtlCol="0" anchor="ctr"/>
          <a:lstStyle/>
          <a:p>
            <a:pPr indent="0" marL="0">
              <a:buNone/>
            </a:pPr>
            <a:r>
              <a:rPr lang="en-US" sz="1400" dirty="0">
                <a:solidFill>
                  <a:schemeClr val="tx1"/>
                </a:solidFill>
              </a:rPr>
              <a:t>reviews per charge</a:t>
            </a:r>
            <a:endParaRPr lang="en-US" sz="1400" dirty="0"/>
          </a:p>
        </p:txBody>
      </p:sp>
      <p:sp>
        <p:nvSpPr>
          <p:cNvPr id="14" name="Text 12"/>
          <p:cNvSpPr txBox="1"/>
          <p:nvPr/>
        </p:nvSpPr>
        <p:spPr>
          <a:xfrm>
            <a:off x="3634740" y="4069080"/>
            <a:ext cx="2103120" cy="777240"/>
          </a:xfrm>
          <a:prstGeom prst="rect">
            <a:avLst/>
          </a:prstGeom>
          <a:noFill/>
          <a:ln/>
        </p:spPr>
        <p:txBody>
          <a:bodyPr wrap="square" lIns="0" tIns="0" rIns="0" bIns="0" rtlCol="0" anchor="t"/>
          <a:lstStyle/>
          <a:p>
            <a:pPr indent="0" marL="0">
              <a:buNone/>
            </a:pPr>
            <a:r>
              <a:rPr lang="en-US" sz="1300" dirty="0">
                <a:solidFill>
                  <a:schemeClr val="accent6"/>
                </a:solidFill>
              </a:rPr>
              <a:t>25.8 mJ each · 94.76% accurate</a:t>
            </a:r>
            <a:endParaRPr lang="en-US" sz="1300" dirty="0"/>
          </a:p>
        </p:txBody>
      </p:sp>
      <p:sp>
        <p:nvSpPr>
          <p:cNvPr id="15" name="Close 75% of gap"/>
          <p:cNvSpPr/>
          <p:nvPr/>
        </p:nvSpPr>
        <p:spPr>
          <a:xfrm>
            <a:off x="6172200" y="1783080"/>
            <a:ext cx="2606040" cy="3291840"/>
          </a:xfrm>
          <a:prstGeom prst="roundRect">
            <a:avLst>
              <a:gd name="adj" fmla="val 2807"/>
            </a:avLst>
          </a:prstGeom>
          <a:solidFill>
            <a:schemeClr val="bg2"/>
          </a:solidFill>
          <a:ln/>
          <a:effectLst>
            <a:outerShdw sx="100000" sy="100000" kx="0" ky="0" algn="bl" rotWithShape="0" blurRad="76200" dist="25400" dir="5400000">
              <a:srgbClr val="9C8189">
                <a:alpha val="16000"/>
              </a:srgbClr>
            </a:outerShdw>
          </a:effectLst>
        </p:spPr>
      </p:sp>
      <p:sp>
        <p:nvSpPr>
          <p:cNvPr id="16" name="Text 14"/>
          <p:cNvSpPr txBox="1"/>
          <p:nvPr/>
        </p:nvSpPr>
        <p:spPr>
          <a:xfrm>
            <a:off x="6446520" y="2011680"/>
            <a:ext cx="2103120" cy="411480"/>
          </a:xfrm>
          <a:prstGeom prst="rect">
            <a:avLst/>
          </a:prstGeom>
          <a:noFill/>
          <a:ln/>
        </p:spPr>
        <p:txBody>
          <a:bodyPr wrap="square" lIns="0" tIns="0" rIns="0" bIns="0" rtlCol="0" anchor="ctr"/>
          <a:lstStyle/>
          <a:p>
            <a:pPr indent="0" marL="0">
              <a:buNone/>
            </a:pPr>
            <a:r>
              <a:rPr lang="en-US" sz="1700" b="1" dirty="0">
                <a:solidFill>
                  <a:schemeClr val="tx2"/>
                </a:solidFill>
              </a:rPr>
              <a:t>Close 75% of gap</a:t>
            </a:r>
            <a:endParaRPr lang="en-US" sz="1700" dirty="0"/>
          </a:p>
        </p:txBody>
      </p:sp>
      <p:sp>
        <p:nvSpPr>
          <p:cNvPr id="17" name="Text 15"/>
          <p:cNvSpPr txBox="1"/>
          <p:nvPr/>
        </p:nvSpPr>
        <p:spPr>
          <a:xfrm>
            <a:off x="6446520" y="2560320"/>
            <a:ext cx="2103120" cy="822960"/>
          </a:xfrm>
          <a:prstGeom prst="rect">
            <a:avLst/>
          </a:prstGeom>
          <a:noFill/>
          <a:ln/>
        </p:spPr>
        <p:txBody>
          <a:bodyPr wrap="square" lIns="0" tIns="0" rIns="0" bIns="0" rtlCol="0" anchor="ctr"/>
          <a:lstStyle/>
          <a:p>
            <a:pPr indent="0" marL="0">
              <a:buNone/>
            </a:pPr>
            <a:r>
              <a:rPr lang="en-US" sz="3800" b="1" dirty="0">
                <a:solidFill>
                  <a:schemeClr val="accent2"/>
                </a:solidFill>
                <a:latin typeface="Cambria" pitchFamily="34" charset="0"/>
                <a:ea typeface="Cambria" pitchFamily="34" charset="-122"/>
                <a:cs typeface="Cambria" pitchFamily="34" charset="-120"/>
              </a:rPr>
              <a:t>517k</a:t>
            </a:r>
            <a:endParaRPr lang="en-US" sz="3800" dirty="0"/>
          </a:p>
        </p:txBody>
      </p:sp>
      <p:sp>
        <p:nvSpPr>
          <p:cNvPr id="18" name="Text 16"/>
          <p:cNvSpPr txBox="1"/>
          <p:nvPr/>
        </p:nvSpPr>
        <p:spPr>
          <a:xfrm>
            <a:off x="6446520" y="3383280"/>
            <a:ext cx="2103120" cy="320040"/>
          </a:xfrm>
          <a:prstGeom prst="rect">
            <a:avLst/>
          </a:prstGeom>
          <a:noFill/>
          <a:ln/>
        </p:spPr>
        <p:txBody>
          <a:bodyPr wrap="square" lIns="0" tIns="0" rIns="0" bIns="0" rtlCol="0" anchor="ctr"/>
          <a:lstStyle/>
          <a:p>
            <a:pPr indent="0" marL="0">
              <a:buNone/>
            </a:pPr>
            <a:r>
              <a:rPr lang="en-US" sz="1400" dirty="0">
                <a:solidFill>
                  <a:schemeClr val="tx1"/>
                </a:solidFill>
              </a:rPr>
              <a:t>reviews per charge</a:t>
            </a:r>
            <a:endParaRPr lang="en-US" sz="1400" dirty="0"/>
          </a:p>
        </p:txBody>
      </p:sp>
      <p:sp>
        <p:nvSpPr>
          <p:cNvPr id="19" name="Text 17"/>
          <p:cNvSpPr txBox="1"/>
          <p:nvPr/>
        </p:nvSpPr>
        <p:spPr>
          <a:xfrm>
            <a:off x="6446520" y="4069080"/>
            <a:ext cx="2103120" cy="777240"/>
          </a:xfrm>
          <a:prstGeom prst="rect">
            <a:avLst/>
          </a:prstGeom>
          <a:noFill/>
          <a:ln/>
        </p:spPr>
        <p:txBody>
          <a:bodyPr wrap="square" lIns="0" tIns="0" rIns="0" bIns="0" rtlCol="0" anchor="t"/>
          <a:lstStyle/>
          <a:p>
            <a:pPr indent="0" marL="0">
              <a:buNone/>
            </a:pPr>
            <a:r>
              <a:rPr lang="en-US" sz="1300" dirty="0">
                <a:solidFill>
                  <a:schemeClr val="accent6"/>
                </a:solidFill>
              </a:rPr>
              <a:t>51.5 mJ each · 95.89% accurate</a:t>
            </a:r>
            <a:endParaRPr lang="en-US" sz="1300" dirty="0"/>
          </a:p>
        </p:txBody>
      </p:sp>
      <p:sp>
        <p:nvSpPr>
          <p:cNvPr id="20" name="Send everything"/>
          <p:cNvSpPr/>
          <p:nvPr/>
        </p:nvSpPr>
        <p:spPr>
          <a:xfrm>
            <a:off x="8983980" y="1783080"/>
            <a:ext cx="2606040" cy="3291840"/>
          </a:xfrm>
          <a:prstGeom prst="roundRect">
            <a:avLst>
              <a:gd name="adj" fmla="val 2807"/>
            </a:avLst>
          </a:prstGeom>
          <a:solidFill>
            <a:schemeClr val="bg2"/>
          </a:solidFill>
          <a:ln/>
          <a:effectLst>
            <a:outerShdw sx="100000" sy="100000" kx="0" ky="0" algn="bl" rotWithShape="0" blurRad="76200" dist="25400" dir="5400000">
              <a:srgbClr val="9C8189">
                <a:alpha val="16000"/>
              </a:srgbClr>
            </a:outerShdw>
          </a:effectLst>
        </p:spPr>
      </p:sp>
      <p:sp>
        <p:nvSpPr>
          <p:cNvPr id="21" name="Text 19"/>
          <p:cNvSpPr txBox="1"/>
          <p:nvPr/>
        </p:nvSpPr>
        <p:spPr>
          <a:xfrm>
            <a:off x="9258300" y="2011680"/>
            <a:ext cx="2103120" cy="411480"/>
          </a:xfrm>
          <a:prstGeom prst="rect">
            <a:avLst/>
          </a:prstGeom>
          <a:noFill/>
          <a:ln/>
        </p:spPr>
        <p:txBody>
          <a:bodyPr wrap="square" lIns="0" tIns="0" rIns="0" bIns="0" rtlCol="0" anchor="ctr"/>
          <a:lstStyle/>
          <a:p>
            <a:pPr indent="0" marL="0">
              <a:buNone/>
            </a:pPr>
            <a:r>
              <a:rPr lang="en-US" sz="1700" b="1" dirty="0">
                <a:solidFill>
                  <a:schemeClr val="tx2"/>
                </a:solidFill>
              </a:rPr>
              <a:t>Send everything</a:t>
            </a:r>
            <a:endParaRPr lang="en-US" sz="1700" dirty="0"/>
          </a:p>
        </p:txBody>
      </p:sp>
      <p:sp>
        <p:nvSpPr>
          <p:cNvPr id="22" name="Text 20"/>
          <p:cNvSpPr txBox="1"/>
          <p:nvPr/>
        </p:nvSpPr>
        <p:spPr>
          <a:xfrm>
            <a:off x="9258300" y="2560320"/>
            <a:ext cx="2103120" cy="822960"/>
          </a:xfrm>
          <a:prstGeom prst="rect">
            <a:avLst/>
          </a:prstGeom>
          <a:noFill/>
          <a:ln/>
        </p:spPr>
        <p:txBody>
          <a:bodyPr wrap="square" lIns="0" tIns="0" rIns="0" bIns="0" rtlCol="0" anchor="ctr"/>
          <a:lstStyle/>
          <a:p>
            <a:pPr indent="0" marL="0">
              <a:buNone/>
            </a:pPr>
            <a:r>
              <a:rPr lang="en-US" sz="3800" b="1" dirty="0">
                <a:solidFill>
                  <a:schemeClr val="accent6"/>
                </a:solidFill>
                <a:latin typeface="Cambria" pitchFamily="34" charset="0"/>
                <a:ea typeface="Cambria" pitchFamily="34" charset="-122"/>
                <a:cs typeface="Cambria" pitchFamily="34" charset="-120"/>
              </a:rPr>
              <a:t>89k</a:t>
            </a:r>
            <a:endParaRPr lang="en-US" sz="3800" dirty="0"/>
          </a:p>
        </p:txBody>
      </p:sp>
      <p:sp>
        <p:nvSpPr>
          <p:cNvPr id="23" name="Text 21"/>
          <p:cNvSpPr txBox="1"/>
          <p:nvPr/>
        </p:nvSpPr>
        <p:spPr>
          <a:xfrm>
            <a:off x="9258300" y="3383280"/>
            <a:ext cx="2103120" cy="320040"/>
          </a:xfrm>
          <a:prstGeom prst="rect">
            <a:avLst/>
          </a:prstGeom>
          <a:noFill/>
          <a:ln/>
        </p:spPr>
        <p:txBody>
          <a:bodyPr wrap="square" lIns="0" tIns="0" rIns="0" bIns="0" rtlCol="0" anchor="ctr"/>
          <a:lstStyle/>
          <a:p>
            <a:pPr indent="0" marL="0">
              <a:buNone/>
            </a:pPr>
            <a:r>
              <a:rPr lang="en-US" sz="1400" dirty="0">
                <a:solidFill>
                  <a:schemeClr val="tx1"/>
                </a:solidFill>
              </a:rPr>
              <a:t>reviews per charge</a:t>
            </a:r>
            <a:endParaRPr lang="en-US" sz="1400" dirty="0"/>
          </a:p>
        </p:txBody>
      </p:sp>
      <p:sp>
        <p:nvSpPr>
          <p:cNvPr id="24" name="Text 22"/>
          <p:cNvSpPr txBox="1"/>
          <p:nvPr/>
        </p:nvSpPr>
        <p:spPr>
          <a:xfrm>
            <a:off x="9258300" y="4069080"/>
            <a:ext cx="2103120" cy="777240"/>
          </a:xfrm>
          <a:prstGeom prst="rect">
            <a:avLst/>
          </a:prstGeom>
          <a:noFill/>
          <a:ln/>
        </p:spPr>
        <p:txBody>
          <a:bodyPr wrap="square" lIns="0" tIns="0" rIns="0" bIns="0" rtlCol="0" anchor="t"/>
          <a:lstStyle/>
          <a:p>
            <a:pPr indent="0" marL="0">
              <a:buNone/>
            </a:pPr>
            <a:r>
              <a:rPr lang="en-US" sz="1300" dirty="0">
                <a:solidFill>
                  <a:schemeClr val="accent6"/>
                </a:solidFill>
              </a:rPr>
              <a:t>300.6 mJ each · 96.72% accurate</a:t>
            </a:r>
            <a:endParaRPr lang="en-US" sz="1300" dirty="0"/>
          </a:p>
        </p:txBody>
      </p:sp>
      <p:sp>
        <p:nvSpPr>
          <p:cNvPr id="25" name="battery formula"/>
          <p:cNvSpPr/>
          <p:nvPr/>
        </p:nvSpPr>
        <p:spPr>
          <a:xfrm>
            <a:off x="548640" y="5303520"/>
            <a:ext cx="11064240" cy="777240"/>
          </a:xfrm>
          <a:prstGeom prst="roundRect">
            <a:avLst>
              <a:gd name="adj" fmla="val 9412"/>
            </a:avLst>
          </a:prstGeom>
          <a:solidFill>
            <a:schemeClr val="accent4"/>
          </a:solidFill>
          <a:ln/>
          <a:effectLst>
            <a:outerShdw sx="100000" sy="100000" kx="0" ky="0" algn="bl" rotWithShape="0" blurRad="76200" dist="25400" dir="5400000">
              <a:srgbClr val="9C8189">
                <a:alpha val="16000"/>
              </a:srgbClr>
            </a:outerShdw>
          </a:effectLst>
        </p:spPr>
      </p:sp>
      <p:sp>
        <p:nvSpPr>
          <p:cNvPr id="26" name="Text 24"/>
          <p:cNvSpPr txBox="1"/>
          <p:nvPr/>
        </p:nvSpPr>
        <p:spPr>
          <a:xfrm>
            <a:off x="822960" y="5303520"/>
            <a:ext cx="10515600" cy="777240"/>
          </a:xfrm>
          <a:prstGeom prst="rect">
            <a:avLst/>
          </a:prstGeom>
          <a:noFill/>
          <a:ln/>
        </p:spPr>
        <p:txBody>
          <a:bodyPr wrap="square" lIns="0" tIns="0" rIns="0" bIns="0" rtlCol="0" anchor="ctr"/>
          <a:lstStyle/>
          <a:p>
            <a:pPr indent="0" marL="0">
              <a:buNone/>
            </a:pPr>
            <a:r>
              <a:rPr lang="en-US" sz="1600" b="1" dirty="0">
                <a:solidFill>
                  <a:schemeClr val="accent3"/>
                </a:solidFill>
              </a:rPr>
              <a:t>Reviews per charge = 26,640 J ÷ energy per review</a:t>
            </a:r>
            <a:pPr indent="0" marL="0">
              <a:buNone/>
            </a:pPr>
            <a:r>
              <a:rPr lang="en-US" sz="1600" dirty="0">
                <a:solidFill>
                  <a:schemeClr val="tx1"/>
                </a:solidFill>
              </a:rPr>
              <a:t>     e.g. 26,640 ÷ 0.05151 J = 517,154</a:t>
            </a:r>
            <a:endParaRPr lang="en-US" sz="1600" dirty="0"/>
          </a:p>
        </p:txBody>
      </p:sp>
      <p:sp>
        <p:nvSpPr>
          <p:cNvPr id="25" name="Slide Number Placeholder 0"/>
          <p:cNvSpPr>
            <a:spLocks noGrp="1"/>
          </p:cNvSpPr>
          <p:nvPr>
            <p:ph type="sldNum" sz="quarter" idx="4294967295"/>
          </p:nvPr>
        </p:nvSpPr>
        <p:spPr>
          <a:xfrm>
            <a:off x="11274552" y="347472"/>
            <a:ext cx="384048" cy="384048"/>
          </a:xfrm>
          <a:prstGeom prst="rect">
            <a:avLst/>
          </a:prstGeom>
          <a:extLst>
            <a:ext uri="{C572A759-6A51-4108-AA02-DFA0A04FC94B}">
              <ma14:wrappingTextBoxFlag xmlns:ma14="http://schemas.microsoft.com/office/mac/drawingml/2011/main" val="0"/>
            </a:ext>
          </a:extLst>
        </p:spPr>
        <p:txBody>
          <a:bodyPr anchor="ctr"/>
          <a:lstStyle>
            <a:lvl1pPr>
              <a:defRPr sz="1200">
                <a:solidFill>
                  <a:srgbClr val="3A2E31"/>
                </a:solidFill>
              </a:defRPr>
            </a:lvl1pPr>
          </a:lstStyle>
          <a:p>
            <a:pPr algn="ct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1" type="body" hasCustomPrompt="1"/>
          </p:nvPr>
        </p:nvSpPr>
        <p:spPr>
          <a:xfrm>
            <a:off x="548640" y="365760"/>
            <a:ext cx="9601200" cy="292608"/>
          </a:xfrm>
          <a:prstGeom prst="rect">
            <a:avLst/>
          </a:prstGeom>
          <a:noFill/>
          <a:ln/>
        </p:spPr>
        <p:txBody>
          <a:bodyPr wrap="square" lIns="0" tIns="0" rIns="0" bIns="0" rtlCol="0"/>
          <a:lstStyle/>
          <a:p>
            <a:pPr indent="0" marL="0">
              <a:buNone/>
            </a:pPr>
            <a:r>
              <a:rPr lang="en-US" sz="1200" b="1" spc="200" kern="0" dirty="0">
                <a:solidFill>
                  <a:schemeClr val="accent6"/>
                </a:solidFill>
              </a:rPr>
              <a:t>LIMITS AND NEXT STEPS  ·  EHSAN ABDULKHADER</a:t>
            </a:r>
            <a:endParaRPr lang="en-US" sz="1200" dirty="0"/>
          </a:p>
        </p:txBody>
      </p:sp>
      <p:sp>
        <p:nvSpPr>
          <p:cNvPr id="3" name="Text 0"/>
          <p:cNvSpPr/>
          <p:nvPr>
            <p:ph idx="102" type="title" hasCustomPrompt="1"/>
          </p:nvPr>
        </p:nvSpPr>
        <p:spPr>
          <a:xfrm>
            <a:off x="548640" y="676656"/>
            <a:ext cx="10424160" cy="822960"/>
          </a:xfrm>
          <a:prstGeom prst="rect">
            <a:avLst/>
          </a:prstGeom>
          <a:noFill/>
          <a:ln/>
        </p:spPr>
        <p:txBody>
          <a:bodyPr wrap="square" lIns="0" tIns="0" rIns="0" bIns="0" rtlCol="0" anchor="t"/>
          <a:lstStyle/>
          <a:p>
            <a:pPr algn="l" indent="0" marL="0">
              <a:buNone/>
            </a:pPr>
            <a:r>
              <a:rPr lang="en-US" sz="3000" b="1" dirty="0">
                <a:solidFill>
                  <a:schemeClr val="tx2"/>
                </a:solidFill>
              </a:rPr>
              <a:t>What's left: measure it on real hardware</a:t>
            </a:r>
            <a:endParaRPr lang="en-US" sz="3000" dirty="0"/>
          </a:p>
        </p:txBody>
      </p:sp>
      <p:sp>
        <p:nvSpPr>
          <p:cNvPr id="4" name="limitations"/>
          <p:cNvSpPr/>
          <p:nvPr/>
        </p:nvSpPr>
        <p:spPr>
          <a:xfrm>
            <a:off x="548640" y="1783080"/>
            <a:ext cx="5394960" cy="4297680"/>
          </a:xfrm>
          <a:prstGeom prst="roundRect">
            <a:avLst>
              <a:gd name="adj" fmla="val 1702"/>
            </a:avLst>
          </a:prstGeom>
          <a:solidFill>
            <a:schemeClr val="bg2"/>
          </a:solidFill>
          <a:ln/>
          <a:effectLst>
            <a:outerShdw sx="100000" sy="100000" kx="0" ky="0" algn="bl" rotWithShape="0" blurRad="76200" dist="25400" dir="5400000">
              <a:srgbClr val="9C8189">
                <a:alpha val="16000"/>
              </a:srgbClr>
            </a:outerShdw>
          </a:effectLst>
        </p:spPr>
      </p:sp>
      <p:sp>
        <p:nvSpPr>
          <p:cNvPr id="5" name="Text 3"/>
          <p:cNvSpPr txBox="1"/>
          <p:nvPr/>
        </p:nvSpPr>
        <p:spPr>
          <a:xfrm>
            <a:off x="868680" y="2011680"/>
            <a:ext cx="4754880" cy="457200"/>
          </a:xfrm>
          <a:prstGeom prst="rect">
            <a:avLst/>
          </a:prstGeom>
          <a:noFill/>
          <a:ln/>
        </p:spPr>
        <p:txBody>
          <a:bodyPr wrap="square" lIns="0" tIns="0" rIns="0" bIns="0" rtlCol="0" anchor="ctr"/>
          <a:lstStyle/>
          <a:p>
            <a:pPr indent="0" marL="0">
              <a:buNone/>
            </a:pPr>
            <a:r>
              <a:rPr lang="en-US" sz="2000" b="1" dirty="0">
                <a:solidFill>
                  <a:schemeClr val="accent2"/>
                </a:solidFill>
              </a:rPr>
              <a:t>Limitations</a:t>
            </a:r>
            <a:endParaRPr lang="en-US" sz="2000" dirty="0"/>
          </a:p>
        </p:txBody>
      </p:sp>
      <p:sp>
        <p:nvSpPr>
          <p:cNvPr id="6" name="Text 4"/>
          <p:cNvSpPr txBox="1"/>
          <p:nvPr/>
        </p:nvSpPr>
        <p:spPr>
          <a:xfrm>
            <a:off x="868680" y="2606040"/>
            <a:ext cx="4800600" cy="3291840"/>
          </a:xfrm>
          <a:prstGeom prst="rect">
            <a:avLst/>
          </a:prstGeom>
          <a:noFill/>
          <a:ln/>
        </p:spPr>
        <p:txBody>
          <a:bodyPr wrap="square" lIns="0" tIns="0" rIns="0" bIns="0" rtlCol="0" anchor="t"/>
          <a:lstStyle/>
          <a:p>
            <a:pPr marL="228600" indent="-228600">
              <a:spcAft>
                <a:spcPts val="800"/>
              </a:spcAft>
              <a:buSzPct val="100000"/>
              <a:buChar char="•"/>
            </a:pPr>
            <a:r>
              <a:rPr lang="en-US" sz="1600" dirty="0">
                <a:solidFill>
                  <a:schemeClr val="tx1"/>
                </a:solidFill>
              </a:rPr>
              <a:t>Energy is modelled: datasheet currents, placeholder timings</a:t>
            </a:r>
            <a:endParaRPr lang="en-US" sz="1600" dirty="0"/>
          </a:p>
          <a:p>
            <a:pPr marL="228600" indent="-228600">
              <a:spcAft>
                <a:spcPts val="800"/>
              </a:spcAft>
              <a:buSzPct val="100000"/>
              <a:buChar char="•"/>
            </a:pPr>
            <a:r>
              <a:rPr lang="en-US" sz="1600" dirty="0">
                <a:solidFill>
                  <a:schemeClr val="tx1"/>
                </a:solidFill>
              </a:rPr>
              <a:t>Pi Zero 2 W latency and int8 model sizes not yet measured</a:t>
            </a:r>
            <a:endParaRPr lang="en-US" sz="1600" dirty="0"/>
          </a:p>
          <a:p>
            <a:pPr marL="228600" indent="-228600">
              <a:spcAft>
                <a:spcPts val="800"/>
              </a:spcAft>
              <a:buSzPct val="100000"/>
              <a:buChar char="•"/>
            </a:pPr>
            <a:r>
              <a:rPr lang="en-US" sz="1600" dirty="0">
                <a:solidFill>
                  <a:schemeClr val="tx1"/>
                </a:solidFill>
              </a:rPr>
              <a:t>One dataset: long English movie reviews</a:t>
            </a:r>
            <a:endParaRPr lang="en-US" sz="1600" dirty="0"/>
          </a:p>
          <a:p>
            <a:pPr marL="228600" indent="-228600">
              <a:spcAft>
                <a:spcPts val="800"/>
              </a:spcAft>
              <a:buSzPct val="100000"/>
              <a:buChar char="•"/>
            </a:pPr>
            <a:r>
              <a:rPr lang="en-US" sz="1600" dirty="0">
                <a:solidFill>
                  <a:schemeClr val="tx1"/>
                </a:solidFill>
              </a:rPr>
              <a:t>0.1 points is only 25 of 25,000 test reviews</a:t>
            </a:r>
            <a:endParaRPr lang="en-US" sz="1600" dirty="0"/>
          </a:p>
        </p:txBody>
      </p:sp>
      <p:sp>
        <p:nvSpPr>
          <p:cNvPr id="7" name="Shape 5"/>
          <p:cNvSpPr/>
          <p:nvPr/>
        </p:nvSpPr>
        <p:spPr>
          <a:xfrm>
            <a:off x="6400800" y="1874520"/>
            <a:ext cx="640080" cy="640080"/>
          </a:xfrm>
          <a:prstGeom prst="ellipse">
            <a:avLst/>
          </a:prstGeom>
          <a:solidFill>
            <a:schemeClr val="accent3"/>
          </a:solidFill>
          <a:ln/>
        </p:spPr>
      </p:sp>
      <p:pic>
        <p:nvPicPr>
          <p:cNvPr id="8" name="Image 0" descr="preencoded.png">    </p:cNvPr>
          <p:cNvPicPr>
            <a:picLocks noChangeAspect="1"/>
          </p:cNvPicPr>
          <p:nvPr/>
        </p:nvPicPr>
        <p:blipFill>
          <a:blip r:embed="rId1"/>
          <a:stretch>
            <a:fillRect/>
          </a:stretch>
        </p:blipFill>
        <p:spPr>
          <a:xfrm>
            <a:off x="6560820" y="2034540"/>
            <a:ext cx="320040" cy="320040"/>
          </a:xfrm>
          <a:prstGeom prst="rect">
            <a:avLst/>
          </a:prstGeom>
        </p:spPr>
      </p:pic>
      <p:sp>
        <p:nvSpPr>
          <p:cNvPr id="9" name="Text 6"/>
          <p:cNvSpPr txBox="1"/>
          <p:nvPr/>
        </p:nvSpPr>
        <p:spPr>
          <a:xfrm>
            <a:off x="7223760" y="1828800"/>
            <a:ext cx="4389120" cy="411480"/>
          </a:xfrm>
          <a:prstGeom prst="rect">
            <a:avLst/>
          </a:prstGeom>
          <a:noFill/>
          <a:ln/>
        </p:spPr>
        <p:txBody>
          <a:bodyPr wrap="square" lIns="0" tIns="0" rIns="0" bIns="0" rtlCol="0" anchor="ctr"/>
          <a:lstStyle/>
          <a:p>
            <a:pPr indent="0" marL="0">
              <a:buNone/>
            </a:pPr>
            <a:r>
              <a:rPr lang="en-US" sz="1800" b="1" dirty="0">
                <a:solidFill>
                  <a:schemeClr val="tx2"/>
                </a:solidFill>
              </a:rPr>
              <a:t>ESP32-S3 firmware</a:t>
            </a:r>
            <a:endParaRPr lang="en-US" sz="1800" dirty="0"/>
          </a:p>
        </p:txBody>
      </p:sp>
      <p:sp>
        <p:nvSpPr>
          <p:cNvPr id="10" name="Text 7"/>
          <p:cNvSpPr txBox="1"/>
          <p:nvPr/>
        </p:nvSpPr>
        <p:spPr>
          <a:xfrm>
            <a:off x="7223760" y="2240280"/>
            <a:ext cx="4389120" cy="365760"/>
          </a:xfrm>
          <a:prstGeom prst="rect">
            <a:avLst/>
          </a:prstGeom>
          <a:noFill/>
          <a:ln/>
        </p:spPr>
        <p:txBody>
          <a:bodyPr wrap="square" lIns="0" tIns="0" rIns="0" bIns="0" rtlCol="0" anchor="ctr"/>
          <a:lstStyle/>
          <a:p>
            <a:pPr indent="0" marL="0">
              <a:buNone/>
            </a:pPr>
            <a:r>
              <a:rPr lang="en-US" sz="1500" dirty="0">
                <a:solidFill>
                  <a:schemeClr val="tx1"/>
                </a:solidFill>
              </a:rPr>
              <a:t>tokenise, hash, int8 lookup, route</a:t>
            </a:r>
            <a:endParaRPr lang="en-US" sz="1500" dirty="0"/>
          </a:p>
        </p:txBody>
      </p:sp>
      <p:sp>
        <p:nvSpPr>
          <p:cNvPr id="11" name="Shape 8"/>
          <p:cNvSpPr/>
          <p:nvPr/>
        </p:nvSpPr>
        <p:spPr>
          <a:xfrm>
            <a:off x="6400800" y="2971800"/>
            <a:ext cx="640080" cy="640080"/>
          </a:xfrm>
          <a:prstGeom prst="ellipse">
            <a:avLst/>
          </a:prstGeom>
          <a:solidFill>
            <a:schemeClr val="accent3"/>
          </a:solidFill>
          <a:ln/>
        </p:spPr>
      </p:sp>
      <p:pic>
        <p:nvPicPr>
          <p:cNvPr id="12" name="Image 1" descr="preencoded.png">    </p:cNvPr>
          <p:cNvPicPr>
            <a:picLocks noChangeAspect="1"/>
          </p:cNvPicPr>
          <p:nvPr/>
        </p:nvPicPr>
        <p:blipFill>
          <a:blip r:embed="rId2"/>
          <a:stretch>
            <a:fillRect/>
          </a:stretch>
        </p:blipFill>
        <p:spPr>
          <a:xfrm>
            <a:off x="6560820" y="3131820"/>
            <a:ext cx="320040" cy="320040"/>
          </a:xfrm>
          <a:prstGeom prst="rect">
            <a:avLst/>
          </a:prstGeom>
        </p:spPr>
      </p:pic>
      <p:sp>
        <p:nvSpPr>
          <p:cNvPr id="13" name="Text 9"/>
          <p:cNvSpPr txBox="1"/>
          <p:nvPr/>
        </p:nvSpPr>
        <p:spPr>
          <a:xfrm>
            <a:off x="7223760" y="2926080"/>
            <a:ext cx="4389120" cy="411480"/>
          </a:xfrm>
          <a:prstGeom prst="rect">
            <a:avLst/>
          </a:prstGeom>
          <a:noFill/>
          <a:ln/>
        </p:spPr>
        <p:txBody>
          <a:bodyPr wrap="square" lIns="0" tIns="0" rIns="0" bIns="0" rtlCol="0" anchor="ctr"/>
          <a:lstStyle/>
          <a:p>
            <a:pPr indent="0" marL="0">
              <a:buNone/>
            </a:pPr>
            <a:r>
              <a:rPr lang="en-US" sz="1800" b="1" dirty="0">
                <a:solidFill>
                  <a:schemeClr val="tx2"/>
                </a:solidFill>
              </a:rPr>
              <a:t>Pi Zero 2 W hub</a:t>
            </a:r>
            <a:endParaRPr lang="en-US" sz="1800" dirty="0"/>
          </a:p>
        </p:txBody>
      </p:sp>
      <p:sp>
        <p:nvSpPr>
          <p:cNvPr id="14" name="Text 10"/>
          <p:cNvSpPr txBox="1"/>
          <p:nvPr/>
        </p:nvSpPr>
        <p:spPr>
          <a:xfrm>
            <a:off x="7223760" y="3337560"/>
            <a:ext cx="4389120" cy="365760"/>
          </a:xfrm>
          <a:prstGeom prst="rect">
            <a:avLst/>
          </a:prstGeom>
          <a:noFill/>
          <a:ln/>
        </p:spPr>
        <p:txBody>
          <a:bodyPr wrap="square" lIns="0" tIns="0" rIns="0" bIns="0" rtlCol="0" anchor="ctr"/>
          <a:lstStyle/>
          <a:p>
            <a:pPr indent="0" marL="0">
              <a:buNone/>
            </a:pPr>
            <a:r>
              <a:rPr lang="en-US" sz="1500" dirty="0">
                <a:solidFill>
                  <a:schemeClr val="tx1"/>
                </a:solidFill>
              </a:rPr>
              <a:t>int8 ONNX model behind a small HTTP server</a:t>
            </a:r>
            <a:endParaRPr lang="en-US" sz="1500" dirty="0"/>
          </a:p>
        </p:txBody>
      </p:sp>
      <p:sp>
        <p:nvSpPr>
          <p:cNvPr id="15" name="Shape 11"/>
          <p:cNvSpPr/>
          <p:nvPr/>
        </p:nvSpPr>
        <p:spPr>
          <a:xfrm>
            <a:off x="6400800" y="4069080"/>
            <a:ext cx="640080" cy="640080"/>
          </a:xfrm>
          <a:prstGeom prst="ellipse">
            <a:avLst/>
          </a:prstGeom>
          <a:solidFill>
            <a:schemeClr val="accent3"/>
          </a:solidFill>
          <a:ln/>
        </p:spPr>
      </p:sp>
      <p:pic>
        <p:nvPicPr>
          <p:cNvPr id="16" name="Image 2" descr="preencoded.png">    </p:cNvPr>
          <p:cNvPicPr>
            <a:picLocks noChangeAspect="1"/>
          </p:cNvPicPr>
          <p:nvPr/>
        </p:nvPicPr>
        <p:blipFill>
          <a:blip r:embed="rId3"/>
          <a:stretch>
            <a:fillRect/>
          </a:stretch>
        </p:blipFill>
        <p:spPr>
          <a:xfrm>
            <a:off x="6560820" y="4229100"/>
            <a:ext cx="320040" cy="320040"/>
          </a:xfrm>
          <a:prstGeom prst="rect">
            <a:avLst/>
          </a:prstGeom>
        </p:spPr>
      </p:pic>
      <p:sp>
        <p:nvSpPr>
          <p:cNvPr id="17" name="Text 12"/>
          <p:cNvSpPr txBox="1"/>
          <p:nvPr/>
        </p:nvSpPr>
        <p:spPr>
          <a:xfrm>
            <a:off x="7223760" y="4023360"/>
            <a:ext cx="4389120" cy="411480"/>
          </a:xfrm>
          <a:prstGeom prst="rect">
            <a:avLst/>
          </a:prstGeom>
          <a:noFill/>
          <a:ln/>
        </p:spPr>
        <p:txBody>
          <a:bodyPr wrap="square" lIns="0" tIns="0" rIns="0" bIns="0" rtlCol="0" anchor="ctr"/>
          <a:lstStyle/>
          <a:p>
            <a:pPr indent="0" marL="0">
              <a:buNone/>
            </a:pPr>
            <a:r>
              <a:rPr lang="en-US" sz="1800" b="1" dirty="0">
                <a:solidFill>
                  <a:schemeClr val="tx2"/>
                </a:solidFill>
              </a:rPr>
              <a:t>INA219 measurements</a:t>
            </a:r>
            <a:endParaRPr lang="en-US" sz="1800" dirty="0"/>
          </a:p>
        </p:txBody>
      </p:sp>
      <p:sp>
        <p:nvSpPr>
          <p:cNvPr id="18" name="Text 13"/>
          <p:cNvSpPr txBox="1"/>
          <p:nvPr/>
        </p:nvSpPr>
        <p:spPr>
          <a:xfrm>
            <a:off x="7223760" y="4434840"/>
            <a:ext cx="4389120" cy="365760"/>
          </a:xfrm>
          <a:prstGeom prst="rect">
            <a:avLst/>
          </a:prstGeom>
          <a:noFill/>
          <a:ln/>
        </p:spPr>
        <p:txBody>
          <a:bodyPr wrap="square" lIns="0" tIns="0" rIns="0" bIns="0" rtlCol="0" anchor="ctr"/>
          <a:lstStyle/>
          <a:p>
            <a:pPr indent="0" marL="0">
              <a:buNone/>
            </a:pPr>
            <a:r>
              <a:rPr lang="en-US" sz="1500" dirty="0">
                <a:solidFill>
                  <a:schemeClr val="tx1"/>
                </a:solidFill>
              </a:rPr>
              <a:t>real latency and energy per review</a:t>
            </a:r>
            <a:endParaRPr lang="en-US" sz="1500" dirty="0"/>
          </a:p>
        </p:txBody>
      </p:sp>
      <p:sp>
        <p:nvSpPr>
          <p:cNvPr id="19" name="Shape 14"/>
          <p:cNvSpPr/>
          <p:nvPr/>
        </p:nvSpPr>
        <p:spPr>
          <a:xfrm>
            <a:off x="6400800" y="5166360"/>
            <a:ext cx="640080" cy="640080"/>
          </a:xfrm>
          <a:prstGeom prst="ellipse">
            <a:avLst/>
          </a:prstGeom>
          <a:solidFill>
            <a:schemeClr val="accent1"/>
          </a:solidFill>
          <a:ln/>
        </p:spPr>
      </p:sp>
      <p:pic>
        <p:nvPicPr>
          <p:cNvPr id="20" name="Image 3" descr="preencoded.png">    </p:cNvPr>
          <p:cNvPicPr>
            <a:picLocks noChangeAspect="1"/>
          </p:cNvPicPr>
          <p:nvPr/>
        </p:nvPicPr>
        <p:blipFill>
          <a:blip r:embed="rId4"/>
          <a:stretch>
            <a:fillRect/>
          </a:stretch>
        </p:blipFill>
        <p:spPr>
          <a:xfrm>
            <a:off x="6560820" y="5326380"/>
            <a:ext cx="320040" cy="320040"/>
          </a:xfrm>
          <a:prstGeom prst="rect">
            <a:avLst/>
          </a:prstGeom>
        </p:spPr>
      </p:pic>
      <p:sp>
        <p:nvSpPr>
          <p:cNvPr id="21" name="Text 15"/>
          <p:cNvSpPr txBox="1"/>
          <p:nvPr/>
        </p:nvSpPr>
        <p:spPr>
          <a:xfrm>
            <a:off x="7223760" y="5120640"/>
            <a:ext cx="4389120" cy="411480"/>
          </a:xfrm>
          <a:prstGeom prst="rect">
            <a:avLst/>
          </a:prstGeom>
          <a:noFill/>
          <a:ln/>
        </p:spPr>
        <p:txBody>
          <a:bodyPr wrap="square" lIns="0" tIns="0" rIns="0" bIns="0" rtlCol="0" anchor="ctr"/>
          <a:lstStyle/>
          <a:p>
            <a:pPr indent="0" marL="0">
              <a:buNone/>
            </a:pPr>
            <a:r>
              <a:rPr lang="en-US" sz="1800" b="1" dirty="0">
                <a:solidFill>
                  <a:schemeClr val="tx2"/>
                </a:solidFill>
              </a:rPr>
              <a:t>Better router features</a:t>
            </a:r>
            <a:endParaRPr lang="en-US" sz="1800" dirty="0"/>
          </a:p>
        </p:txBody>
      </p:sp>
      <p:sp>
        <p:nvSpPr>
          <p:cNvPr id="22" name="Text 16"/>
          <p:cNvSpPr txBox="1"/>
          <p:nvPr/>
        </p:nvSpPr>
        <p:spPr>
          <a:xfrm>
            <a:off x="7223760" y="5532120"/>
            <a:ext cx="4389120" cy="365760"/>
          </a:xfrm>
          <a:prstGeom prst="rect">
            <a:avLst/>
          </a:prstGeom>
          <a:noFill/>
          <a:ln/>
        </p:spPr>
        <p:txBody>
          <a:bodyPr wrap="square" lIns="0" tIns="0" rIns="0" bIns="0" rtlCol="0" anchor="ctr"/>
          <a:lstStyle/>
          <a:p>
            <a:pPr indent="0" marL="0">
              <a:buNone/>
            </a:pPr>
            <a:r>
              <a:rPr lang="en-US" sz="1500" dirty="0">
                <a:solidFill>
                  <a:schemeClr val="tx1"/>
                </a:solidFill>
              </a:rPr>
              <a:t>e.g. disagreement between two device models</a:t>
            </a:r>
            <a:endParaRPr lang="en-US" sz="1500" dirty="0"/>
          </a:p>
        </p:txBody>
      </p:sp>
      <p:sp>
        <p:nvSpPr>
          <p:cNvPr id="24" name="Text 0"/>
          <p:cNvSpPr/>
          <p:nvPr>
            <p:ph idx="103" type="body" hasCustomPrompt="1"/>
          </p:nvPr>
        </p:nvSpPr>
        <p:spPr>
          <a:xfrm>
            <a:off x="548640" y="6355080"/>
            <a:ext cx="10515600" cy="310896"/>
          </a:xfrm>
          <a:prstGeom prst="rect">
            <a:avLst/>
          </a:prstGeom>
          <a:noFill/>
          <a:ln/>
        </p:spPr>
        <p:txBody>
          <a:bodyPr wrap="square" lIns="0" tIns="0" rIns="0" bIns="0" rtlCol="0"/>
          <a:lstStyle/>
          <a:p>
            <a:pPr indent="0" marL="0">
              <a:buNone/>
            </a:pPr>
            <a:endParaRPr lang="en-US" sz="1100" dirty="0"/>
          </a:p>
        </p:txBody>
      </p:sp>
      <p:sp>
        <p:nvSpPr>
          <p:cNvPr id="25" name="Slide Number Placeholder 0"/>
          <p:cNvSpPr>
            <a:spLocks noGrp="1"/>
          </p:cNvSpPr>
          <p:nvPr>
            <p:ph type="sldNum" sz="quarter" idx="4294967295"/>
          </p:nvPr>
        </p:nvSpPr>
        <p:spPr>
          <a:xfrm>
            <a:off x="11274552" y="347472"/>
            <a:ext cx="384048" cy="384048"/>
          </a:xfrm>
          <a:prstGeom prst="rect">
            <a:avLst/>
          </a:prstGeom>
          <a:extLst>
            <a:ext uri="{C572A759-6A51-4108-AA02-DFA0A04FC94B}">
              <ma14:wrappingTextBoxFlag xmlns:ma14="http://schemas.microsoft.com/office/mac/drawingml/2011/main" val="0"/>
            </a:ext>
          </a:extLst>
        </p:spPr>
        <p:txBody>
          <a:bodyPr anchor="ctr"/>
          <a:lstStyle>
            <a:lvl1pPr>
              <a:defRPr sz="1200">
                <a:solidFill>
                  <a:srgbClr val="3A2E31"/>
                </a:solidFill>
              </a:defRPr>
            </a:lvl1pPr>
          </a:lstStyle>
          <a:p>
            <a:pPr algn="ct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body" hasCustomPrompt="1"/>
          </p:nvPr>
        </p:nvSpPr>
        <p:spPr>
          <a:xfrm>
            <a:off x="548640" y="502920"/>
            <a:ext cx="7315200" cy="320040"/>
          </a:xfrm>
          <a:prstGeom prst="rect">
            <a:avLst/>
          </a:prstGeom>
          <a:noFill/>
          <a:ln/>
        </p:spPr>
        <p:txBody>
          <a:bodyPr wrap="square" lIns="0" tIns="0" rIns="0" bIns="0" rtlCol="0"/>
          <a:lstStyle/>
          <a:p>
            <a:pPr indent="0" marL="0">
              <a:buNone/>
            </a:pPr>
            <a:r>
              <a:rPr lang="en-US" sz="1200" b="1" spc="200" kern="0" dirty="0">
                <a:solidFill>
                  <a:schemeClr val="bg2"/>
                </a:solidFill>
              </a:rPr>
              <a:t>CONCLUSION  ·  EHSAN ABDULKHADER</a:t>
            </a:r>
            <a:endParaRPr lang="en-US" sz="1200" dirty="0"/>
          </a:p>
        </p:txBody>
      </p:sp>
      <p:sp>
        <p:nvSpPr>
          <p:cNvPr id="3" name="Text 0"/>
          <p:cNvSpPr/>
          <p:nvPr>
            <p:ph idx="101" type="title" hasCustomPrompt="1"/>
          </p:nvPr>
        </p:nvSpPr>
        <p:spPr>
          <a:xfrm>
            <a:off x="548640" y="868680"/>
            <a:ext cx="10607040" cy="822960"/>
          </a:xfrm>
          <a:prstGeom prst="rect">
            <a:avLst/>
          </a:prstGeom>
          <a:noFill/>
          <a:ln/>
        </p:spPr>
        <p:txBody>
          <a:bodyPr wrap="square" lIns="0" tIns="0" rIns="0" bIns="0" rtlCol="0" anchor="t"/>
          <a:lstStyle/>
          <a:p>
            <a:pPr algn="l" indent="0" marL="0">
              <a:buNone/>
            </a:pPr>
            <a:r>
              <a:rPr lang="en-US" sz="3400" b="1" dirty="0">
                <a:solidFill>
                  <a:schemeClr val="bg1"/>
                </a:solidFill>
              </a:rPr>
              <a:t>Three takeaways</a:t>
            </a:r>
            <a:endParaRPr lang="en-US" sz="3400" dirty="0"/>
          </a:p>
        </p:txBody>
      </p:sp>
      <p:sp>
        <p:nvSpPr>
          <p:cNvPr id="4" name="takeaway 1"/>
          <p:cNvSpPr/>
          <p:nvPr/>
        </p:nvSpPr>
        <p:spPr>
          <a:xfrm>
            <a:off x="548640" y="2011680"/>
            <a:ext cx="3474720" cy="2651760"/>
          </a:xfrm>
          <a:prstGeom prst="roundRect">
            <a:avLst>
              <a:gd name="adj" fmla="val 2759"/>
            </a:avLst>
          </a:prstGeom>
          <a:solidFill>
            <a:schemeClr val="bg1">
              <a:alpha val="12000"/>
            </a:schemeClr>
          </a:solidFill>
          <a:ln/>
        </p:spPr>
      </p:sp>
      <p:sp>
        <p:nvSpPr>
          <p:cNvPr id="5" name="Text 3"/>
          <p:cNvSpPr txBox="1"/>
          <p:nvPr/>
        </p:nvSpPr>
        <p:spPr>
          <a:xfrm>
            <a:off x="822960" y="2194560"/>
            <a:ext cx="914400" cy="731520"/>
          </a:xfrm>
          <a:prstGeom prst="rect">
            <a:avLst/>
          </a:prstGeom>
          <a:noFill/>
          <a:ln/>
        </p:spPr>
        <p:txBody>
          <a:bodyPr wrap="square" lIns="0" tIns="0" rIns="0" bIns="0" rtlCol="0" anchor="ctr"/>
          <a:lstStyle/>
          <a:p>
            <a:pPr indent="0" marL="0">
              <a:buNone/>
            </a:pPr>
            <a:r>
              <a:rPr lang="en-US" sz="4000" b="1" dirty="0">
                <a:solidFill>
                  <a:schemeClr val="accent5"/>
                </a:solidFill>
                <a:latin typeface="Cambria" pitchFamily="34" charset="0"/>
                <a:ea typeface="Cambria" pitchFamily="34" charset="-122"/>
                <a:cs typeface="Cambria" pitchFamily="34" charset="-120"/>
              </a:rPr>
              <a:t>1</a:t>
            </a:r>
            <a:endParaRPr lang="en-US" sz="4000" dirty="0"/>
          </a:p>
        </p:txBody>
      </p:sp>
      <p:sp>
        <p:nvSpPr>
          <p:cNvPr id="6" name="Text 4"/>
          <p:cNvSpPr txBox="1"/>
          <p:nvPr/>
        </p:nvSpPr>
        <p:spPr>
          <a:xfrm>
            <a:off x="822960" y="2971800"/>
            <a:ext cx="2926080" cy="685800"/>
          </a:xfrm>
          <a:prstGeom prst="rect">
            <a:avLst/>
          </a:prstGeom>
          <a:noFill/>
          <a:ln/>
        </p:spPr>
        <p:txBody>
          <a:bodyPr wrap="square" lIns="0" tIns="0" rIns="0" bIns="0" rtlCol="0" anchor="t"/>
          <a:lstStyle/>
          <a:p>
            <a:pPr indent="0" marL="0">
              <a:buNone/>
            </a:pPr>
            <a:r>
              <a:rPr lang="en-US" sz="1900" b="1" dirty="0">
                <a:solidFill>
                  <a:schemeClr val="bg1"/>
                </a:solidFill>
              </a:rPr>
              <a:t>Confidence routing is enough</a:t>
            </a:r>
            <a:endParaRPr lang="en-US" sz="1900" dirty="0"/>
          </a:p>
        </p:txBody>
      </p:sp>
      <p:sp>
        <p:nvSpPr>
          <p:cNvPr id="7" name="Text 5"/>
          <p:cNvSpPr txBox="1"/>
          <p:nvPr/>
        </p:nvSpPr>
        <p:spPr>
          <a:xfrm>
            <a:off x="822960" y="3657600"/>
            <a:ext cx="2926080" cy="914400"/>
          </a:xfrm>
          <a:prstGeom prst="rect">
            <a:avLst/>
          </a:prstGeom>
          <a:noFill/>
          <a:ln/>
        </p:spPr>
        <p:txBody>
          <a:bodyPr wrap="square" lIns="0" tIns="0" rIns="0" bIns="0" rtlCol="0" anchor="t"/>
          <a:lstStyle/>
          <a:p>
            <a:pPr indent="0" marL="0">
              <a:buNone/>
            </a:pPr>
            <a:r>
              <a:rPr lang="en-US" sz="1500" dirty="0">
                <a:solidFill>
                  <a:schemeClr val="bg2"/>
                </a:solidFill>
              </a:rPr>
              <a:t>Learned deferral stayed within 0.14 points of it at every tested send rate, across three hubs.</a:t>
            </a:r>
            <a:endParaRPr lang="en-US" sz="1500" dirty="0"/>
          </a:p>
        </p:txBody>
      </p:sp>
      <p:sp>
        <p:nvSpPr>
          <p:cNvPr id="8" name="takeaway 2"/>
          <p:cNvSpPr/>
          <p:nvPr/>
        </p:nvSpPr>
        <p:spPr>
          <a:xfrm>
            <a:off x="4297680" y="2011680"/>
            <a:ext cx="3474720" cy="2651760"/>
          </a:xfrm>
          <a:prstGeom prst="roundRect">
            <a:avLst>
              <a:gd name="adj" fmla="val 2759"/>
            </a:avLst>
          </a:prstGeom>
          <a:solidFill>
            <a:schemeClr val="bg1">
              <a:alpha val="12000"/>
            </a:schemeClr>
          </a:solidFill>
          <a:ln/>
        </p:spPr>
      </p:sp>
      <p:sp>
        <p:nvSpPr>
          <p:cNvPr id="9" name="Text 7"/>
          <p:cNvSpPr txBox="1"/>
          <p:nvPr/>
        </p:nvSpPr>
        <p:spPr>
          <a:xfrm>
            <a:off x="4572000" y="2194560"/>
            <a:ext cx="914400" cy="731520"/>
          </a:xfrm>
          <a:prstGeom prst="rect">
            <a:avLst/>
          </a:prstGeom>
          <a:noFill/>
          <a:ln/>
        </p:spPr>
        <p:txBody>
          <a:bodyPr wrap="square" lIns="0" tIns="0" rIns="0" bIns="0" rtlCol="0" anchor="ctr"/>
          <a:lstStyle/>
          <a:p>
            <a:pPr indent="0" marL="0">
              <a:buNone/>
            </a:pPr>
            <a:r>
              <a:rPr lang="en-US" sz="4000" b="1" dirty="0">
                <a:solidFill>
                  <a:schemeClr val="accent5"/>
                </a:solidFill>
                <a:latin typeface="Cambria" pitchFamily="34" charset="0"/>
                <a:ea typeface="Cambria" pitchFamily="34" charset="-122"/>
                <a:cs typeface="Cambria" pitchFamily="34" charset="-120"/>
              </a:rPr>
              <a:t>2</a:t>
            </a:r>
            <a:endParaRPr lang="en-US" sz="4000" dirty="0"/>
          </a:p>
        </p:txBody>
      </p:sp>
      <p:sp>
        <p:nvSpPr>
          <p:cNvPr id="10" name="Text 8"/>
          <p:cNvSpPr txBox="1"/>
          <p:nvPr/>
        </p:nvSpPr>
        <p:spPr>
          <a:xfrm>
            <a:off x="4572000" y="2971800"/>
            <a:ext cx="2926080" cy="685800"/>
          </a:xfrm>
          <a:prstGeom prst="rect">
            <a:avLst/>
          </a:prstGeom>
          <a:noFill/>
          <a:ln/>
        </p:spPr>
        <p:txBody>
          <a:bodyPr wrap="square" lIns="0" tIns="0" rIns="0" bIns="0" rtlCol="0" anchor="t"/>
          <a:lstStyle/>
          <a:p>
            <a:pPr indent="0" marL="0">
              <a:buNone/>
            </a:pPr>
            <a:r>
              <a:rPr lang="en-US" sz="1900" b="1" dirty="0">
                <a:solidFill>
                  <a:schemeClr val="bg1"/>
                </a:solidFill>
              </a:rPr>
              <a:t>Stronger hubs change the game</a:t>
            </a:r>
            <a:endParaRPr lang="en-US" sz="1900" dirty="0"/>
          </a:p>
        </p:txBody>
      </p:sp>
      <p:sp>
        <p:nvSpPr>
          <p:cNvPr id="11" name="Text 9"/>
          <p:cNvSpPr txBox="1"/>
          <p:nvPr/>
        </p:nvSpPr>
        <p:spPr>
          <a:xfrm>
            <a:off x="4572000" y="3657600"/>
            <a:ext cx="2926080" cy="914400"/>
          </a:xfrm>
          <a:prstGeom prst="rect">
            <a:avLst/>
          </a:prstGeom>
          <a:noFill/>
          <a:ln/>
        </p:spPr>
        <p:txBody>
          <a:bodyPr wrap="square" lIns="0" tIns="0" rIns="0" bIns="0" rtlCol="0" anchor="t"/>
          <a:lstStyle/>
          <a:p>
            <a:pPr indent="0" marL="0">
              <a:buNone/>
            </a:pPr>
            <a:r>
              <a:rPr lang="en-US" sz="1500" dirty="0">
                <a:solidFill>
                  <a:schemeClr val="bg2"/>
                </a:solidFill>
              </a:rPr>
              <a:t>They rarely break device answers, which removes deferral's easy win.</a:t>
            </a:r>
            <a:endParaRPr lang="en-US" sz="1500" dirty="0"/>
          </a:p>
        </p:txBody>
      </p:sp>
      <p:sp>
        <p:nvSpPr>
          <p:cNvPr id="12" name="takeaway 3"/>
          <p:cNvSpPr/>
          <p:nvPr/>
        </p:nvSpPr>
        <p:spPr>
          <a:xfrm>
            <a:off x="8046720" y="2011680"/>
            <a:ext cx="3474720" cy="2651760"/>
          </a:xfrm>
          <a:prstGeom prst="roundRect">
            <a:avLst>
              <a:gd name="adj" fmla="val 2759"/>
            </a:avLst>
          </a:prstGeom>
          <a:solidFill>
            <a:schemeClr val="bg1">
              <a:alpha val="12000"/>
            </a:schemeClr>
          </a:solidFill>
          <a:ln/>
        </p:spPr>
      </p:sp>
      <p:sp>
        <p:nvSpPr>
          <p:cNvPr id="13" name="Text 11"/>
          <p:cNvSpPr txBox="1"/>
          <p:nvPr/>
        </p:nvSpPr>
        <p:spPr>
          <a:xfrm>
            <a:off x="8321040" y="2194560"/>
            <a:ext cx="914400" cy="731520"/>
          </a:xfrm>
          <a:prstGeom prst="rect">
            <a:avLst/>
          </a:prstGeom>
          <a:noFill/>
          <a:ln/>
        </p:spPr>
        <p:txBody>
          <a:bodyPr wrap="square" lIns="0" tIns="0" rIns="0" bIns="0" rtlCol="0" anchor="ctr"/>
          <a:lstStyle/>
          <a:p>
            <a:pPr indent="0" marL="0">
              <a:buNone/>
            </a:pPr>
            <a:r>
              <a:rPr lang="en-US" sz="4000" b="1" dirty="0">
                <a:solidFill>
                  <a:schemeClr val="accent5"/>
                </a:solidFill>
                <a:latin typeface="Cambria" pitchFamily="34" charset="0"/>
                <a:ea typeface="Cambria" pitchFamily="34" charset="-122"/>
                <a:cs typeface="Cambria" pitchFamily="34" charset="-120"/>
              </a:rPr>
              <a:t>3</a:t>
            </a:r>
            <a:endParaRPr lang="en-US" sz="4000" dirty="0"/>
          </a:p>
        </p:txBody>
      </p:sp>
      <p:sp>
        <p:nvSpPr>
          <p:cNvPr id="14" name="Text 12"/>
          <p:cNvSpPr txBox="1"/>
          <p:nvPr/>
        </p:nvSpPr>
        <p:spPr>
          <a:xfrm>
            <a:off x="8321040" y="2971800"/>
            <a:ext cx="2926080" cy="685800"/>
          </a:xfrm>
          <a:prstGeom prst="rect">
            <a:avLst/>
          </a:prstGeom>
          <a:noFill/>
          <a:ln/>
        </p:spPr>
        <p:txBody>
          <a:bodyPr wrap="square" lIns="0" tIns="0" rIns="0" bIns="0" rtlCol="0" anchor="t"/>
          <a:lstStyle/>
          <a:p>
            <a:pPr indent="0" marL="0">
              <a:buNone/>
            </a:pPr>
            <a:r>
              <a:rPr lang="en-US" sz="1900" b="1" dirty="0">
                <a:solidFill>
                  <a:schemeClr val="bg1"/>
                </a:solidFill>
              </a:rPr>
              <a:t>Small sends, big savings</a:t>
            </a:r>
            <a:endParaRPr lang="en-US" sz="1900" dirty="0"/>
          </a:p>
        </p:txBody>
      </p:sp>
      <p:sp>
        <p:nvSpPr>
          <p:cNvPr id="15" name="Text 13"/>
          <p:cNvSpPr txBox="1"/>
          <p:nvPr/>
        </p:nvSpPr>
        <p:spPr>
          <a:xfrm>
            <a:off x="8321040" y="3657600"/>
            <a:ext cx="2926080" cy="914400"/>
          </a:xfrm>
          <a:prstGeom prst="rect">
            <a:avLst/>
          </a:prstGeom>
          <a:noFill/>
          <a:ln/>
        </p:spPr>
        <p:txBody>
          <a:bodyPr wrap="square" lIns="0" tIns="0" rIns="0" bIns="0" rtlCol="0" anchor="t"/>
          <a:lstStyle/>
          <a:p>
            <a:pPr indent="0" marL="0">
              <a:buNone/>
            </a:pPr>
            <a:r>
              <a:rPr lang="en-US" sz="1500" dirty="0">
                <a:solidFill>
                  <a:schemeClr val="bg2"/>
                </a:solidFill>
              </a:rPr>
              <a:t>One review in six closes three quarters of the gap at 6–7× less energy.</a:t>
            </a:r>
            <a:endParaRPr lang="en-US" sz="1500" dirty="0"/>
          </a:p>
        </p:txBody>
      </p:sp>
      <p:sp>
        <p:nvSpPr>
          <p:cNvPr id="16" name="Text 14"/>
          <p:cNvSpPr txBox="1"/>
          <p:nvPr/>
        </p:nvSpPr>
        <p:spPr>
          <a:xfrm>
            <a:off x="548640" y="5257800"/>
            <a:ext cx="11064240" cy="731520"/>
          </a:xfrm>
          <a:prstGeom prst="rect">
            <a:avLst/>
          </a:prstGeom>
          <a:noFill/>
          <a:ln/>
        </p:spPr>
        <p:txBody>
          <a:bodyPr wrap="square" lIns="0" tIns="0" rIns="0" bIns="0" rtlCol="0" anchor="ctr"/>
          <a:lstStyle/>
          <a:p>
            <a:pPr indent="0" marL="0">
              <a:buNone/>
            </a:pPr>
            <a:r>
              <a:rPr lang="en-US" sz="3000" b="1" dirty="0">
                <a:solidFill>
                  <a:schemeClr val="bg1"/>
                </a:solidFill>
                <a:latin typeface="Cambria" pitchFamily="34" charset="0"/>
                <a:ea typeface="Cambria" pitchFamily="34" charset="-122"/>
                <a:cs typeface="Cambria" pitchFamily="34" charset="-120"/>
              </a:rPr>
              <a:t>Thank you  ·  Questions?</a:t>
            </a:r>
            <a:endParaRPr lang="en-US" sz="3000" dirty="0"/>
          </a:p>
        </p:txBody>
      </p:sp>
    </p:spTree>
  </p:cSld>
  <p:clrMapOvr>
    <a:masterClrMapping/>
  </p:clrMapOvr>
</p:sld>
</file>

<file path=ppt/theme/theme1.xml><?xml version="1.0" encoding="utf-8"?>
<a:theme xmlns:a="http://schemas.openxmlformats.org/drawingml/2006/main" name="Sentiment Edge">
  <a:themeElements>
    <a:clrScheme name="Sentiment Edge">
      <a:dk1>
        <a:srgbClr val="2E2A2C"/>
      </a:dk1>
      <a:lt1>
        <a:srgbClr val="FFFFFF"/>
      </a:lt1>
      <a:dk2>
        <a:srgbClr val="3A2E31"/>
      </a:dk2>
      <a:lt2>
        <a:srgbClr val="F7EFF1"/>
      </a:lt2>
      <a:accent1>
        <a:srgbClr val="9C7F89"/>
      </a:accent1>
      <a:accent2>
        <a:srgbClr val="8C4B57"/>
      </a:accent2>
      <a:accent3>
        <a:srgbClr val="4A5A50"/>
      </a:accent3>
      <a:accent4>
        <a:srgbClr val="D9E3DC"/>
      </a:accent4>
      <a:accent5>
        <a:srgbClr val="F3A9B7"/>
      </a:accent5>
      <a:accent6>
        <a:srgbClr val="8A7E80"/>
      </a:accent6>
      <a:hlink>
        <a:srgbClr val="8C4B57"/>
      </a:hlink>
      <a:folHlink>
        <a:srgbClr val="9C7F89"/>
      </a:folHlink>
    </a:clrScheme>
    <a:fontScheme name="Sentiment Edg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Energy-Aware Routing of Sentiment Analysis Between a Microcontroller and a Transformer Hub</dc:title>
  <dc:subject>PptxGenJS Presentation</dc:subject>
  <dc:creator>Ehsan Abdulkhader, Danyson Antony, Aditya Achar</dc:creator>
  <cp:lastModifiedBy>Ehsan Abdulkhader, Danyson Antony, Aditya Achar</cp:lastModifiedBy>
  <cp:revision>1</cp:revision>
  <dcterms:created xsi:type="dcterms:W3CDTF">2026-10-27T02:15:52Z</dcterms:created>
  <dcterms:modified xsi:type="dcterms:W3CDTF">2026-10-27T02:15:52Z</dcterms:modified>
</cp:coreProperties>
</file>