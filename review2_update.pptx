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C7F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F3A9B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→ Review 2 Update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D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of Text Reviews Using Machine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2377440" cy="0"/>
          </a:xfrm>
          <a:prstGeom prst="line">
            <a:avLst/>
          </a:prstGeom>
          <a:noFill/>
          <a:ln w="25400">
            <a:solidFill>
              <a:srgbClr val="F3A9B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Ehsan Abdulkhader 24BCT0089  ·  Danyson Antony 24BAI0196  ·  Aditya Achar 24BCI0250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set a CPU-only, interpretable baseline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2450592" cy="3246120"/>
          </a:xfrm>
          <a:prstGeom prst="roundRect">
            <a:avLst>
              <a:gd name="adj" fmla="val 2985"/>
            </a:avLst>
          </a:prstGeom>
          <a:solidFill>
            <a:srgbClr val="F7EFF1"/>
          </a:solidFill>
          <a:ln/>
          <a:effectLst>
            <a:outerShdw sx="100000" sy="100000" kx="0" ky="0" algn="bl" rotWithShape="0" blurRad="76200" dist="25400" dir="5400000">
              <a:srgbClr val="9C8189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222199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2048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(uni + bigrams) → Logistic Regression, trained on raw review 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2450592" cy="3246120"/>
          </a:xfrm>
          <a:prstGeom prst="roundRect">
            <a:avLst>
              <a:gd name="adj" fmla="val 2985"/>
            </a:avLst>
          </a:prstGeom>
          <a:solidFill>
            <a:srgbClr val="D9E3DC"/>
          </a:solidFill>
          <a:ln/>
          <a:effectLst>
            <a:outerShdw sx="100000" sy="100000" kx="0" ky="0" algn="bl" rotWithShape="0" blurRad="76200" dist="25400" dir="5400000">
              <a:srgbClr val="9C8189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01568" y="222199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834640"/>
            <a:ext cx="2048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CPU — no GPU, trains in minutes on a laptop.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965960"/>
            <a:ext cx="2450592" cy="3246120"/>
          </a:xfrm>
          <a:prstGeom prst="roundRect">
            <a:avLst>
              <a:gd name="adj" fmla="val 2985"/>
            </a:avLst>
          </a:prstGeom>
          <a:solidFill>
            <a:srgbClr val="F7EFF1"/>
          </a:solidFill>
          <a:ln/>
          <a:effectLst>
            <a:outerShdw sx="100000" sy="100000" kx="0" ky="0" algn="bl" rotWithShape="0" blurRad="76200" dist="25400" dir="5400000">
              <a:srgbClr val="9C8189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53328" y="222199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53328" y="2834640"/>
            <a:ext cx="2048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coefficients expose the exact words driving each prediction.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1965960"/>
            <a:ext cx="2450592" cy="3246120"/>
          </a:xfrm>
          <a:prstGeom prst="roundRect">
            <a:avLst>
              <a:gd name="adj" fmla="val 2985"/>
            </a:avLst>
          </a:prstGeom>
          <a:solidFill>
            <a:srgbClr val="D9E3DC"/>
          </a:solidFill>
          <a:ln/>
          <a:effectLst>
            <a:outerShdw sx="100000" sy="100000" kx="0" ky="0" algn="bl" rotWithShape="0" blurRad="76200" dist="25400" dir="5400000">
              <a:srgbClr val="9C8189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705088" y="222199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Negation-aware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2834640"/>
            <a:ext cx="2048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features let the model learn phrases like “not good” from data, not a dictionary.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architecture and results as presented in Review 1.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INVESTIGATED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evaluated Jev / Open-Jev as an extension — and ruled it out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360920" cy="301752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26974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/ Open-Jev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GPU-class inference (2B–27B param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old, unpublished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Established, peer-citable (scikit-learn)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 of ms–sec per request on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Thousands of reviews /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our 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1874520"/>
            <a:ext cx="7360920" cy="603504"/>
          </a:xfrm>
          <a:prstGeom prst="rect">
            <a:avLst/>
          </a:prstGeom>
          <a:solidFill>
            <a:srgbClr val="9C7F8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" y="1874520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578608" y="1874520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/ Open-Jev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21808" y="187452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83880" y="18745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3A9B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514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Ruled out — contradicts the project’s CPU-only, lightweight, at-scale thesis.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Jev: TypeSafe AI (Sept 2026, unpublished). Open-Jev: independent Qwen3.5-based reimplementation.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lexicon + ML feature tests our own literature review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D9E3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VADER’s rule-based compound sentiment score as one extra numeric feature alongside the existing TF-IDF matrix — both feed into the same Logistic Regression model.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1’s literature slide framed rule-based (VADER) and ML (TF-IDF+LR) as two competing extremes. This experiment combines them directly instead of just citing the contrast.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9480" y="1874520"/>
            <a:ext cx="4370832" cy="1417320"/>
          </a:xfrm>
          <a:prstGeom prst="roundRect">
            <a:avLst>
              <a:gd name="adj" fmla="val 5161"/>
            </a:avLst>
          </a:prstGeom>
          <a:solidFill>
            <a:srgbClr val="F7EF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0" y="20116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4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0116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numeric feature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(VADER compound score)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3474720"/>
            <a:ext cx="4370832" cy="1417320"/>
          </a:xfrm>
          <a:prstGeom prst="roundRect">
            <a:avLst>
              <a:gd name="adj" fmla="val 5161"/>
            </a:avLst>
          </a:prstGeom>
          <a:solidFill>
            <a:srgbClr val="F7EF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0" y="36118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4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6118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GPU / infra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Hutto &amp; Gilbert (2014) — VADER; combined here with the Review 1 TF-IDF + Logistic Regression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UPDATE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VADER joins the TF-IDF branch before the classifier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D9E3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83464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reviews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218688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feedback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274320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F7EF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44368" y="283464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218688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keep negation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2176272"/>
            <a:ext cx="1783080" cy="502920"/>
          </a:xfrm>
          <a:prstGeom prst="roundRect">
            <a:avLst>
              <a:gd name="adj" fmla="val 12727"/>
            </a:avLst>
          </a:prstGeom>
          <a:solidFill>
            <a:srgbClr val="F7EF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30368" y="2267712"/>
            <a:ext cx="156362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2437790"/>
            <a:ext cx="1563624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+ bigrams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0" y="3310128"/>
            <a:ext cx="1783080" cy="502920"/>
          </a:xfrm>
          <a:prstGeom prst="roundRect">
            <a:avLst>
              <a:gd name="adj" fmla="val 12727"/>
            </a:avLst>
          </a:prstGeom>
          <a:solidFill>
            <a:srgbClr val="F3A9B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30368" y="3401568"/>
            <a:ext cx="156362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VADER score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571646"/>
            <a:ext cx="1563624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polarity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2423160"/>
            <a:ext cx="251460" cy="365760"/>
          </a:xfrm>
          <a:prstGeom prst="line">
            <a:avLst/>
          </a:prstGeom>
          <a:noFill/>
          <a:ln w="15875">
            <a:solidFill>
              <a:srgbClr val="8A7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657600"/>
            <a:ext cx="251460" cy="-320040"/>
          </a:xfrm>
          <a:prstGeom prst="line">
            <a:avLst/>
          </a:prstGeom>
          <a:noFill/>
          <a:ln w="15875">
            <a:solidFill>
              <a:srgbClr val="8A7E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518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98080" y="2743200"/>
            <a:ext cx="2057400" cy="914400"/>
          </a:xfrm>
          <a:prstGeom prst="roundRect">
            <a:avLst>
              <a:gd name="adj" fmla="val 7000"/>
            </a:avLst>
          </a:prstGeom>
          <a:solidFill>
            <a:srgbClr val="D9E3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07808" y="28346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321868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hybrid features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058400" y="274320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9C7F8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68128" y="283464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168128" y="3218688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confidence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3182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(hstack)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Maas et al. (2011); VADER: Hutto &amp; Gilbert (2014); implementation: scikit-learn.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hybrid — comparison pending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11064240" cy="603504"/>
          </a:xfrm>
          <a:prstGeom prst="rect">
            <a:avLst/>
          </a:prstGeom>
          <a:solidFill>
            <a:srgbClr val="9C7F8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9659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 (baseline)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96596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VADER + LR (hybrid)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11064240" cy="685800"/>
          </a:xfrm>
          <a:prstGeom prst="rect">
            <a:avLst/>
          </a:prstGeom>
          <a:solidFill>
            <a:srgbClr val="F7EFF1"/>
          </a:solidFill>
          <a:ln w="9525">
            <a:solidFill>
              <a:srgbClr val="E2D6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694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56946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— pending experiment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5694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— pending experiment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6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552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25526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— pending experiment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2552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— pending experiment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1064240" cy="685800"/>
          </a:xfrm>
          <a:prstGeom prst="rect">
            <a:avLst/>
          </a:prstGeom>
          <a:solidFill>
            <a:srgbClr val="F7EFF1"/>
          </a:solidFill>
          <a:ln w="9525">
            <a:solidFill>
              <a:srgbClr val="E2D6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410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coefficient weight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394106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39410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— pending experiment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55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filled in after running the experiment. No results have been fabricated.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will report accuracy, F1-score, and the learned weight on the VADER feature.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here to Review 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9692640" cy="0"/>
          </a:xfrm>
          <a:prstGeom prst="line">
            <a:avLst/>
          </a:prstGeom>
          <a:noFill/>
          <a:ln w="25400">
            <a:solidFill>
              <a:srgbClr val="E2D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020824"/>
            <a:ext cx="256032" cy="256032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9" name="Shape 7"/>
          <p:cNvSpPr/>
          <p:nvPr/>
        </p:nvSpPr>
        <p:spPr>
          <a:xfrm>
            <a:off x="2633472" y="2020824"/>
            <a:ext cx="256032" cy="256032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20824"/>
            <a:ext cx="256032" cy="256032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11" name="Shape 9"/>
          <p:cNvSpPr/>
          <p:nvPr/>
        </p:nvSpPr>
        <p:spPr>
          <a:xfrm>
            <a:off x="6510528" y="2020824"/>
            <a:ext cx="256032" cy="256032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9056" y="2020824"/>
            <a:ext cx="256032" cy="256032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87584" y="2020824"/>
            <a:ext cx="256032" cy="256032"/>
          </a:xfrm>
          <a:prstGeom prst="ellipse">
            <a:avLst/>
          </a:prstGeom>
          <a:solidFill>
            <a:srgbClr val="F3A9B7"/>
          </a:solidFill>
          <a:ln/>
        </p:spPr>
      </p:sp>
      <p:sp>
        <p:nvSpPr>
          <p:cNvPr id="14" name="Shape 12"/>
          <p:cNvSpPr/>
          <p:nvPr/>
        </p:nvSpPr>
        <p:spPr>
          <a:xfrm>
            <a:off x="992124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F3A9B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2124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C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2514600"/>
            <a:ext cx="1697736" cy="3383280"/>
          </a:xfrm>
          <a:prstGeom prst="roundRect">
            <a:avLst>
              <a:gd name="adj" fmla="val 4309"/>
            </a:avLst>
          </a:prstGeom>
          <a:solidFill>
            <a:srgbClr val="D9E3D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2743200"/>
            <a:ext cx="457200" cy="457200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383280"/>
            <a:ext cx="138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114800"/>
            <a:ext cx="138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 score per review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65832" y="2514600"/>
            <a:ext cx="1697736" cy="3383280"/>
          </a:xfrm>
          <a:prstGeom prst="roundRect">
            <a:avLst>
              <a:gd name="adj" fmla="val 4309"/>
            </a:avLst>
          </a:prstGeom>
          <a:solidFill>
            <a:srgbClr val="F7EFF1"/>
          </a:solidFill>
          <a:ln/>
        </p:spPr>
      </p:sp>
      <p:sp>
        <p:nvSpPr>
          <p:cNvPr id="22" name="Shape 20"/>
          <p:cNvSpPr/>
          <p:nvPr/>
        </p:nvSpPr>
        <p:spPr>
          <a:xfrm>
            <a:off x="2648712" y="2743200"/>
            <a:ext cx="457200" cy="457200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64871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593848" y="3383280"/>
            <a:ext cx="138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fusion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593848" y="4114800"/>
            <a:ext cx="138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score onto TF-IDF (hstack)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09872" y="2514600"/>
            <a:ext cx="1697736" cy="3383280"/>
          </a:xfrm>
          <a:prstGeom prst="roundRect">
            <a:avLst>
              <a:gd name="adj" fmla="val 4309"/>
            </a:avLst>
          </a:prstGeom>
          <a:solidFill>
            <a:srgbClr val="D9E3DC"/>
          </a:solidFill>
          <a:ln/>
        </p:spPr>
      </p:sp>
      <p:sp>
        <p:nvSpPr>
          <p:cNvPr id="27" name="Shape 25"/>
          <p:cNvSpPr/>
          <p:nvPr/>
        </p:nvSpPr>
        <p:spPr>
          <a:xfrm>
            <a:off x="4492752" y="2743200"/>
            <a:ext cx="457200" cy="457200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9275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437888" y="3383280"/>
            <a:ext cx="138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compare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37888" y="4114800"/>
            <a:ext cx="138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vs. baseline: accuracy, F1, confusion matrix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53912" y="2514600"/>
            <a:ext cx="1697736" cy="3383280"/>
          </a:xfrm>
          <a:prstGeom prst="roundRect">
            <a:avLst>
              <a:gd name="adj" fmla="val 4309"/>
            </a:avLst>
          </a:prstGeom>
          <a:solidFill>
            <a:srgbClr val="F7EFF1"/>
          </a:solidFill>
          <a:ln/>
        </p:spPr>
      </p:sp>
      <p:sp>
        <p:nvSpPr>
          <p:cNvPr id="32" name="Shape 30"/>
          <p:cNvSpPr/>
          <p:nvPr/>
        </p:nvSpPr>
        <p:spPr>
          <a:xfrm>
            <a:off x="6336792" y="2743200"/>
            <a:ext cx="457200" cy="457200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3679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3383280"/>
            <a:ext cx="138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81928" y="4114800"/>
            <a:ext cx="138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learned VADER coefficient; update top-words table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97952" y="2514600"/>
            <a:ext cx="1697736" cy="3383280"/>
          </a:xfrm>
          <a:prstGeom prst="roundRect">
            <a:avLst>
              <a:gd name="adj" fmla="val 4309"/>
            </a:avLst>
          </a:prstGeom>
          <a:solidFill>
            <a:srgbClr val="D9E3DC"/>
          </a:solidFill>
          <a:ln/>
        </p:spPr>
      </p:sp>
      <p:sp>
        <p:nvSpPr>
          <p:cNvPr id="37" name="Shape 35"/>
          <p:cNvSpPr/>
          <p:nvPr/>
        </p:nvSpPr>
        <p:spPr>
          <a:xfrm>
            <a:off x="8180832" y="2743200"/>
            <a:ext cx="457200" cy="457200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8083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125968" y="3383280"/>
            <a:ext cx="138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Stretch: calibration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125968" y="4114800"/>
            <a:ext cx="138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/ isotonic scaling + reliability diagram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841992" y="2514600"/>
            <a:ext cx="1697736" cy="3383280"/>
          </a:xfrm>
          <a:prstGeom prst="roundRect">
            <a:avLst>
              <a:gd name="adj" fmla="val 4309"/>
            </a:avLst>
          </a:prstGeom>
          <a:solidFill>
            <a:srgbClr val="F7EFF1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24872" y="2743200"/>
            <a:ext cx="457200" cy="457200"/>
          </a:xfrm>
          <a:prstGeom prst="ellipse">
            <a:avLst/>
          </a:prstGeom>
          <a:solidFill>
            <a:srgbClr val="9C7F8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02487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970008" y="3383280"/>
            <a:ext cx="138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Write-up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970008" y="4114800"/>
            <a:ext cx="138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results, prepare Review 2 materials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(step 5) is a stretch goal, pursued only if time permits.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320040"/>
            <a:ext cx="365760" cy="365760"/>
          </a:xfrm>
          <a:prstGeom prst="ellipse">
            <a:avLst/>
          </a:prstGeom>
          <a:solidFill>
            <a:srgbClr val="D9E3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05895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approach carries its own caveats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E2D6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D6D9"/>
            </a:solidFill>
            <a:prstDash val="solid"/>
          </a:ln>
          <a:effectLst>
            <a:outerShdw sx="100000" sy="100000" kx="0" ky="0" algn="bl" rotWithShape="0" blurRad="63500" dist="25400" dir="5400000">
              <a:srgbClr val="9C8189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3A9B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26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Lexicon bias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429000"/>
            <a:ext cx="3008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VADER’s own blind spots (sarcasm, domain-specific slang) get inherited by the hybrid feature, not eliminated.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D6D9"/>
            </a:solidFill>
            <a:prstDash val="solid"/>
          </a:ln>
          <a:effectLst>
            <a:outerShdw sx="100000" sy="100000" kx="0" ky="0" algn="bl" rotWithShape="0" blurRad="63500" dist="25400" dir="5400000">
              <a:srgbClr val="9C818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3A9B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114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2926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redundancy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3429000"/>
            <a:ext cx="3008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VADER score may overlap heavily with signal the TF-IDF n-grams already capture, limiting any accuracy gain.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D6D9"/>
            </a:solidFill>
            <a:prstDash val="solid"/>
          </a:ln>
          <a:effectLst>
            <a:outerShdw sx="100000" sy="100000" kx="0" ky="0" algn="bl" rotWithShape="0" blurRad="63500" dist="25400" dir="5400000">
              <a:srgbClr val="9C818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3A9B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761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2926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scope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3429000"/>
            <a:ext cx="3008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is a stretch goal only — pursued if time allows after the core hybrid comparison is complete.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limitations will be reassessed once the hybrid vs. baseline comparison is run.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C7F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before Review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12264"/>
            <a:ext cx="128016" cy="128016"/>
          </a:xfrm>
          <a:prstGeom prst="ellipse">
            <a:avLst/>
          </a:prstGeom>
          <a:solidFill>
            <a:srgbClr val="F3A9B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VADER scoring and fuse it with the existing TF-IDF matrix.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3A9B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157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the hybrid model against the Review 1 baseline (accuracy, F1, coefficients).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28016" cy="128016"/>
          </a:xfrm>
          <a:prstGeom prst="ellipse">
            <a:avLst/>
          </a:prstGeom>
          <a:solidFill>
            <a:srgbClr val="F3A9B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7413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permits, add probability calibration and a reliability diagram.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87368"/>
            <a:ext cx="128016" cy="128016"/>
          </a:xfrm>
          <a:prstGeom prst="ellipse">
            <a:avLst/>
          </a:prstGeom>
          <a:solidFill>
            <a:srgbClr val="F3A9B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325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Review 2 materials with real results in place of today’s placeholders.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2377440" cy="0"/>
          </a:xfrm>
          <a:prstGeom prst="line">
            <a:avLst/>
          </a:prstGeom>
          <a:noFill/>
          <a:ln w="25400">
            <a:solidFill>
              <a:srgbClr val="F3A9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0566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AD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on this direction — especially the hybrid feature choice — is welcome before we start implementation.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2026-09-22T03:47:43Z</dcterms:created>
  <dcterms:modified xsi:type="dcterms:W3CDTF">2026-09-22T03:47:43Z</dcterms:modified>
</cp:coreProperties>
</file>